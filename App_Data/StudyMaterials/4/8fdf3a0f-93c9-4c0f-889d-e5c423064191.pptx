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4" r:id="rId3"/>
  </p:sldMasterIdLst>
  <p:notesMasterIdLst>
    <p:notesMasterId r:id="rId46"/>
  </p:notesMasterIdLst>
  <p:sldIdLst>
    <p:sldId id="321" r:id="rId4"/>
    <p:sldId id="323" r:id="rId5"/>
    <p:sldId id="327" r:id="rId6"/>
    <p:sldId id="337" r:id="rId7"/>
    <p:sldId id="328" r:id="rId8"/>
    <p:sldId id="257" r:id="rId9"/>
    <p:sldId id="324" r:id="rId10"/>
    <p:sldId id="325" r:id="rId11"/>
    <p:sldId id="373" r:id="rId12"/>
    <p:sldId id="330" r:id="rId13"/>
    <p:sldId id="367" r:id="rId14"/>
    <p:sldId id="331" r:id="rId15"/>
    <p:sldId id="332" r:id="rId16"/>
    <p:sldId id="333" r:id="rId17"/>
    <p:sldId id="334" r:id="rId18"/>
    <p:sldId id="335" r:id="rId19"/>
    <p:sldId id="338" r:id="rId20"/>
    <p:sldId id="339" r:id="rId21"/>
    <p:sldId id="340" r:id="rId22"/>
    <p:sldId id="378" r:id="rId23"/>
    <p:sldId id="344" r:id="rId24"/>
    <p:sldId id="346" r:id="rId25"/>
    <p:sldId id="350" r:id="rId26"/>
    <p:sldId id="353" r:id="rId27"/>
    <p:sldId id="368" r:id="rId28"/>
    <p:sldId id="357" r:id="rId29"/>
    <p:sldId id="359" r:id="rId30"/>
    <p:sldId id="360" r:id="rId31"/>
    <p:sldId id="370" r:id="rId32"/>
    <p:sldId id="371" r:id="rId33"/>
    <p:sldId id="377" r:id="rId34"/>
    <p:sldId id="379" r:id="rId35"/>
    <p:sldId id="375" r:id="rId36"/>
    <p:sldId id="374" r:id="rId37"/>
    <p:sldId id="376" r:id="rId38"/>
    <p:sldId id="372" r:id="rId39"/>
    <p:sldId id="361" r:id="rId40"/>
    <p:sldId id="362" r:id="rId41"/>
    <p:sldId id="363" r:id="rId42"/>
    <p:sldId id="364" r:id="rId43"/>
    <p:sldId id="365" r:id="rId44"/>
    <p:sldId id="36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0" d="100"/>
          <a:sy n="80" d="100"/>
        </p:scale>
        <p:origin x="555"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51"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xolo Pretty Cele" userId="c0214832-da79-4e77-9892-7642ead81f7d" providerId="ADAL" clId="{38C75C36-08D6-456C-B4B9-DF9254900FEF}"/>
    <pc:docChg chg="modSld">
      <pc:chgData name="Noxolo Pretty Cele" userId="c0214832-da79-4e77-9892-7642ead81f7d" providerId="ADAL" clId="{38C75C36-08D6-456C-B4B9-DF9254900FEF}" dt="2026-05-11T11:49:11.883" v="18" actId="20577"/>
      <pc:docMkLst>
        <pc:docMk/>
      </pc:docMkLst>
      <pc:sldChg chg="modSp mod">
        <pc:chgData name="Noxolo Pretty Cele" userId="c0214832-da79-4e77-9892-7642ead81f7d" providerId="ADAL" clId="{38C75C36-08D6-456C-B4B9-DF9254900FEF}" dt="2026-05-11T11:49:11.883" v="18" actId="20577"/>
        <pc:sldMkLst>
          <pc:docMk/>
          <pc:sldMk cId="1165967481" sldId="373"/>
        </pc:sldMkLst>
        <pc:spChg chg="mod">
          <ac:chgData name="Noxolo Pretty Cele" userId="c0214832-da79-4e77-9892-7642ead81f7d" providerId="ADAL" clId="{38C75C36-08D6-456C-B4B9-DF9254900FEF}" dt="2026-05-11T11:44:55.223" v="16" actId="20577"/>
          <ac:spMkLst>
            <pc:docMk/>
            <pc:sldMk cId="1165967481" sldId="373"/>
            <ac:spMk id="2" creationId="{486D0207-01BF-EC31-F964-33DE348A9559}"/>
          </ac:spMkLst>
        </pc:spChg>
        <pc:spChg chg="mod">
          <ac:chgData name="Noxolo Pretty Cele" userId="c0214832-da79-4e77-9892-7642ead81f7d" providerId="ADAL" clId="{38C75C36-08D6-456C-B4B9-DF9254900FEF}" dt="2026-05-11T11:49:11.883" v="18" actId="20577"/>
          <ac:spMkLst>
            <pc:docMk/>
            <pc:sldMk cId="1165967481" sldId="373"/>
            <ac:spMk id="3" creationId="{B600445A-15D8-522E-A783-5D332683518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3FD5CA-02F9-4B2E-8B5E-3CCDDD8F3087}"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4B57A26-7C18-44BF-9225-B9B0DC96D44E}">
      <dgm:prSet/>
      <dgm:spPr/>
      <dgm:t>
        <a:bodyPr/>
        <a:lstStyle/>
        <a:p>
          <a:r>
            <a:rPr lang="en-US"/>
            <a:t>Extreme Programming (XP)</a:t>
          </a:r>
        </a:p>
      </dgm:t>
    </dgm:pt>
    <dgm:pt modelId="{D1861366-34A3-458B-9160-05BADBB72BDA}" type="parTrans" cxnId="{D2F0A968-835D-4561-A80B-9237A9034EC8}">
      <dgm:prSet/>
      <dgm:spPr/>
      <dgm:t>
        <a:bodyPr/>
        <a:lstStyle/>
        <a:p>
          <a:endParaRPr lang="en-US"/>
        </a:p>
      </dgm:t>
    </dgm:pt>
    <dgm:pt modelId="{7B7BD208-8287-49B0-A0BB-18D166F84DF3}" type="sibTrans" cxnId="{D2F0A968-835D-4561-A80B-9237A9034EC8}">
      <dgm:prSet/>
      <dgm:spPr/>
      <dgm:t>
        <a:bodyPr/>
        <a:lstStyle/>
        <a:p>
          <a:endParaRPr lang="en-US"/>
        </a:p>
      </dgm:t>
    </dgm:pt>
    <dgm:pt modelId="{FAC8D963-974A-47C9-9ABB-AACD2ED67450}">
      <dgm:prSet/>
      <dgm:spPr/>
      <dgm:t>
        <a:bodyPr/>
        <a:lstStyle/>
        <a:p>
          <a:r>
            <a:rPr lang="en-US"/>
            <a:t>Scrum</a:t>
          </a:r>
        </a:p>
      </dgm:t>
    </dgm:pt>
    <dgm:pt modelId="{F0498A32-0252-4D45-A057-99D5DC2DC60E}" type="parTrans" cxnId="{47BCB274-1AAD-4FFE-8F0B-ECFBB420EC1F}">
      <dgm:prSet/>
      <dgm:spPr/>
      <dgm:t>
        <a:bodyPr/>
        <a:lstStyle/>
        <a:p>
          <a:endParaRPr lang="en-US"/>
        </a:p>
      </dgm:t>
    </dgm:pt>
    <dgm:pt modelId="{A16FD01C-C31C-4133-A691-14E88EDA802A}" type="sibTrans" cxnId="{47BCB274-1AAD-4FFE-8F0B-ECFBB420EC1F}">
      <dgm:prSet/>
      <dgm:spPr/>
      <dgm:t>
        <a:bodyPr/>
        <a:lstStyle/>
        <a:p>
          <a:endParaRPr lang="en-US"/>
        </a:p>
      </dgm:t>
    </dgm:pt>
    <dgm:pt modelId="{FC0F82A1-4874-4683-A432-FEEAC2CBD7DE}">
      <dgm:prSet/>
      <dgm:spPr/>
      <dgm:t>
        <a:bodyPr/>
        <a:lstStyle/>
        <a:p>
          <a:r>
            <a:rPr lang="en-US"/>
            <a:t>Kanban</a:t>
          </a:r>
        </a:p>
      </dgm:t>
    </dgm:pt>
    <dgm:pt modelId="{46734396-1CAB-4CB1-8067-71659EE23613}" type="parTrans" cxnId="{99151380-E41B-4CE4-BEC7-27F766B34305}">
      <dgm:prSet/>
      <dgm:spPr/>
      <dgm:t>
        <a:bodyPr/>
        <a:lstStyle/>
        <a:p>
          <a:endParaRPr lang="en-US"/>
        </a:p>
      </dgm:t>
    </dgm:pt>
    <dgm:pt modelId="{7BDC22FA-5F72-45FF-B842-A905664CC34F}" type="sibTrans" cxnId="{99151380-E41B-4CE4-BEC7-27F766B34305}">
      <dgm:prSet/>
      <dgm:spPr/>
      <dgm:t>
        <a:bodyPr/>
        <a:lstStyle/>
        <a:p>
          <a:endParaRPr lang="en-US"/>
        </a:p>
      </dgm:t>
    </dgm:pt>
    <dgm:pt modelId="{0487D87F-94CA-41DA-B8D3-14D9997B4D1E}" type="pres">
      <dgm:prSet presAssocID="{233FD5CA-02F9-4B2E-8B5E-3CCDDD8F3087}" presName="hierChild1" presStyleCnt="0">
        <dgm:presLayoutVars>
          <dgm:chPref val="1"/>
          <dgm:dir/>
          <dgm:animOne val="branch"/>
          <dgm:animLvl val="lvl"/>
          <dgm:resizeHandles/>
        </dgm:presLayoutVars>
      </dgm:prSet>
      <dgm:spPr/>
    </dgm:pt>
    <dgm:pt modelId="{F22C654C-AFC9-441B-AD30-5EFE0E9F9FA8}" type="pres">
      <dgm:prSet presAssocID="{A4B57A26-7C18-44BF-9225-B9B0DC96D44E}" presName="hierRoot1" presStyleCnt="0"/>
      <dgm:spPr/>
    </dgm:pt>
    <dgm:pt modelId="{1F56DA32-4B93-4F3F-AFAE-C2ABA2DB6849}" type="pres">
      <dgm:prSet presAssocID="{A4B57A26-7C18-44BF-9225-B9B0DC96D44E}" presName="composite" presStyleCnt="0"/>
      <dgm:spPr/>
    </dgm:pt>
    <dgm:pt modelId="{FA629FAB-81B2-4663-9962-41932E10747A}" type="pres">
      <dgm:prSet presAssocID="{A4B57A26-7C18-44BF-9225-B9B0DC96D44E}" presName="background" presStyleLbl="node0" presStyleIdx="0" presStyleCnt="3"/>
      <dgm:spPr/>
    </dgm:pt>
    <dgm:pt modelId="{9AD6A789-1A4B-413E-B6A2-50272D72E67A}" type="pres">
      <dgm:prSet presAssocID="{A4B57A26-7C18-44BF-9225-B9B0DC96D44E}" presName="text" presStyleLbl="fgAcc0" presStyleIdx="0" presStyleCnt="3">
        <dgm:presLayoutVars>
          <dgm:chPref val="3"/>
        </dgm:presLayoutVars>
      </dgm:prSet>
      <dgm:spPr/>
    </dgm:pt>
    <dgm:pt modelId="{D877CC56-1152-4861-B273-CBE1DFB8F599}" type="pres">
      <dgm:prSet presAssocID="{A4B57A26-7C18-44BF-9225-B9B0DC96D44E}" presName="hierChild2" presStyleCnt="0"/>
      <dgm:spPr/>
    </dgm:pt>
    <dgm:pt modelId="{F7D0CDA2-8E65-4722-A906-0A58AA49F757}" type="pres">
      <dgm:prSet presAssocID="{FAC8D963-974A-47C9-9ABB-AACD2ED67450}" presName="hierRoot1" presStyleCnt="0"/>
      <dgm:spPr/>
    </dgm:pt>
    <dgm:pt modelId="{C5D1361B-EDB2-4E97-9F20-47C341F42A39}" type="pres">
      <dgm:prSet presAssocID="{FAC8D963-974A-47C9-9ABB-AACD2ED67450}" presName="composite" presStyleCnt="0"/>
      <dgm:spPr/>
    </dgm:pt>
    <dgm:pt modelId="{9CF0BDF9-9031-4829-9D71-96E3B82AB320}" type="pres">
      <dgm:prSet presAssocID="{FAC8D963-974A-47C9-9ABB-AACD2ED67450}" presName="background" presStyleLbl="node0" presStyleIdx="1" presStyleCnt="3"/>
      <dgm:spPr/>
    </dgm:pt>
    <dgm:pt modelId="{27380237-5D99-4743-BEB5-3FB94C7AB273}" type="pres">
      <dgm:prSet presAssocID="{FAC8D963-974A-47C9-9ABB-AACD2ED67450}" presName="text" presStyleLbl="fgAcc0" presStyleIdx="1" presStyleCnt="3">
        <dgm:presLayoutVars>
          <dgm:chPref val="3"/>
        </dgm:presLayoutVars>
      </dgm:prSet>
      <dgm:spPr/>
    </dgm:pt>
    <dgm:pt modelId="{A827DD0E-B0ED-4302-83FA-D5E15DE3BC81}" type="pres">
      <dgm:prSet presAssocID="{FAC8D963-974A-47C9-9ABB-AACD2ED67450}" presName="hierChild2" presStyleCnt="0"/>
      <dgm:spPr/>
    </dgm:pt>
    <dgm:pt modelId="{88AAEAF1-3922-4F06-9199-0B685CF02BDC}" type="pres">
      <dgm:prSet presAssocID="{FC0F82A1-4874-4683-A432-FEEAC2CBD7DE}" presName="hierRoot1" presStyleCnt="0"/>
      <dgm:spPr/>
    </dgm:pt>
    <dgm:pt modelId="{F5B78EE8-A0AD-4926-BF77-89917767E2D1}" type="pres">
      <dgm:prSet presAssocID="{FC0F82A1-4874-4683-A432-FEEAC2CBD7DE}" presName="composite" presStyleCnt="0"/>
      <dgm:spPr/>
    </dgm:pt>
    <dgm:pt modelId="{1784161C-FE51-4374-BFB4-58E0D80F586E}" type="pres">
      <dgm:prSet presAssocID="{FC0F82A1-4874-4683-A432-FEEAC2CBD7DE}" presName="background" presStyleLbl="node0" presStyleIdx="2" presStyleCnt="3"/>
      <dgm:spPr/>
    </dgm:pt>
    <dgm:pt modelId="{9BDC7B0C-B31E-4E92-A2E4-C70EC38220E9}" type="pres">
      <dgm:prSet presAssocID="{FC0F82A1-4874-4683-A432-FEEAC2CBD7DE}" presName="text" presStyleLbl="fgAcc0" presStyleIdx="2" presStyleCnt="3">
        <dgm:presLayoutVars>
          <dgm:chPref val="3"/>
        </dgm:presLayoutVars>
      </dgm:prSet>
      <dgm:spPr/>
    </dgm:pt>
    <dgm:pt modelId="{83752A83-A5BB-4FEF-A77C-2728942D8AA6}" type="pres">
      <dgm:prSet presAssocID="{FC0F82A1-4874-4683-A432-FEEAC2CBD7DE}" presName="hierChild2" presStyleCnt="0"/>
      <dgm:spPr/>
    </dgm:pt>
  </dgm:ptLst>
  <dgm:cxnLst>
    <dgm:cxn modelId="{18D50603-43D4-4C73-A1E4-15A0F40C1375}" type="presOf" srcId="{233FD5CA-02F9-4B2E-8B5E-3CCDDD8F3087}" destId="{0487D87F-94CA-41DA-B8D3-14D9997B4D1E}" srcOrd="0" destOrd="0" presId="urn:microsoft.com/office/officeart/2005/8/layout/hierarchy1"/>
    <dgm:cxn modelId="{D2F0A968-835D-4561-A80B-9237A9034EC8}" srcId="{233FD5CA-02F9-4B2E-8B5E-3CCDDD8F3087}" destId="{A4B57A26-7C18-44BF-9225-B9B0DC96D44E}" srcOrd="0" destOrd="0" parTransId="{D1861366-34A3-458B-9160-05BADBB72BDA}" sibTransId="{7B7BD208-8287-49B0-A0BB-18D166F84DF3}"/>
    <dgm:cxn modelId="{152ED94C-094E-449F-905D-3A2CF04F65FB}" type="presOf" srcId="{A4B57A26-7C18-44BF-9225-B9B0DC96D44E}" destId="{9AD6A789-1A4B-413E-B6A2-50272D72E67A}" srcOrd="0" destOrd="0" presId="urn:microsoft.com/office/officeart/2005/8/layout/hierarchy1"/>
    <dgm:cxn modelId="{7A970552-14FD-4D29-A8B9-DBB782447454}" type="presOf" srcId="{FC0F82A1-4874-4683-A432-FEEAC2CBD7DE}" destId="{9BDC7B0C-B31E-4E92-A2E4-C70EC38220E9}" srcOrd="0" destOrd="0" presId="urn:microsoft.com/office/officeart/2005/8/layout/hierarchy1"/>
    <dgm:cxn modelId="{47BCB274-1AAD-4FFE-8F0B-ECFBB420EC1F}" srcId="{233FD5CA-02F9-4B2E-8B5E-3CCDDD8F3087}" destId="{FAC8D963-974A-47C9-9ABB-AACD2ED67450}" srcOrd="1" destOrd="0" parTransId="{F0498A32-0252-4D45-A057-99D5DC2DC60E}" sibTransId="{A16FD01C-C31C-4133-A691-14E88EDA802A}"/>
    <dgm:cxn modelId="{99151380-E41B-4CE4-BEC7-27F766B34305}" srcId="{233FD5CA-02F9-4B2E-8B5E-3CCDDD8F3087}" destId="{FC0F82A1-4874-4683-A432-FEEAC2CBD7DE}" srcOrd="2" destOrd="0" parTransId="{46734396-1CAB-4CB1-8067-71659EE23613}" sibTransId="{7BDC22FA-5F72-45FF-B842-A905664CC34F}"/>
    <dgm:cxn modelId="{77B2C7AE-188F-42D9-BE68-330E085904AE}" type="presOf" srcId="{FAC8D963-974A-47C9-9ABB-AACD2ED67450}" destId="{27380237-5D99-4743-BEB5-3FB94C7AB273}" srcOrd="0" destOrd="0" presId="urn:microsoft.com/office/officeart/2005/8/layout/hierarchy1"/>
    <dgm:cxn modelId="{4EF0FB55-21C9-4527-A7D8-D6FBED045BD6}" type="presParOf" srcId="{0487D87F-94CA-41DA-B8D3-14D9997B4D1E}" destId="{F22C654C-AFC9-441B-AD30-5EFE0E9F9FA8}" srcOrd="0" destOrd="0" presId="urn:microsoft.com/office/officeart/2005/8/layout/hierarchy1"/>
    <dgm:cxn modelId="{AA7B448A-4FFD-47E2-B943-51F1897B5314}" type="presParOf" srcId="{F22C654C-AFC9-441B-AD30-5EFE0E9F9FA8}" destId="{1F56DA32-4B93-4F3F-AFAE-C2ABA2DB6849}" srcOrd="0" destOrd="0" presId="urn:microsoft.com/office/officeart/2005/8/layout/hierarchy1"/>
    <dgm:cxn modelId="{3830C421-4055-4516-ABE5-219EA1EC3C4E}" type="presParOf" srcId="{1F56DA32-4B93-4F3F-AFAE-C2ABA2DB6849}" destId="{FA629FAB-81B2-4663-9962-41932E10747A}" srcOrd="0" destOrd="0" presId="urn:microsoft.com/office/officeart/2005/8/layout/hierarchy1"/>
    <dgm:cxn modelId="{50A1826F-CF0A-4BA0-8216-41BE9157BB80}" type="presParOf" srcId="{1F56DA32-4B93-4F3F-AFAE-C2ABA2DB6849}" destId="{9AD6A789-1A4B-413E-B6A2-50272D72E67A}" srcOrd="1" destOrd="0" presId="urn:microsoft.com/office/officeart/2005/8/layout/hierarchy1"/>
    <dgm:cxn modelId="{8E841E09-D476-48D0-85E5-97DC21B45D20}" type="presParOf" srcId="{F22C654C-AFC9-441B-AD30-5EFE0E9F9FA8}" destId="{D877CC56-1152-4861-B273-CBE1DFB8F599}" srcOrd="1" destOrd="0" presId="urn:microsoft.com/office/officeart/2005/8/layout/hierarchy1"/>
    <dgm:cxn modelId="{D44CB926-2644-4A85-B98D-39CA515AD2B5}" type="presParOf" srcId="{0487D87F-94CA-41DA-B8D3-14D9997B4D1E}" destId="{F7D0CDA2-8E65-4722-A906-0A58AA49F757}" srcOrd="1" destOrd="0" presId="urn:microsoft.com/office/officeart/2005/8/layout/hierarchy1"/>
    <dgm:cxn modelId="{1AED8CFD-B3ED-451F-BBAD-35D8944364C5}" type="presParOf" srcId="{F7D0CDA2-8E65-4722-A906-0A58AA49F757}" destId="{C5D1361B-EDB2-4E97-9F20-47C341F42A39}" srcOrd="0" destOrd="0" presId="urn:microsoft.com/office/officeart/2005/8/layout/hierarchy1"/>
    <dgm:cxn modelId="{D75E0866-DCDB-41EC-8C7B-485D0465669F}" type="presParOf" srcId="{C5D1361B-EDB2-4E97-9F20-47C341F42A39}" destId="{9CF0BDF9-9031-4829-9D71-96E3B82AB320}" srcOrd="0" destOrd="0" presId="urn:microsoft.com/office/officeart/2005/8/layout/hierarchy1"/>
    <dgm:cxn modelId="{D6887959-C4F7-4906-9EDD-CB98F838567D}" type="presParOf" srcId="{C5D1361B-EDB2-4E97-9F20-47C341F42A39}" destId="{27380237-5D99-4743-BEB5-3FB94C7AB273}" srcOrd="1" destOrd="0" presId="urn:microsoft.com/office/officeart/2005/8/layout/hierarchy1"/>
    <dgm:cxn modelId="{EB7F6707-2F78-49E7-A2E1-1263ABF884B8}" type="presParOf" srcId="{F7D0CDA2-8E65-4722-A906-0A58AA49F757}" destId="{A827DD0E-B0ED-4302-83FA-D5E15DE3BC81}" srcOrd="1" destOrd="0" presId="urn:microsoft.com/office/officeart/2005/8/layout/hierarchy1"/>
    <dgm:cxn modelId="{870BAEED-84D2-4FB5-B287-F68A0C1694C3}" type="presParOf" srcId="{0487D87F-94CA-41DA-B8D3-14D9997B4D1E}" destId="{88AAEAF1-3922-4F06-9199-0B685CF02BDC}" srcOrd="2" destOrd="0" presId="urn:microsoft.com/office/officeart/2005/8/layout/hierarchy1"/>
    <dgm:cxn modelId="{154C6368-9C5A-4662-BD8C-1F4336477C0C}" type="presParOf" srcId="{88AAEAF1-3922-4F06-9199-0B685CF02BDC}" destId="{F5B78EE8-A0AD-4926-BF77-89917767E2D1}" srcOrd="0" destOrd="0" presId="urn:microsoft.com/office/officeart/2005/8/layout/hierarchy1"/>
    <dgm:cxn modelId="{3771A3F3-FE49-4DEA-BC7B-5836ECA9D638}" type="presParOf" srcId="{F5B78EE8-A0AD-4926-BF77-89917767E2D1}" destId="{1784161C-FE51-4374-BFB4-58E0D80F586E}" srcOrd="0" destOrd="0" presId="urn:microsoft.com/office/officeart/2005/8/layout/hierarchy1"/>
    <dgm:cxn modelId="{27C6E961-28C7-4811-8CD9-F0B2CC14071A}" type="presParOf" srcId="{F5B78EE8-A0AD-4926-BF77-89917767E2D1}" destId="{9BDC7B0C-B31E-4E92-A2E4-C70EC38220E9}" srcOrd="1" destOrd="0" presId="urn:microsoft.com/office/officeart/2005/8/layout/hierarchy1"/>
    <dgm:cxn modelId="{19882458-3FFC-4EB0-A310-FAF15685D905}" type="presParOf" srcId="{88AAEAF1-3922-4F06-9199-0B685CF02BDC}" destId="{83752A83-A5BB-4FEF-A77C-2728942D8AA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629FAB-81B2-4663-9962-41932E10747A}">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D6A789-1A4B-413E-B6A2-50272D72E67A}">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Extreme Programming (XP)</a:t>
          </a:r>
        </a:p>
      </dsp:txBody>
      <dsp:txXfrm>
        <a:off x="398656" y="1088253"/>
        <a:ext cx="2959127" cy="1837317"/>
      </dsp:txXfrm>
    </dsp:sp>
    <dsp:sp modelId="{9CF0BDF9-9031-4829-9D71-96E3B82AB320}">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380237-5D99-4743-BEB5-3FB94C7AB273}">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Scrum</a:t>
          </a:r>
        </a:p>
      </dsp:txBody>
      <dsp:txXfrm>
        <a:off x="4155097" y="1088253"/>
        <a:ext cx="2959127" cy="1837317"/>
      </dsp:txXfrm>
    </dsp:sp>
    <dsp:sp modelId="{1784161C-FE51-4374-BFB4-58E0D80F586E}">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DC7B0C-B31E-4E92-A2E4-C70EC38220E9}">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Kanban</a:t>
          </a:r>
        </a:p>
      </dsp:txBody>
      <dsp:txXfrm>
        <a:off x="7911539" y="10882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9D84A9-507E-48D3-BEFA-814761DD2761}" type="datetimeFigureOut">
              <a:rPr lang="en-ZA" smtClean="0"/>
              <a:t>2026/05/11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7AF316-FF20-4C69-AF00-62FDE4DA80F6}" type="slidenum">
              <a:rPr lang="en-ZA" smtClean="0"/>
              <a:t>‹#›</a:t>
            </a:fld>
            <a:endParaRPr lang="en-ZA"/>
          </a:p>
        </p:txBody>
      </p:sp>
    </p:spTree>
    <p:extLst>
      <p:ext uri="{BB962C8B-B14F-4D97-AF65-F5344CB8AC3E}">
        <p14:creationId xmlns:p14="http://schemas.microsoft.com/office/powerpoint/2010/main" val="2665634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 name="Date Placeholder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2022</a:t>
            </a: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L Madamshetty Department of IS</a:t>
            </a:r>
          </a:p>
        </p:txBody>
      </p:sp>
    </p:spTree>
    <p:extLst>
      <p:ext uri="{BB962C8B-B14F-4D97-AF65-F5344CB8AC3E}">
        <p14:creationId xmlns:p14="http://schemas.microsoft.com/office/powerpoint/2010/main" val="1779760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0505C-4E24-0281-1FA6-2BA0EF4D9D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F1B54EE8-FED9-A27E-270F-EBF49B84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1F36BC58-819A-54D1-7E2F-7F3D7B80D6A3}"/>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5" name="Footer Placeholder 4">
            <a:extLst>
              <a:ext uri="{FF2B5EF4-FFF2-40B4-BE49-F238E27FC236}">
                <a16:creationId xmlns:a16="http://schemas.microsoft.com/office/drawing/2014/main" id="{785CADFE-3628-CEFC-CA30-5126333B1AE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2293BA4-6C1D-238F-D3AC-E8FD0B833F81}"/>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1334944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D35C4-7BC5-5077-A855-1D38AC07EC2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3E8FCBC-A4E4-C694-BF89-B0C7D8D358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08E799E-59A5-7D8E-F0F5-4B8E561D255B}"/>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5" name="Footer Placeholder 4">
            <a:extLst>
              <a:ext uri="{FF2B5EF4-FFF2-40B4-BE49-F238E27FC236}">
                <a16:creationId xmlns:a16="http://schemas.microsoft.com/office/drawing/2014/main" id="{DF682C87-271D-696B-D888-77BFF5A6E77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BCC5B1E-9D0E-3C5B-BC99-13BA60F30BB2}"/>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4040194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A0995-7917-FA38-4FD9-E20098F54B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9D958527-AAE0-C998-E034-4D1F62B548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C38770-C936-16F4-5569-C8A8CC7C9C8D}"/>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5" name="Footer Placeholder 4">
            <a:extLst>
              <a:ext uri="{FF2B5EF4-FFF2-40B4-BE49-F238E27FC236}">
                <a16:creationId xmlns:a16="http://schemas.microsoft.com/office/drawing/2014/main" id="{C9DBD17C-89AF-DFC6-FA5D-DB756E4E20B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B7BD864-09FD-BC21-4B71-AC5B73C5BA15}"/>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3629858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8EF94-7912-CAB8-F326-661686189F7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45C1277-6893-D7BA-CCF9-B6685840A4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F2F66BE4-7F52-0736-6C2C-D58BE628DD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7B31B34E-06F1-331D-867C-0017A076E90D}"/>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6" name="Footer Placeholder 5">
            <a:extLst>
              <a:ext uri="{FF2B5EF4-FFF2-40B4-BE49-F238E27FC236}">
                <a16:creationId xmlns:a16="http://schemas.microsoft.com/office/drawing/2014/main" id="{22A82D17-A823-AAD3-E212-19A9B329DE2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75FB114-FFB5-B860-1E07-D39BABD9A3FD}"/>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501542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8A1C7-65EB-6E43-CED5-FFC29095554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9B79502-F901-EF28-D345-2CA8224FB2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2108AD-73FF-1641-F8B0-B88F5C8609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90309AE-71B4-321B-3CD4-B275510A38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1797F5-4D71-8719-B50C-73CAF952E3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5B50FBD1-5D25-6303-AF00-1AAE56E5F8F6}"/>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8" name="Footer Placeholder 7">
            <a:extLst>
              <a:ext uri="{FF2B5EF4-FFF2-40B4-BE49-F238E27FC236}">
                <a16:creationId xmlns:a16="http://schemas.microsoft.com/office/drawing/2014/main" id="{6CBE371C-F63F-6687-7EF3-1CD6BD7A818B}"/>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32DB5383-92B9-E588-5D96-2CA5ECCBA245}"/>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1914955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00FF-4CB1-4535-2F92-7503BABE6814}"/>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977F02B6-6352-CC17-C615-E05B5D1F4FCC}"/>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4" name="Footer Placeholder 3">
            <a:extLst>
              <a:ext uri="{FF2B5EF4-FFF2-40B4-BE49-F238E27FC236}">
                <a16:creationId xmlns:a16="http://schemas.microsoft.com/office/drawing/2014/main" id="{CEC0D92F-3751-9ED9-27C2-CD59934F723F}"/>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9AADF87-FA0E-C106-0FF5-D76AE8BA73B6}"/>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349800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F344D5-C259-8A2D-2DC3-797B09EBE4B0}"/>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3" name="Footer Placeholder 2">
            <a:extLst>
              <a:ext uri="{FF2B5EF4-FFF2-40B4-BE49-F238E27FC236}">
                <a16:creationId xmlns:a16="http://schemas.microsoft.com/office/drawing/2014/main" id="{C23B117E-7BC7-A16B-B15F-FADC235990FE}"/>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9C47F46-A684-C357-B132-15A3A5EE046C}"/>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229454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0CC0C-B274-A1B7-EDDB-BD559774E4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5D8C2A5E-891F-9AFC-DB2A-3A9F8AC74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7B348728-9098-0C3B-9CAB-738712746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52D424-9971-EE7D-DD3A-E572728B2D1D}"/>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6" name="Footer Placeholder 5">
            <a:extLst>
              <a:ext uri="{FF2B5EF4-FFF2-40B4-BE49-F238E27FC236}">
                <a16:creationId xmlns:a16="http://schemas.microsoft.com/office/drawing/2014/main" id="{5F986894-459B-2497-0CFF-BDA7EB0E7E0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D7B5275-B878-5952-B4BE-DB44CB64D390}"/>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6314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D64C-D4F9-82A8-C32D-DA7B7437CA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24AB28F7-1D02-E6F6-7A0E-35CA751ADE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6EF0ADC2-1B82-E6CF-D7F9-E024369C50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4FC21F-83BB-4EEE-2CDF-66A6F7631619}"/>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6" name="Footer Placeholder 5">
            <a:extLst>
              <a:ext uri="{FF2B5EF4-FFF2-40B4-BE49-F238E27FC236}">
                <a16:creationId xmlns:a16="http://schemas.microsoft.com/office/drawing/2014/main" id="{81CEA098-0FC8-53CC-27EB-3D00215B05A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AD61FDA-21E2-82CF-9E19-E2FB59BA56D2}"/>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3680221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EB1F-B8EB-10B2-8E48-EA2303EBACDD}"/>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D9F0D40F-A18E-ED84-5AFF-5B4B1285FB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0EE760C-669B-C991-2492-1BA0CCBD775B}"/>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5" name="Footer Placeholder 4">
            <a:extLst>
              <a:ext uri="{FF2B5EF4-FFF2-40B4-BE49-F238E27FC236}">
                <a16:creationId xmlns:a16="http://schemas.microsoft.com/office/drawing/2014/main" id="{552631F1-C015-11AC-CA5F-45E3F59DE4E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F03AC0E-6CCE-03D3-993B-DC5AB5B34697}"/>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3888268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001B88-919D-A81A-E05E-F4FDCED4C7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B55F1ED-9207-5866-A08E-B7E5A63E11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B9186B7-D3C2-BD62-9AEB-B9D9F12B12CE}"/>
              </a:ext>
            </a:extLst>
          </p:cNvPr>
          <p:cNvSpPr>
            <a:spLocks noGrp="1"/>
          </p:cNvSpPr>
          <p:nvPr>
            <p:ph type="dt" sz="half" idx="10"/>
          </p:nvPr>
        </p:nvSpPr>
        <p:spPr/>
        <p:txBody>
          <a:bodyPr/>
          <a:lstStyle/>
          <a:p>
            <a:fld id="{D73696B3-8F7C-4EDB-9760-75D7DC8A344D}" type="datetimeFigureOut">
              <a:rPr lang="en-ZA" smtClean="0"/>
              <a:t>2026/05/11</a:t>
            </a:fld>
            <a:endParaRPr lang="en-ZA"/>
          </a:p>
        </p:txBody>
      </p:sp>
      <p:sp>
        <p:nvSpPr>
          <p:cNvPr id="5" name="Footer Placeholder 4">
            <a:extLst>
              <a:ext uri="{FF2B5EF4-FFF2-40B4-BE49-F238E27FC236}">
                <a16:creationId xmlns:a16="http://schemas.microsoft.com/office/drawing/2014/main" id="{9E00995E-56DF-C8BD-B70A-73ECC290D60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C9B246C-D91F-8594-525D-2E90B12B65B9}"/>
              </a:ext>
            </a:extLst>
          </p:cNvPr>
          <p:cNvSpPr>
            <a:spLocks noGrp="1"/>
          </p:cNvSpPr>
          <p:nvPr>
            <p:ph type="sldNum" sz="quarter" idx="12"/>
          </p:nvPr>
        </p:nvSpPr>
        <p:spPr/>
        <p:txBody>
          <a:bodyPr/>
          <a:lstStyle/>
          <a:p>
            <a:fld id="{E5795EFA-469E-4439-BCE1-720F17940ABC}" type="slidenum">
              <a:rPr lang="en-ZA" smtClean="0"/>
              <a:t>‹#›</a:t>
            </a:fld>
            <a:endParaRPr lang="en-ZA"/>
          </a:p>
        </p:txBody>
      </p:sp>
    </p:spTree>
    <p:extLst>
      <p:ext uri="{BB962C8B-B14F-4D97-AF65-F5344CB8AC3E}">
        <p14:creationId xmlns:p14="http://schemas.microsoft.com/office/powerpoint/2010/main" val="2040681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4515377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64262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921428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458626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r>
              <a:rPr lang="en-ZA"/>
              <a:t>2022</a:t>
            </a:r>
          </a:p>
        </p:txBody>
      </p:sp>
      <p:sp>
        <p:nvSpPr>
          <p:cNvPr id="8" name="Footer Placeholder 7"/>
          <p:cNvSpPr>
            <a:spLocks noGrp="1"/>
          </p:cNvSpPr>
          <p:nvPr>
            <p:ph type="ftr" sz="quarter" idx="11"/>
          </p:nvPr>
        </p:nvSpPr>
        <p:spPr/>
        <p:txBody>
          <a:bodyPr/>
          <a:lstStyle/>
          <a:p>
            <a:r>
              <a:rPr lang="en-US"/>
              <a:t>L Madamshetty Department Of IS</a:t>
            </a:r>
            <a:endParaRPr lang="en-ZA"/>
          </a:p>
        </p:txBody>
      </p:sp>
      <p:sp>
        <p:nvSpPr>
          <p:cNvPr id="9" name="Slide Number Placeholder 8"/>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928937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r>
              <a:rPr lang="en-ZA"/>
              <a:t>2022</a:t>
            </a:r>
          </a:p>
        </p:txBody>
      </p:sp>
      <p:sp>
        <p:nvSpPr>
          <p:cNvPr id="4" name="Footer Placeholder 3"/>
          <p:cNvSpPr>
            <a:spLocks noGrp="1"/>
          </p:cNvSpPr>
          <p:nvPr>
            <p:ph type="ftr" sz="quarter" idx="11"/>
          </p:nvPr>
        </p:nvSpPr>
        <p:spPr/>
        <p:txBody>
          <a:bodyPr/>
          <a:lstStyle/>
          <a:p>
            <a:r>
              <a:rPr lang="en-US"/>
              <a:t>L Madamshetty Department Of IS</a:t>
            </a:r>
            <a:endParaRPr lang="en-ZA"/>
          </a:p>
        </p:txBody>
      </p:sp>
      <p:sp>
        <p:nvSpPr>
          <p:cNvPr id="5" name="Slide Number Placeholder 4"/>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1502692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ZA"/>
              <a:t>2022</a:t>
            </a:r>
          </a:p>
        </p:txBody>
      </p:sp>
      <p:sp>
        <p:nvSpPr>
          <p:cNvPr id="3" name="Footer Placeholder 2"/>
          <p:cNvSpPr>
            <a:spLocks noGrp="1"/>
          </p:cNvSpPr>
          <p:nvPr>
            <p:ph type="ftr" sz="quarter" idx="11"/>
          </p:nvPr>
        </p:nvSpPr>
        <p:spPr/>
        <p:txBody>
          <a:bodyPr/>
          <a:lstStyle/>
          <a:p>
            <a:r>
              <a:rPr lang="en-US"/>
              <a:t>L Madamshetty Department Of IS</a:t>
            </a:r>
            <a:endParaRPr lang="en-ZA"/>
          </a:p>
        </p:txBody>
      </p:sp>
      <p:sp>
        <p:nvSpPr>
          <p:cNvPr id="4" name="Slide Number Placeholder 3"/>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498382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995782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6451309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541608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799558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5" name="Picture 4"/>
          <p:cNvPicPr>
            <a:picLocks noChangeAspect="1"/>
          </p:cNvPicPr>
          <p:nvPr userDrawn="1"/>
        </p:nvPicPr>
        <p:blipFill>
          <a:blip r:embed="rId2"/>
          <a:stretch>
            <a:fillRect/>
          </a:stretch>
        </p:blipFill>
        <p:spPr>
          <a:xfrm>
            <a:off x="2698" y="0"/>
            <a:ext cx="4035902" cy="1341236"/>
          </a:xfrm>
          <a:prstGeom prst="rect">
            <a:avLst/>
          </a:prstGeom>
        </p:spPr>
      </p:pic>
      <p:sp>
        <p:nvSpPr>
          <p:cNvPr id="6" name="Date Placeholder 5"/>
          <p:cNvSpPr>
            <a:spLocks noGrp="1"/>
          </p:cNvSpPr>
          <p:nvPr>
            <p:ph type="dt" sz="half" idx="10"/>
          </p:nvPr>
        </p:nvSpPr>
        <p:spPr/>
        <p:txBody>
          <a:bodyPr/>
          <a:lstStyle/>
          <a:p>
            <a:r>
              <a:rPr lang="en-ZA"/>
              <a:t>2022</a:t>
            </a:r>
          </a:p>
        </p:txBody>
      </p:sp>
      <p:sp>
        <p:nvSpPr>
          <p:cNvPr id="7" name="Footer Placeholder 6"/>
          <p:cNvSpPr>
            <a:spLocks noGrp="1"/>
          </p:cNvSpPr>
          <p:nvPr>
            <p:ph type="ftr" sz="quarter" idx="11"/>
          </p:nvPr>
        </p:nvSpPr>
        <p:spPr/>
        <p:txBody>
          <a:bodyPr/>
          <a:lstStyle/>
          <a:p>
            <a:r>
              <a:rPr lang="en-US"/>
              <a:t>L Madamshetty Department Of IS</a:t>
            </a:r>
            <a:endParaRPr lang="en-ZA"/>
          </a:p>
        </p:txBody>
      </p:sp>
      <p:sp>
        <p:nvSpPr>
          <p:cNvPr id="8" name="Slide Number Placeholder 7"/>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5753871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217253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F31D-1C17-E95B-B778-E062E4EC97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5F5340B-711B-776E-A971-2695A3416B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66E07C6-8A13-F20B-0045-9554B71B3EDA}"/>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5" name="Footer Placeholder 4">
            <a:extLst>
              <a:ext uri="{FF2B5EF4-FFF2-40B4-BE49-F238E27FC236}">
                <a16:creationId xmlns:a16="http://schemas.microsoft.com/office/drawing/2014/main" id="{4A62A6F3-37DD-6A09-E035-F9484F11A63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3A4305-F6BA-8F13-364B-A552BAA3FC85}"/>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5149226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BBDCE-942B-1797-1EF1-F46DA71D4A2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B627962-4550-29D9-07EF-4BBC18CE06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8FB9254-4FF5-9EBC-3342-732182457371}"/>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5" name="Footer Placeholder 4">
            <a:extLst>
              <a:ext uri="{FF2B5EF4-FFF2-40B4-BE49-F238E27FC236}">
                <a16:creationId xmlns:a16="http://schemas.microsoft.com/office/drawing/2014/main" id="{A7598E8B-AF08-236E-443A-01EB892264E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16A08CC-3399-E5D2-65CE-6C313A5D0CB6}"/>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12422383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C087-45FA-31EE-5117-3F2275F4A9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77A4E010-3F88-58AF-618F-8A99755713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7DDCD-5E15-6987-706D-E3AA4A2D8955}"/>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5" name="Footer Placeholder 4">
            <a:extLst>
              <a:ext uri="{FF2B5EF4-FFF2-40B4-BE49-F238E27FC236}">
                <a16:creationId xmlns:a16="http://schemas.microsoft.com/office/drawing/2014/main" id="{FD7715D7-25B7-844E-B88A-59ADC1F9003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B28DDEA-27C6-69E7-6C8F-5270359E96C0}"/>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10644407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FA130-C46D-1E48-04C9-327A49A1DE5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156CA45-8DF8-8A8F-64B9-981BDC0C56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8566FFF6-AD6F-E0BA-A850-3A1F537F9D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CEF648FB-58B0-8339-DB6A-0D5B25F5BDFB}"/>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6" name="Footer Placeholder 5">
            <a:extLst>
              <a:ext uri="{FF2B5EF4-FFF2-40B4-BE49-F238E27FC236}">
                <a16:creationId xmlns:a16="http://schemas.microsoft.com/office/drawing/2014/main" id="{3B8F4605-D08C-8C5C-8FEA-1BD91B69BD5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1928C9F-50DD-E5FE-7559-FC2DA0FAFEBD}"/>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5584823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A1A7A-84C9-1730-DD9C-C29AD778A527}"/>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F81D7DE-4B05-CFB2-966A-7FA8B26303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D2CB2-8092-134A-F2A4-6CFC2ED8EC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DB14D9A-5606-BE39-7868-2583AF09AA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6B5A47-BB2C-EAF6-2605-99B7B4B6F0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4E35E7A8-2ABD-A61C-E42E-133D1F1C62B2}"/>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8" name="Footer Placeholder 7">
            <a:extLst>
              <a:ext uri="{FF2B5EF4-FFF2-40B4-BE49-F238E27FC236}">
                <a16:creationId xmlns:a16="http://schemas.microsoft.com/office/drawing/2014/main" id="{36EB4CC3-9578-4963-4FA3-D832E9B7189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5967D8DE-E2E1-CF75-A2E6-B8D1C9BFE001}"/>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971363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6FD9-C794-49C9-DEC4-9EA23D749F7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2B5A623-43A5-0A4B-2003-CEA16E97145A}"/>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4" name="Footer Placeholder 3">
            <a:extLst>
              <a:ext uri="{FF2B5EF4-FFF2-40B4-BE49-F238E27FC236}">
                <a16:creationId xmlns:a16="http://schemas.microsoft.com/office/drawing/2014/main" id="{C6D4A34A-0725-99A8-C0CD-5FF054C33A9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6A89871F-1794-32EA-4D42-347B51664A82}"/>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5981756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04D626-8B51-0D68-51CD-86B7BB519990}"/>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3" name="Footer Placeholder 2">
            <a:extLst>
              <a:ext uri="{FF2B5EF4-FFF2-40B4-BE49-F238E27FC236}">
                <a16:creationId xmlns:a16="http://schemas.microsoft.com/office/drawing/2014/main" id="{F4E95998-FF32-62E5-94F0-9E2908F08B47}"/>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315B1C5D-552A-B0BC-7D9A-FE8D62650468}"/>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9610144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9772-2EEE-5F60-05BE-E8A00E9208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1E9E23D-C65F-5FCE-4F4D-1A40549749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941FFD4-9EDB-71AE-00BD-53F7560C06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7717C4-DB89-AA03-BC85-0DB0F9B52B45}"/>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6" name="Footer Placeholder 5">
            <a:extLst>
              <a:ext uri="{FF2B5EF4-FFF2-40B4-BE49-F238E27FC236}">
                <a16:creationId xmlns:a16="http://schemas.microsoft.com/office/drawing/2014/main" id="{44F5E399-592F-5F4D-E7DD-E6A3A04A7CB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BCBC539-E5E5-2929-2548-6225140B2C59}"/>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38517940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C584-7EFB-86AF-5466-FA2A33698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D4F38817-752A-8EB1-E9C4-1654F1404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A1BB71C-90FA-5AED-9258-292C37196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BF64E-517E-703F-AF08-7FCD0B7E807C}"/>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6" name="Footer Placeholder 5">
            <a:extLst>
              <a:ext uri="{FF2B5EF4-FFF2-40B4-BE49-F238E27FC236}">
                <a16:creationId xmlns:a16="http://schemas.microsoft.com/office/drawing/2014/main" id="{1FAD600D-E40D-836D-39F5-2AD070FA0FF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0AEFC89-B111-4A7F-17B6-595D933E8CB7}"/>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2217832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BB5A-13E0-6AAC-3ECA-B8EDD121BD08}"/>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5D98DC8-CF97-46CF-7D96-5FF4BA7BF5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F22BD35-0A26-FCFE-4B48-9B3C14E6BB7D}"/>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5" name="Footer Placeholder 4">
            <a:extLst>
              <a:ext uri="{FF2B5EF4-FFF2-40B4-BE49-F238E27FC236}">
                <a16:creationId xmlns:a16="http://schemas.microsoft.com/office/drawing/2014/main" id="{1F2E60AF-BF3D-60A1-0D57-FC08A0E7012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EE9F56A-C0C0-E3A8-BD38-02DE7D237F8B}"/>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3593150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D3F59-8BB8-B695-A411-28A2C50BE9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714C83D-BB17-AA03-5556-D20FD4E80B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35457C8-FDE0-D0F8-D9E6-2ABFD11F9F7B}"/>
              </a:ext>
            </a:extLst>
          </p:cNvPr>
          <p:cNvSpPr>
            <a:spLocks noGrp="1"/>
          </p:cNvSpPr>
          <p:nvPr>
            <p:ph type="dt" sz="half" idx="10"/>
          </p:nvPr>
        </p:nvSpPr>
        <p:spPr/>
        <p:txBody>
          <a:bodyPr/>
          <a:lstStyle/>
          <a:p>
            <a:fld id="{BC972153-F511-4A1E-9E49-93E84FE062B7}" type="datetimeFigureOut">
              <a:rPr lang="en-ZA" smtClean="0"/>
              <a:t>2026/05/11</a:t>
            </a:fld>
            <a:endParaRPr lang="en-ZA"/>
          </a:p>
        </p:txBody>
      </p:sp>
      <p:sp>
        <p:nvSpPr>
          <p:cNvPr id="5" name="Footer Placeholder 4">
            <a:extLst>
              <a:ext uri="{FF2B5EF4-FFF2-40B4-BE49-F238E27FC236}">
                <a16:creationId xmlns:a16="http://schemas.microsoft.com/office/drawing/2014/main" id="{5D92381F-768F-998B-8690-D074355CF44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BB44BA6-77AC-CC0A-F768-BA2B2D8EF30D}"/>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38731357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5" name="Picture 4"/>
          <p:cNvPicPr>
            <a:picLocks noChangeAspect="1"/>
          </p:cNvPicPr>
          <p:nvPr userDrawn="1"/>
        </p:nvPicPr>
        <p:blipFill>
          <a:blip r:embed="rId2"/>
          <a:stretch>
            <a:fillRect/>
          </a:stretch>
        </p:blipFill>
        <p:spPr>
          <a:xfrm>
            <a:off x="2698" y="-1"/>
            <a:ext cx="4035902" cy="1906073"/>
          </a:xfrm>
          <a:prstGeom prst="rect">
            <a:avLst/>
          </a:prstGeom>
        </p:spPr>
      </p:pic>
      <p:sp>
        <p:nvSpPr>
          <p:cNvPr id="6" name="Date Placeholder 5"/>
          <p:cNvSpPr>
            <a:spLocks noGrp="1"/>
          </p:cNvSpPr>
          <p:nvPr>
            <p:ph type="dt" sz="half" idx="10"/>
          </p:nvPr>
        </p:nvSpPr>
        <p:spPr/>
        <p:txBody>
          <a:bodyPr/>
          <a:lstStyle/>
          <a:p>
            <a:r>
              <a:rPr lang="en-ZA"/>
              <a:t>2022</a:t>
            </a:r>
          </a:p>
        </p:txBody>
      </p:sp>
      <p:sp>
        <p:nvSpPr>
          <p:cNvPr id="7" name="Footer Placeholder 6"/>
          <p:cNvSpPr>
            <a:spLocks noGrp="1"/>
          </p:cNvSpPr>
          <p:nvPr>
            <p:ph type="ftr" sz="quarter" idx="11"/>
          </p:nvPr>
        </p:nvSpPr>
        <p:spPr/>
        <p:txBody>
          <a:bodyPr/>
          <a:lstStyle/>
          <a:p>
            <a:r>
              <a:rPr lang="en-US"/>
              <a:t>L Madamshetty Department Of IS</a:t>
            </a:r>
            <a:endParaRPr lang="en-ZA"/>
          </a:p>
        </p:txBody>
      </p:sp>
      <p:sp>
        <p:nvSpPr>
          <p:cNvPr id="8" name="Slide Number Placeholder 7"/>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419450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409BE9-AB9F-48B7-6A8F-38058ACC72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20C309C5-7947-8227-7367-66BA2CFE10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DF5CB44-F7F5-4CDE-9285-18D3D946C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3696B3-8F7C-4EDB-9760-75D7DC8A344D}" type="datetimeFigureOut">
              <a:rPr lang="en-ZA" smtClean="0"/>
              <a:t>2026/05/11</a:t>
            </a:fld>
            <a:endParaRPr lang="en-ZA"/>
          </a:p>
        </p:txBody>
      </p:sp>
      <p:sp>
        <p:nvSpPr>
          <p:cNvPr id="5" name="Footer Placeholder 4">
            <a:extLst>
              <a:ext uri="{FF2B5EF4-FFF2-40B4-BE49-F238E27FC236}">
                <a16:creationId xmlns:a16="http://schemas.microsoft.com/office/drawing/2014/main" id="{961690D4-FC80-A903-6E82-B6E0333813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A2F8B7C8-FA14-9208-BB82-151B6B9728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795EFA-469E-4439-BCE1-720F17940ABC}" type="slidenum">
              <a:rPr lang="en-ZA" smtClean="0"/>
              <a:t>‹#›</a:t>
            </a:fld>
            <a:endParaRPr lang="en-ZA"/>
          </a:p>
        </p:txBody>
      </p:sp>
    </p:spTree>
    <p:extLst>
      <p:ext uri="{BB962C8B-B14F-4D97-AF65-F5344CB8AC3E}">
        <p14:creationId xmlns:p14="http://schemas.microsoft.com/office/powerpoint/2010/main" val="3616853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ZA"/>
              <a:t>2022</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 Madamshetty Department Of IS</a:t>
            </a:r>
            <a:endParaRPr lang="en-ZA"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3D7A9-CDA1-4732-8CA0-2A470E848275}" type="slidenum">
              <a:rPr lang="en-ZA" smtClean="0"/>
              <a:t>‹#›</a:t>
            </a:fld>
            <a:endParaRPr lang="en-ZA"/>
          </a:p>
        </p:txBody>
      </p:sp>
      <p:pic>
        <p:nvPicPr>
          <p:cNvPr id="8" name="Picture 7"/>
          <p:cNvPicPr>
            <a:picLocks noChangeAspect="1"/>
          </p:cNvPicPr>
          <p:nvPr userDrawn="1"/>
        </p:nvPicPr>
        <p:blipFill>
          <a:blip r:embed="rId15"/>
          <a:stretch>
            <a:fillRect/>
          </a:stretch>
        </p:blipFill>
        <p:spPr>
          <a:xfrm>
            <a:off x="9118242" y="0"/>
            <a:ext cx="2863778" cy="2148514"/>
          </a:xfrm>
          <a:prstGeom prst="rect">
            <a:avLst/>
          </a:prstGeom>
        </p:spPr>
      </p:pic>
      <p:pic>
        <p:nvPicPr>
          <p:cNvPr id="7" name="Picture 6"/>
          <p:cNvPicPr>
            <a:picLocks noChangeAspect="1"/>
          </p:cNvPicPr>
          <p:nvPr userDrawn="1"/>
        </p:nvPicPr>
        <p:blipFill>
          <a:blip r:embed="rId16"/>
          <a:stretch>
            <a:fillRect/>
          </a:stretch>
        </p:blipFill>
        <p:spPr>
          <a:xfrm>
            <a:off x="9118242" y="2327901"/>
            <a:ext cx="2863778" cy="2810769"/>
          </a:xfrm>
          <a:prstGeom prst="rect">
            <a:avLst/>
          </a:prstGeom>
        </p:spPr>
      </p:pic>
    </p:spTree>
    <p:extLst>
      <p:ext uri="{BB962C8B-B14F-4D97-AF65-F5344CB8AC3E}">
        <p14:creationId xmlns:p14="http://schemas.microsoft.com/office/powerpoint/2010/main" val="2989477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151DE2-F462-34F4-9C6C-8FCBF3845B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7F7F2F9-6732-1190-82CB-4A03F8BF2D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2E251C9-91A1-71DB-2B8E-2E67F6F738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972153-F511-4A1E-9E49-93E84FE062B7}" type="datetimeFigureOut">
              <a:rPr lang="en-ZA" smtClean="0"/>
              <a:t>2026/05/11</a:t>
            </a:fld>
            <a:endParaRPr lang="en-ZA"/>
          </a:p>
        </p:txBody>
      </p:sp>
      <p:sp>
        <p:nvSpPr>
          <p:cNvPr id="5" name="Footer Placeholder 4">
            <a:extLst>
              <a:ext uri="{FF2B5EF4-FFF2-40B4-BE49-F238E27FC236}">
                <a16:creationId xmlns:a16="http://schemas.microsoft.com/office/drawing/2014/main" id="{6554787C-E5A3-0A30-E448-FE3EC8063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A3022E16-A899-F607-45B0-B9ECE5C80C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E096D3-983E-4537-ABBF-0D56EE13D15C}" type="slidenum">
              <a:rPr lang="en-ZA" smtClean="0"/>
              <a:t>‹#›</a:t>
            </a:fld>
            <a:endParaRPr lang="en-ZA"/>
          </a:p>
        </p:txBody>
      </p:sp>
    </p:spTree>
    <p:extLst>
      <p:ext uri="{BB962C8B-B14F-4D97-AF65-F5344CB8AC3E}">
        <p14:creationId xmlns:p14="http://schemas.microsoft.com/office/powerpoint/2010/main" val="58303715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338" name="Google Shape;338;p12"/>
          <p:cNvSpPr txBox="1">
            <a:spLocks noGrp="1"/>
          </p:cNvSpPr>
          <p:nvPr>
            <p:ph type="ctrTitle"/>
          </p:nvPr>
        </p:nvSpPr>
        <p:spPr>
          <a:xfrm>
            <a:off x="2209800" y="1724297"/>
            <a:ext cx="6646817" cy="4180113"/>
          </a:xfrm>
          <a:prstGeom prst="rect">
            <a:avLst/>
          </a:prstGeom>
        </p:spPr>
        <p:txBody>
          <a:bodyPr spcFirstLastPara="1" vert="horz" wrap="square" lIns="0" tIns="0" rIns="0" bIns="0" rtlCol="0" anchor="ctr" anchorCtr="0">
            <a:noAutofit/>
          </a:bodyPr>
          <a:lstStyle/>
          <a:p>
            <a:pPr lvl="0" algn="ctr"/>
            <a:r>
              <a:rPr lang="en-US" sz="5400" dirty="0">
                <a:latin typeface="+mn-lt"/>
              </a:rPr>
              <a:t>INFORMATION SYSTEMS 3A</a:t>
            </a:r>
            <a:br>
              <a:rPr lang="en-US" sz="5400" dirty="0">
                <a:latin typeface="+mn-lt"/>
              </a:rPr>
            </a:br>
            <a:br>
              <a:rPr lang="en-US" sz="5400" dirty="0">
                <a:latin typeface="+mn-lt"/>
              </a:rPr>
            </a:br>
            <a:r>
              <a:rPr lang="en-US" sz="5400" dirty="0">
                <a:latin typeface="+mn-lt"/>
              </a:rPr>
              <a:t>Agile Software Development </a:t>
            </a:r>
            <a:endParaRPr sz="5400" dirty="0">
              <a:latin typeface="+mn-lt"/>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2025</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03D7A9-CDA1-4732-8CA0-2A470E848275}"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954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3674-1EAB-876C-09C2-1B7861DE1AD0}"/>
              </a:ext>
            </a:extLst>
          </p:cNvPr>
          <p:cNvSpPr>
            <a:spLocks noGrp="1"/>
          </p:cNvSpPr>
          <p:nvPr>
            <p:ph type="title"/>
          </p:nvPr>
        </p:nvSpPr>
        <p:spPr>
          <a:xfrm>
            <a:off x="761803" y="350196"/>
            <a:ext cx="4646904" cy="1624520"/>
          </a:xfrm>
        </p:spPr>
        <p:txBody>
          <a:bodyPr anchor="ctr">
            <a:normAutofit/>
          </a:bodyPr>
          <a:lstStyle/>
          <a:p>
            <a:r>
              <a:rPr lang="en-ZA" sz="4000" b="0" i="0" dirty="0">
                <a:effectLst/>
                <a:latin typeface="Arial" panose="020B0604020202020204" pitchFamily="34" charset="0"/>
              </a:rPr>
              <a:t>Contents</a:t>
            </a:r>
            <a:endParaRPr lang="en-ZA" sz="4000" dirty="0"/>
          </a:p>
        </p:txBody>
      </p:sp>
      <p:sp>
        <p:nvSpPr>
          <p:cNvPr id="3" name="Content Placeholder 2">
            <a:extLst>
              <a:ext uri="{FF2B5EF4-FFF2-40B4-BE49-F238E27FC236}">
                <a16:creationId xmlns:a16="http://schemas.microsoft.com/office/drawing/2014/main" id="{8ED26504-BA5D-5A9E-E9F5-844097D0BEFE}"/>
              </a:ext>
            </a:extLst>
          </p:cNvPr>
          <p:cNvSpPr>
            <a:spLocks noGrp="1"/>
          </p:cNvSpPr>
          <p:nvPr>
            <p:ph idx="1"/>
          </p:nvPr>
        </p:nvSpPr>
        <p:spPr>
          <a:xfrm>
            <a:off x="269098" y="1732935"/>
            <a:ext cx="5632314" cy="2647335"/>
          </a:xfrm>
        </p:spPr>
        <p:txBody>
          <a:bodyPr anchor="ctr">
            <a:normAutofit/>
          </a:bodyPr>
          <a:lstStyle/>
          <a:p>
            <a:r>
              <a:rPr lang="en-US" sz="2000" dirty="0"/>
              <a:t>Agile methods</a:t>
            </a:r>
          </a:p>
          <a:p>
            <a:r>
              <a:rPr lang="en-US" sz="2000" dirty="0"/>
              <a:t>Agile development techniques</a:t>
            </a:r>
          </a:p>
          <a:p>
            <a:r>
              <a:rPr lang="en-US" sz="2000" dirty="0"/>
              <a:t>Agile project management</a:t>
            </a:r>
          </a:p>
          <a:p>
            <a:r>
              <a:rPr lang="en-US" sz="2000" dirty="0"/>
              <a:t>Scaling agile methods</a:t>
            </a:r>
            <a:endParaRPr lang="en-US" sz="1400" b="1" dirty="0"/>
          </a:p>
          <a:p>
            <a:pPr marL="0" indent="0">
              <a:buNone/>
            </a:pPr>
            <a:endParaRPr lang="en-ZA" sz="2000" dirty="0"/>
          </a:p>
        </p:txBody>
      </p:sp>
      <p:pic>
        <p:nvPicPr>
          <p:cNvPr id="5" name="Picture 4" descr="Computer script on a screen">
            <a:extLst>
              <a:ext uri="{FF2B5EF4-FFF2-40B4-BE49-F238E27FC236}">
                <a16:creationId xmlns:a16="http://schemas.microsoft.com/office/drawing/2014/main" id="{C23A5E86-BC10-FA9B-A7F2-A327FE937DE1}"/>
              </a:ext>
            </a:extLst>
          </p:cNvPr>
          <p:cNvPicPr>
            <a:picLocks noChangeAspect="1"/>
          </p:cNvPicPr>
          <p:nvPr/>
        </p:nvPicPr>
        <p:blipFill>
          <a:blip r:embed="rId2"/>
          <a:srcRect l="414" r="40186" b="-2"/>
          <a:stretch/>
        </p:blipFill>
        <p:spPr>
          <a:xfrm>
            <a:off x="6096000" y="1"/>
            <a:ext cx="6102825" cy="6858000"/>
          </a:xfrm>
          <a:prstGeom prst="rect">
            <a:avLst/>
          </a:prstGeom>
        </p:spPr>
      </p:pic>
    </p:spTree>
    <p:extLst>
      <p:ext uri="{BB962C8B-B14F-4D97-AF65-F5344CB8AC3E}">
        <p14:creationId xmlns:p14="http://schemas.microsoft.com/office/powerpoint/2010/main" val="2902379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D89FD-91E8-7164-EA4A-83541B26970E}"/>
              </a:ext>
            </a:extLst>
          </p:cNvPr>
          <p:cNvSpPr>
            <a:spLocks noGrp="1"/>
          </p:cNvSpPr>
          <p:nvPr>
            <p:ph type="title"/>
          </p:nvPr>
        </p:nvSpPr>
        <p:spPr/>
        <p:txBody>
          <a:bodyPr/>
          <a:lstStyle/>
          <a:p>
            <a:r>
              <a:rPr lang="en-US" dirty="0"/>
              <a:t>Plan-driven and agile development</a:t>
            </a:r>
            <a:endParaRPr lang="en-ZA" dirty="0"/>
          </a:p>
        </p:txBody>
      </p:sp>
      <p:sp>
        <p:nvSpPr>
          <p:cNvPr id="3" name="Content Placeholder 2">
            <a:extLst>
              <a:ext uri="{FF2B5EF4-FFF2-40B4-BE49-F238E27FC236}">
                <a16:creationId xmlns:a16="http://schemas.microsoft.com/office/drawing/2014/main" id="{4A57DD20-9092-2C7F-76A0-F704F73DE0C7}"/>
              </a:ext>
            </a:extLst>
          </p:cNvPr>
          <p:cNvSpPr>
            <a:spLocks noGrp="1"/>
          </p:cNvSpPr>
          <p:nvPr>
            <p:ph idx="1"/>
          </p:nvPr>
        </p:nvSpPr>
        <p:spPr/>
        <p:txBody>
          <a:bodyPr>
            <a:normAutofit/>
          </a:bodyPr>
          <a:lstStyle/>
          <a:p>
            <a:pPr marL="0" indent="0">
              <a:buNone/>
            </a:pPr>
            <a:r>
              <a:rPr lang="en-US" b="1" i="0" dirty="0">
                <a:solidFill>
                  <a:srgbClr val="222222"/>
                </a:solidFill>
                <a:effectLst/>
                <a:latin typeface="Arial" panose="020B0604020202020204" pitchFamily="34" charset="0"/>
              </a:rPr>
              <a:t>Plan-driven development </a:t>
            </a:r>
          </a:p>
          <a:p>
            <a:r>
              <a:rPr lang="en-US" b="0" i="0" dirty="0">
                <a:solidFill>
                  <a:srgbClr val="222222"/>
                </a:solidFill>
                <a:effectLst/>
                <a:latin typeface="Arial" panose="020B0604020202020204" pitchFamily="34" charset="0"/>
              </a:rPr>
              <a:t>A plan-driven approach to software engineering is based around separate development stages with the outputs to be produced at each of these stages planned in advance</a:t>
            </a:r>
            <a:r>
              <a:rPr lang="en-US" dirty="0">
                <a:solidFill>
                  <a:srgbClr val="222222"/>
                </a:solidFill>
                <a:latin typeface="Arial" panose="020B0604020202020204" pitchFamily="34" charset="0"/>
              </a:rPr>
              <a:t>.</a:t>
            </a:r>
            <a:endParaRPr lang="en-US" b="0" i="0" dirty="0">
              <a:solidFill>
                <a:srgbClr val="222222"/>
              </a:solidFill>
              <a:effectLst/>
              <a:latin typeface="Arial" panose="020B0604020202020204" pitchFamily="34" charset="0"/>
            </a:endParaRPr>
          </a:p>
          <a:p>
            <a:pPr marL="0" indent="0">
              <a:buNone/>
            </a:pPr>
            <a:r>
              <a:rPr lang="en-US" b="1" i="0" dirty="0">
                <a:solidFill>
                  <a:srgbClr val="222222"/>
                </a:solidFill>
                <a:effectLst/>
                <a:latin typeface="Arial" panose="020B0604020202020204" pitchFamily="34" charset="0"/>
              </a:rPr>
              <a:t>Agile development </a:t>
            </a:r>
          </a:p>
          <a:p>
            <a:r>
              <a:rPr lang="en-US" b="0" i="0" dirty="0">
                <a:solidFill>
                  <a:srgbClr val="222222"/>
                </a:solidFill>
                <a:effectLst/>
                <a:latin typeface="Arial" panose="020B0604020202020204" pitchFamily="34" charset="0"/>
              </a:rPr>
              <a:t>Specification, design, implementation and testing are interleaved and the outputs from the development process are decided through a process of negotiation during the software development process</a:t>
            </a:r>
            <a:endParaRPr lang="en-ZA" dirty="0"/>
          </a:p>
        </p:txBody>
      </p:sp>
    </p:spTree>
    <p:extLst>
      <p:ext uri="{BB962C8B-B14F-4D97-AF65-F5344CB8AC3E}">
        <p14:creationId xmlns:p14="http://schemas.microsoft.com/office/powerpoint/2010/main" val="323855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18D3-24EF-D34D-285D-D5754B1E3D7E}"/>
              </a:ext>
            </a:extLst>
          </p:cNvPr>
          <p:cNvSpPr>
            <a:spLocks noGrp="1"/>
          </p:cNvSpPr>
          <p:nvPr>
            <p:ph type="title"/>
          </p:nvPr>
        </p:nvSpPr>
        <p:spPr/>
        <p:txBody>
          <a:bodyPr/>
          <a:lstStyle/>
          <a:p>
            <a:r>
              <a:rPr lang="en-US" dirty="0">
                <a:latin typeface="+mn-lt"/>
              </a:rPr>
              <a:t>Agile software development</a:t>
            </a:r>
            <a:endParaRPr lang="en-ZA" dirty="0"/>
          </a:p>
        </p:txBody>
      </p:sp>
      <p:sp>
        <p:nvSpPr>
          <p:cNvPr id="3" name="Content Placeholder 2">
            <a:extLst>
              <a:ext uri="{FF2B5EF4-FFF2-40B4-BE49-F238E27FC236}">
                <a16:creationId xmlns:a16="http://schemas.microsoft.com/office/drawing/2014/main" id="{CEC4A289-F352-5F01-BF3C-3A8C85C91E87}"/>
              </a:ext>
            </a:extLst>
          </p:cNvPr>
          <p:cNvSpPr>
            <a:spLocks noGrp="1"/>
          </p:cNvSpPr>
          <p:nvPr>
            <p:ph idx="1"/>
          </p:nvPr>
        </p:nvSpPr>
        <p:spPr/>
        <p:txBody>
          <a:bodyPr>
            <a:normAutofit/>
          </a:bodyPr>
          <a:lstStyle/>
          <a:p>
            <a:pPr>
              <a:lnSpc>
                <a:spcPct val="100000"/>
              </a:lnSpc>
            </a:pPr>
            <a:r>
              <a:rPr lang="en-US" sz="2400" dirty="0"/>
              <a:t>The agile software development methodology has recently become one of the most used software development techniques. Rather than the long-drawn-out release cycles in the previously popular waterfall methodology, the agile technique suggests regular short sprint release cycles. </a:t>
            </a:r>
          </a:p>
          <a:p>
            <a:pPr>
              <a:lnSpc>
                <a:spcPct val="100000"/>
              </a:lnSpc>
            </a:pPr>
            <a:r>
              <a:rPr lang="en-US" sz="2400" dirty="0"/>
              <a:t>This allows the customers and stakeholders to have more involvement within the software development process. This helps promote a higher quality final product because it combats the difficult task of a customer fully understanding and identifying all requirements in the software project planning phase. This also allows for the stakeholders to adjust the priorities of remaining tasks easily throughout the entire software </a:t>
            </a:r>
            <a:r>
              <a:rPr lang="en-ZA" sz="2400" dirty="0"/>
              <a:t>development process.</a:t>
            </a:r>
          </a:p>
        </p:txBody>
      </p:sp>
    </p:spTree>
    <p:extLst>
      <p:ext uri="{BB962C8B-B14F-4D97-AF65-F5344CB8AC3E}">
        <p14:creationId xmlns:p14="http://schemas.microsoft.com/office/powerpoint/2010/main" val="3554656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00FF5-DBB7-0F52-1281-AC8E6B0F029F}"/>
              </a:ext>
            </a:extLst>
          </p:cNvPr>
          <p:cNvSpPr>
            <a:spLocks noGrp="1"/>
          </p:cNvSpPr>
          <p:nvPr>
            <p:ph type="title"/>
          </p:nvPr>
        </p:nvSpPr>
        <p:spPr/>
        <p:txBody>
          <a:bodyPr/>
          <a:lstStyle/>
          <a:p>
            <a:r>
              <a:rPr lang="en-US" dirty="0">
                <a:latin typeface="+mn-lt"/>
              </a:rPr>
              <a:t>Agile software development</a:t>
            </a:r>
            <a:endParaRPr lang="en-ZA" dirty="0"/>
          </a:p>
        </p:txBody>
      </p:sp>
      <p:sp>
        <p:nvSpPr>
          <p:cNvPr id="3" name="Content Placeholder 2">
            <a:extLst>
              <a:ext uri="{FF2B5EF4-FFF2-40B4-BE49-F238E27FC236}">
                <a16:creationId xmlns:a16="http://schemas.microsoft.com/office/drawing/2014/main" id="{0EA5FBBF-F80B-D4A4-EEAB-122D8CEE0599}"/>
              </a:ext>
            </a:extLst>
          </p:cNvPr>
          <p:cNvSpPr>
            <a:spLocks noGrp="1"/>
          </p:cNvSpPr>
          <p:nvPr>
            <p:ph idx="1"/>
          </p:nvPr>
        </p:nvSpPr>
        <p:spPr/>
        <p:txBody>
          <a:bodyPr>
            <a:normAutofit lnSpcReduction="10000"/>
          </a:bodyPr>
          <a:lstStyle/>
          <a:p>
            <a:r>
              <a:rPr lang="en-US" b="0" i="0" dirty="0">
                <a:solidFill>
                  <a:srgbClr val="222222"/>
                </a:solidFill>
                <a:effectLst/>
                <a:latin typeface="Arial" panose="020B0604020202020204" pitchFamily="34" charset="0"/>
              </a:rPr>
              <a:t>Dissatisfaction with the overheads involved in software design methods of the 1980s and 1990s led to the creation of agile methods. These methods: </a:t>
            </a:r>
          </a:p>
          <a:p>
            <a:pPr lvl="1"/>
            <a:r>
              <a:rPr lang="en-US" b="0" i="0" dirty="0">
                <a:solidFill>
                  <a:srgbClr val="222222"/>
                </a:solidFill>
                <a:effectLst/>
                <a:latin typeface="Arial" panose="020B0604020202020204" pitchFamily="34" charset="0"/>
              </a:rPr>
              <a:t>Focus on the code rather than the design </a:t>
            </a:r>
          </a:p>
          <a:p>
            <a:pPr lvl="1"/>
            <a:r>
              <a:rPr lang="en-US" b="0" i="0" dirty="0">
                <a:solidFill>
                  <a:srgbClr val="222222"/>
                </a:solidFill>
                <a:effectLst/>
                <a:latin typeface="Arial" panose="020B0604020202020204" pitchFamily="34" charset="0"/>
              </a:rPr>
              <a:t>Are based on an iterative approach to software development </a:t>
            </a:r>
          </a:p>
          <a:p>
            <a:pPr lvl="1"/>
            <a:r>
              <a:rPr lang="en-US" b="0" i="0" dirty="0">
                <a:solidFill>
                  <a:srgbClr val="222222"/>
                </a:solidFill>
                <a:effectLst/>
                <a:latin typeface="Arial" panose="020B0604020202020204" pitchFamily="34" charset="0"/>
              </a:rPr>
              <a:t>Are intended to deliver working software quickly and evolve this rapidly to meet changing requirements </a:t>
            </a:r>
          </a:p>
          <a:p>
            <a:r>
              <a:rPr lang="en-US" b="0" i="0" dirty="0">
                <a:solidFill>
                  <a:srgbClr val="222222"/>
                </a:solidFill>
                <a:effectLst/>
                <a:latin typeface="Arial" panose="020B0604020202020204" pitchFamily="34" charset="0"/>
              </a:rPr>
              <a:t>The aim of agile methods is to reduce overheads in the software process (e.g., by limiting documentation) and to be able to respond quickly to changing requirements without excessive rework</a:t>
            </a:r>
            <a:endParaRPr lang="en-ZA" dirty="0"/>
          </a:p>
        </p:txBody>
      </p:sp>
    </p:spTree>
    <p:extLst>
      <p:ext uri="{BB962C8B-B14F-4D97-AF65-F5344CB8AC3E}">
        <p14:creationId xmlns:p14="http://schemas.microsoft.com/office/powerpoint/2010/main" val="4097549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FDF33-1B82-C374-7198-C4D384D35FC6}"/>
              </a:ext>
            </a:extLst>
          </p:cNvPr>
          <p:cNvSpPr>
            <a:spLocks noGrp="1"/>
          </p:cNvSpPr>
          <p:nvPr>
            <p:ph type="title"/>
          </p:nvPr>
        </p:nvSpPr>
        <p:spPr/>
        <p:txBody>
          <a:bodyPr/>
          <a:lstStyle/>
          <a:p>
            <a:r>
              <a:rPr lang="en-US" dirty="0">
                <a:latin typeface="+mn-lt"/>
              </a:rPr>
              <a:t>Agile software development</a:t>
            </a:r>
            <a:endParaRPr lang="en-ZA" dirty="0"/>
          </a:p>
        </p:txBody>
      </p:sp>
      <p:sp>
        <p:nvSpPr>
          <p:cNvPr id="3" name="Content Placeholder 2">
            <a:extLst>
              <a:ext uri="{FF2B5EF4-FFF2-40B4-BE49-F238E27FC236}">
                <a16:creationId xmlns:a16="http://schemas.microsoft.com/office/drawing/2014/main" id="{882DD7A4-62F8-D2D7-525C-D47671DD4C04}"/>
              </a:ext>
            </a:extLst>
          </p:cNvPr>
          <p:cNvSpPr>
            <a:spLocks noGrp="1"/>
          </p:cNvSpPr>
          <p:nvPr>
            <p:ph idx="1"/>
          </p:nvPr>
        </p:nvSpPr>
        <p:spPr/>
        <p:txBody>
          <a:bodyPr/>
          <a:lstStyle/>
          <a:p>
            <a:r>
              <a:rPr lang="en-US" dirty="0"/>
              <a:t>Program specification, design and implementation are inter-leaved.</a:t>
            </a:r>
          </a:p>
          <a:p>
            <a:r>
              <a:rPr lang="en-US" dirty="0"/>
              <a:t>The system is developed as a series of versions or increments with stakeholders involved in version specification and evaluation.</a:t>
            </a:r>
          </a:p>
          <a:p>
            <a:r>
              <a:rPr lang="en-US" dirty="0"/>
              <a:t>Frequent delivery of new versions for evaluation.</a:t>
            </a:r>
          </a:p>
          <a:p>
            <a:r>
              <a:rPr lang="en-US" dirty="0"/>
              <a:t>Extensive tool support (e.g. automated testing tools) used to support development.</a:t>
            </a:r>
          </a:p>
          <a:p>
            <a:r>
              <a:rPr lang="en-US" dirty="0"/>
              <a:t>Minimal documentation – focus on working code.</a:t>
            </a:r>
          </a:p>
          <a:p>
            <a:endParaRPr lang="en-ZA" dirty="0"/>
          </a:p>
        </p:txBody>
      </p:sp>
    </p:spTree>
    <p:extLst>
      <p:ext uri="{BB962C8B-B14F-4D97-AF65-F5344CB8AC3E}">
        <p14:creationId xmlns:p14="http://schemas.microsoft.com/office/powerpoint/2010/main" val="3982739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5644-28E0-717C-5CFA-AE2FCAD556B2}"/>
              </a:ext>
            </a:extLst>
          </p:cNvPr>
          <p:cNvSpPr>
            <a:spLocks noGrp="1"/>
          </p:cNvSpPr>
          <p:nvPr>
            <p:ph type="title"/>
          </p:nvPr>
        </p:nvSpPr>
        <p:spPr/>
        <p:txBody>
          <a:bodyPr/>
          <a:lstStyle/>
          <a:p>
            <a:r>
              <a:rPr lang="en-US" dirty="0"/>
              <a:t>Plan-driven and agile development</a:t>
            </a:r>
            <a:endParaRPr lang="en-ZA" dirty="0"/>
          </a:p>
        </p:txBody>
      </p:sp>
      <p:pic>
        <p:nvPicPr>
          <p:cNvPr id="4" name="Content Placeholder 3" descr="3.2 PlanBasedAgile.eps">
            <a:extLst>
              <a:ext uri="{FF2B5EF4-FFF2-40B4-BE49-F238E27FC236}">
                <a16:creationId xmlns:a16="http://schemas.microsoft.com/office/drawing/2014/main" id="{527821AE-BB48-6D9B-DF11-B44A19DC0A5F}"/>
              </a:ext>
            </a:extLst>
          </p:cNvPr>
          <p:cNvPicPr>
            <a:picLocks noGrp="1" noChangeAspect="1"/>
          </p:cNvPicPr>
          <p:nvPr>
            <p:ph idx="1"/>
          </p:nvPr>
        </p:nvPicPr>
        <p:blipFill>
          <a:blip r:embed="rId2"/>
          <a:stretch>
            <a:fillRect/>
          </a:stretch>
        </p:blipFill>
        <p:spPr>
          <a:xfrm>
            <a:off x="2005781" y="1573655"/>
            <a:ext cx="5860173" cy="4454363"/>
          </a:xfrm>
          <a:prstGeom prst="rect">
            <a:avLst/>
          </a:prstGeom>
        </p:spPr>
      </p:pic>
    </p:spTree>
    <p:extLst>
      <p:ext uri="{BB962C8B-B14F-4D97-AF65-F5344CB8AC3E}">
        <p14:creationId xmlns:p14="http://schemas.microsoft.com/office/powerpoint/2010/main" val="519323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73573-0626-60D4-288D-6698258A7771}"/>
              </a:ext>
            </a:extLst>
          </p:cNvPr>
          <p:cNvSpPr>
            <a:spLocks noGrp="1"/>
          </p:cNvSpPr>
          <p:nvPr>
            <p:ph type="title"/>
          </p:nvPr>
        </p:nvSpPr>
        <p:spPr/>
        <p:txBody>
          <a:bodyPr/>
          <a:lstStyle/>
          <a:p>
            <a:r>
              <a:rPr lang="en-US" dirty="0">
                <a:latin typeface="+mn-lt"/>
              </a:rPr>
              <a:t>Key characteristics of agile process models</a:t>
            </a:r>
            <a:endParaRPr lang="en-ZA" dirty="0"/>
          </a:p>
        </p:txBody>
      </p:sp>
      <p:sp>
        <p:nvSpPr>
          <p:cNvPr id="3" name="Content Placeholder 2">
            <a:extLst>
              <a:ext uri="{FF2B5EF4-FFF2-40B4-BE49-F238E27FC236}">
                <a16:creationId xmlns:a16="http://schemas.microsoft.com/office/drawing/2014/main" id="{D54C5CE6-A08E-B100-56F3-68EFDF29956E}"/>
              </a:ext>
            </a:extLst>
          </p:cNvPr>
          <p:cNvSpPr>
            <a:spLocks noGrp="1"/>
          </p:cNvSpPr>
          <p:nvPr>
            <p:ph idx="1"/>
          </p:nvPr>
        </p:nvSpPr>
        <p:spPr/>
        <p:txBody>
          <a:bodyPr>
            <a:normAutofit lnSpcReduction="10000"/>
          </a:bodyPr>
          <a:lstStyle/>
          <a:p>
            <a:pPr marL="285750" indent="-285750">
              <a:buFont typeface="Wingdings" panose="05000000000000000000" pitchFamily="2" charset="2"/>
              <a:buChar char="Ø"/>
            </a:pPr>
            <a:r>
              <a:rPr lang="en-US" sz="2800" dirty="0"/>
              <a:t>Stronger focus on specification, design and implementation</a:t>
            </a:r>
          </a:p>
          <a:p>
            <a:pPr marL="285750" indent="-285750">
              <a:buFont typeface="Wingdings" panose="05000000000000000000" pitchFamily="2" charset="2"/>
              <a:buChar char="Ø"/>
            </a:pPr>
            <a:r>
              <a:rPr lang="en-US" sz="2800" dirty="0"/>
              <a:t>Do enough documentation to move on</a:t>
            </a:r>
          </a:p>
          <a:p>
            <a:pPr marL="285750" indent="-285750">
              <a:buFont typeface="Wingdings" panose="05000000000000000000" pitchFamily="2" charset="2"/>
              <a:buChar char="Ø"/>
            </a:pPr>
            <a:r>
              <a:rPr lang="en-US" sz="2800" dirty="0"/>
              <a:t>Incremental delivery</a:t>
            </a:r>
          </a:p>
          <a:p>
            <a:pPr marL="285750" indent="-285750">
              <a:buFont typeface="Wingdings" panose="05000000000000000000" pitchFamily="2" charset="2"/>
              <a:buChar char="Ø"/>
            </a:pPr>
            <a:r>
              <a:rPr lang="en-US" sz="2800" dirty="0"/>
              <a:t>Client involvement</a:t>
            </a:r>
          </a:p>
          <a:p>
            <a:pPr marL="285750" indent="-285750">
              <a:buFont typeface="Wingdings" panose="05000000000000000000" pitchFamily="2" charset="2"/>
              <a:buChar char="Ø"/>
            </a:pPr>
            <a:r>
              <a:rPr lang="en-US" sz="2800" dirty="0"/>
              <a:t>Dependency on automated tool support</a:t>
            </a:r>
          </a:p>
          <a:p>
            <a:pPr marL="285750" indent="-285750">
              <a:buFont typeface="Wingdings" panose="05000000000000000000" pitchFamily="2" charset="2"/>
              <a:buChar char="Ø"/>
            </a:pPr>
            <a:r>
              <a:rPr lang="en-US" sz="2800" dirty="0"/>
              <a:t>Ability to respond to project change</a:t>
            </a:r>
          </a:p>
          <a:p>
            <a:pPr marL="285750" indent="-285750">
              <a:buFont typeface="Wingdings" panose="05000000000000000000" pitchFamily="2" charset="2"/>
              <a:buChar char="Ø"/>
            </a:pPr>
            <a:r>
              <a:rPr lang="en-US" sz="2800" dirty="0"/>
              <a:t>Effective communication among all stakeholders</a:t>
            </a:r>
          </a:p>
          <a:p>
            <a:pPr marL="285750" indent="-285750">
              <a:buFont typeface="Wingdings" panose="05000000000000000000" pitchFamily="2" charset="2"/>
              <a:buChar char="Ø"/>
            </a:pPr>
            <a:r>
              <a:rPr lang="en-US" sz="2800" dirty="0"/>
              <a:t>Drawing the customer into the team</a:t>
            </a:r>
          </a:p>
          <a:p>
            <a:pPr marL="285750" indent="-285750">
              <a:buFont typeface="Wingdings" panose="05000000000000000000" pitchFamily="2" charset="2"/>
              <a:buChar char="Ø"/>
            </a:pPr>
            <a:r>
              <a:rPr lang="en-US" sz="2800" dirty="0"/>
              <a:t>Organizing a team so that it is in control of the work performed</a:t>
            </a:r>
          </a:p>
          <a:p>
            <a:endParaRPr lang="en-ZA" dirty="0"/>
          </a:p>
        </p:txBody>
      </p:sp>
    </p:spTree>
    <p:extLst>
      <p:ext uri="{BB962C8B-B14F-4D97-AF65-F5344CB8AC3E}">
        <p14:creationId xmlns:p14="http://schemas.microsoft.com/office/powerpoint/2010/main" val="2097150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D0207-01BF-EC31-F964-33DE348A9559}"/>
              </a:ext>
            </a:extLst>
          </p:cNvPr>
          <p:cNvSpPr>
            <a:spLocks noGrp="1"/>
          </p:cNvSpPr>
          <p:nvPr>
            <p:ph type="title"/>
          </p:nvPr>
        </p:nvSpPr>
        <p:spPr/>
        <p:txBody>
          <a:bodyPr/>
          <a:lstStyle/>
          <a:p>
            <a:r>
              <a:rPr lang="en-US" dirty="0">
                <a:latin typeface="+mn-lt"/>
              </a:rPr>
              <a:t>Agile manifesto core values</a:t>
            </a:r>
            <a:endParaRPr lang="en-ZA" dirty="0"/>
          </a:p>
        </p:txBody>
      </p:sp>
      <p:sp>
        <p:nvSpPr>
          <p:cNvPr id="3" name="Content Placeholder 2">
            <a:extLst>
              <a:ext uri="{FF2B5EF4-FFF2-40B4-BE49-F238E27FC236}">
                <a16:creationId xmlns:a16="http://schemas.microsoft.com/office/drawing/2014/main" id="{B600445A-15D8-522E-A783-5D3326835180}"/>
              </a:ext>
            </a:extLst>
          </p:cNvPr>
          <p:cNvSpPr>
            <a:spLocks noGrp="1"/>
          </p:cNvSpPr>
          <p:nvPr>
            <p:ph idx="1"/>
          </p:nvPr>
        </p:nvSpPr>
        <p:spPr/>
        <p:txBody>
          <a:bodyPr/>
          <a:lstStyle/>
          <a:p>
            <a:r>
              <a:rPr lang="en-US" sz="2800" dirty="0"/>
              <a:t>We are uncovering better ways of developing software by doing it and helping others do it. Through this work we have come to value:</a:t>
            </a:r>
          </a:p>
          <a:p>
            <a:pPr marL="457200" indent="-457200">
              <a:buFont typeface="Wingdings" panose="05000000000000000000" pitchFamily="2" charset="2"/>
              <a:buChar char="Ø"/>
            </a:pPr>
            <a:r>
              <a:rPr lang="en-US" sz="2800" dirty="0"/>
              <a:t>Individuals and interactions over processes and tools</a:t>
            </a:r>
          </a:p>
          <a:p>
            <a:pPr marL="457200" indent="-457200">
              <a:buFont typeface="Wingdings" panose="05000000000000000000" pitchFamily="2" charset="2"/>
              <a:buChar char="Ø"/>
            </a:pPr>
            <a:r>
              <a:rPr lang="en-US" sz="2800" dirty="0"/>
              <a:t>Working software over comprehensive documentation </a:t>
            </a:r>
          </a:p>
          <a:p>
            <a:pPr marL="457200" indent="-457200">
              <a:buFont typeface="Wingdings" panose="05000000000000000000" pitchFamily="2" charset="2"/>
              <a:buChar char="Ø"/>
            </a:pPr>
            <a:r>
              <a:rPr lang="en-US" sz="2800" dirty="0"/>
              <a:t>Customer collaboration over contract negotiation </a:t>
            </a:r>
          </a:p>
          <a:p>
            <a:pPr marL="457200" indent="-457200">
              <a:buFont typeface="Wingdings" panose="05000000000000000000" pitchFamily="2" charset="2"/>
              <a:buChar char="Ø"/>
            </a:pPr>
            <a:r>
              <a:rPr lang="en-US" sz="2800" dirty="0"/>
              <a:t>Responding to change over following a plan </a:t>
            </a:r>
          </a:p>
          <a:p>
            <a:endParaRPr lang="en-ZA" dirty="0"/>
          </a:p>
        </p:txBody>
      </p:sp>
    </p:spTree>
    <p:extLst>
      <p:ext uri="{BB962C8B-B14F-4D97-AF65-F5344CB8AC3E}">
        <p14:creationId xmlns:p14="http://schemas.microsoft.com/office/powerpoint/2010/main" val="1165967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0E28C-525B-DAEC-70D5-CF01A41DCE35}"/>
              </a:ext>
            </a:extLst>
          </p:cNvPr>
          <p:cNvSpPr>
            <a:spLocks noGrp="1"/>
          </p:cNvSpPr>
          <p:nvPr>
            <p:ph type="title"/>
          </p:nvPr>
        </p:nvSpPr>
        <p:spPr/>
        <p:txBody>
          <a:bodyPr/>
          <a:lstStyle/>
          <a:p>
            <a:r>
              <a:rPr lang="en-US" dirty="0"/>
              <a:t>The principles of Agile Methods</a:t>
            </a:r>
            <a:endParaRPr lang="en-ZA" dirty="0"/>
          </a:p>
        </p:txBody>
      </p:sp>
      <p:pic>
        <p:nvPicPr>
          <p:cNvPr id="4" name="Content Placeholder 3">
            <a:extLst>
              <a:ext uri="{FF2B5EF4-FFF2-40B4-BE49-F238E27FC236}">
                <a16:creationId xmlns:a16="http://schemas.microsoft.com/office/drawing/2014/main" id="{942E6544-1597-7747-7CEC-F4F7A6BCF468}"/>
              </a:ext>
            </a:extLst>
          </p:cNvPr>
          <p:cNvPicPr>
            <a:picLocks noGrp="1" noChangeAspect="1"/>
          </p:cNvPicPr>
          <p:nvPr>
            <p:ph idx="1"/>
          </p:nvPr>
        </p:nvPicPr>
        <p:blipFill>
          <a:blip r:embed="rId2"/>
          <a:stretch>
            <a:fillRect/>
          </a:stretch>
        </p:blipFill>
        <p:spPr>
          <a:xfrm>
            <a:off x="959372" y="1690688"/>
            <a:ext cx="9758596" cy="4703784"/>
          </a:xfrm>
          <a:prstGeom prst="rect">
            <a:avLst/>
          </a:prstGeom>
        </p:spPr>
      </p:pic>
    </p:spTree>
    <p:extLst>
      <p:ext uri="{BB962C8B-B14F-4D97-AF65-F5344CB8AC3E}">
        <p14:creationId xmlns:p14="http://schemas.microsoft.com/office/powerpoint/2010/main" val="84105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518B3-A4B4-7508-738A-3A3251F466E4}"/>
              </a:ext>
            </a:extLst>
          </p:cNvPr>
          <p:cNvSpPr>
            <a:spLocks noGrp="1"/>
          </p:cNvSpPr>
          <p:nvPr>
            <p:ph type="title"/>
          </p:nvPr>
        </p:nvSpPr>
        <p:spPr/>
        <p:txBody>
          <a:bodyPr/>
          <a:lstStyle/>
          <a:p>
            <a:r>
              <a:rPr lang="en-US" dirty="0"/>
              <a:t>Agile method applicability</a:t>
            </a:r>
            <a:endParaRPr lang="en-ZA" dirty="0"/>
          </a:p>
        </p:txBody>
      </p:sp>
      <p:sp>
        <p:nvSpPr>
          <p:cNvPr id="3" name="Content Placeholder 2">
            <a:extLst>
              <a:ext uri="{FF2B5EF4-FFF2-40B4-BE49-F238E27FC236}">
                <a16:creationId xmlns:a16="http://schemas.microsoft.com/office/drawing/2014/main" id="{E02EEC17-EF6F-B446-957D-975B510E2B12}"/>
              </a:ext>
            </a:extLst>
          </p:cNvPr>
          <p:cNvSpPr>
            <a:spLocks noGrp="1"/>
          </p:cNvSpPr>
          <p:nvPr>
            <p:ph idx="1"/>
          </p:nvPr>
        </p:nvSpPr>
        <p:spPr/>
        <p:txBody>
          <a:bodyPr/>
          <a:lstStyle/>
          <a:p>
            <a:r>
              <a:rPr lang="en-US" b="0" i="0" dirty="0">
                <a:solidFill>
                  <a:srgbClr val="222222"/>
                </a:solidFill>
                <a:effectLst/>
                <a:latin typeface="Arial" panose="020B0604020202020204" pitchFamily="34" charset="0"/>
              </a:rPr>
              <a:t> Product development where a software company is developing a small or medium-sized product for sale. </a:t>
            </a:r>
          </a:p>
          <a:p>
            <a:r>
              <a:rPr lang="en-US" b="0" i="0" dirty="0">
                <a:solidFill>
                  <a:srgbClr val="222222"/>
                </a:solidFill>
                <a:effectLst/>
                <a:latin typeface="Arial" panose="020B0604020202020204" pitchFamily="34" charset="0"/>
              </a:rPr>
              <a:t>Custom system development within an organization, where there is a clear commitment from the customer to become involved in the development process and where there are few external rules and regulations that affect the software.</a:t>
            </a:r>
            <a:endParaRPr lang="en-ZA" dirty="0"/>
          </a:p>
        </p:txBody>
      </p:sp>
    </p:spTree>
    <p:extLst>
      <p:ext uri="{BB962C8B-B14F-4D97-AF65-F5344CB8AC3E}">
        <p14:creationId xmlns:p14="http://schemas.microsoft.com/office/powerpoint/2010/main" val="513588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5F1ADD-766C-DDF6-8012-CDE0C69DAB7E}"/>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Agile development methods techniques</a:t>
            </a:r>
            <a:endParaRPr lang="en-ZA" sz="4000" dirty="0">
              <a:solidFill>
                <a:srgbClr val="FFFFFF"/>
              </a:solidFill>
            </a:endParaRPr>
          </a:p>
        </p:txBody>
      </p:sp>
      <p:graphicFrame>
        <p:nvGraphicFramePr>
          <p:cNvPr id="5" name="Content Placeholder 2">
            <a:extLst>
              <a:ext uri="{FF2B5EF4-FFF2-40B4-BE49-F238E27FC236}">
                <a16:creationId xmlns:a16="http://schemas.microsoft.com/office/drawing/2014/main" id="{1ED3B52A-116E-CF2C-5172-C8842699D3C6}"/>
              </a:ext>
            </a:extLst>
          </p:cNvPr>
          <p:cNvGraphicFramePr>
            <a:graphicFrameLocks noGrp="1"/>
          </p:cNvGraphicFramePr>
          <p:nvPr>
            <p:ph idx="1"/>
            <p:extLst>
              <p:ext uri="{D42A27DB-BD31-4B8C-83A1-F6EECF244321}">
                <p14:modId xmlns:p14="http://schemas.microsoft.com/office/powerpoint/2010/main" val="260740786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4489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92E4B-4207-E549-98A9-7547AE5BE17E}"/>
              </a:ext>
            </a:extLst>
          </p:cNvPr>
          <p:cNvSpPr>
            <a:spLocks noGrp="1"/>
          </p:cNvSpPr>
          <p:nvPr>
            <p:ph type="title"/>
          </p:nvPr>
        </p:nvSpPr>
        <p:spPr/>
        <p:txBody>
          <a:bodyPr/>
          <a:lstStyle/>
          <a:p>
            <a:r>
              <a:rPr lang="en-US" dirty="0"/>
              <a:t>Extreme programming (XP)</a:t>
            </a:r>
            <a:endParaRPr lang="en-ZA" dirty="0"/>
          </a:p>
        </p:txBody>
      </p:sp>
      <p:sp>
        <p:nvSpPr>
          <p:cNvPr id="3" name="Content Placeholder 2">
            <a:extLst>
              <a:ext uri="{FF2B5EF4-FFF2-40B4-BE49-F238E27FC236}">
                <a16:creationId xmlns:a16="http://schemas.microsoft.com/office/drawing/2014/main" id="{A1D71C5E-0982-5E52-7621-C4BDAB2251C1}"/>
              </a:ext>
            </a:extLst>
          </p:cNvPr>
          <p:cNvSpPr>
            <a:spLocks noGrp="1"/>
          </p:cNvSpPr>
          <p:nvPr>
            <p:ph idx="1"/>
          </p:nvPr>
        </p:nvSpPr>
        <p:spPr/>
        <p:txBody>
          <a:bodyPr/>
          <a:lstStyle/>
          <a:p>
            <a:pPr>
              <a:lnSpc>
                <a:spcPct val="90000"/>
              </a:lnSpc>
            </a:pPr>
            <a:r>
              <a:rPr lang="en-US" dirty="0"/>
              <a:t>A very influential agile method, developed in the late </a:t>
            </a:r>
            <a:r>
              <a:rPr lang="en-US" dirty="0">
                <a:solidFill>
                  <a:srgbClr val="FF0000"/>
                </a:solidFill>
              </a:rPr>
              <a:t>1990s</a:t>
            </a:r>
            <a:r>
              <a:rPr lang="en-US" dirty="0"/>
              <a:t>, that introduced a range of agile development techniques.</a:t>
            </a:r>
          </a:p>
          <a:p>
            <a:pPr>
              <a:lnSpc>
                <a:spcPct val="90000"/>
              </a:lnSpc>
            </a:pPr>
            <a:r>
              <a:rPr lang="en-US" dirty="0">
                <a:solidFill>
                  <a:srgbClr val="FF0000"/>
                </a:solidFill>
              </a:rPr>
              <a:t>Extreme Programming (XP) </a:t>
            </a:r>
            <a:r>
              <a:rPr lang="en-US" dirty="0"/>
              <a:t>takes an ‘extreme’ approach to iterative development. </a:t>
            </a:r>
          </a:p>
          <a:p>
            <a:pPr lvl="1">
              <a:lnSpc>
                <a:spcPct val="90000"/>
              </a:lnSpc>
            </a:pPr>
            <a:r>
              <a:rPr lang="en-US" dirty="0">
                <a:solidFill>
                  <a:srgbClr val="FF0000"/>
                </a:solidFill>
              </a:rPr>
              <a:t>New versions </a:t>
            </a:r>
            <a:r>
              <a:rPr lang="en-US" dirty="0"/>
              <a:t>may be built </a:t>
            </a:r>
            <a:r>
              <a:rPr lang="en-US" dirty="0">
                <a:solidFill>
                  <a:srgbClr val="FF0000"/>
                </a:solidFill>
              </a:rPr>
              <a:t>several times per day</a:t>
            </a:r>
            <a:r>
              <a:rPr lang="en-US" dirty="0"/>
              <a:t>;</a:t>
            </a:r>
          </a:p>
          <a:p>
            <a:pPr lvl="1">
              <a:lnSpc>
                <a:spcPct val="90000"/>
              </a:lnSpc>
            </a:pPr>
            <a:r>
              <a:rPr lang="en-US" dirty="0"/>
              <a:t>Increments are delivered to customers </a:t>
            </a:r>
            <a:r>
              <a:rPr lang="en-US" dirty="0">
                <a:solidFill>
                  <a:srgbClr val="FF0000"/>
                </a:solidFill>
              </a:rPr>
              <a:t>every 2 weeks</a:t>
            </a:r>
            <a:r>
              <a:rPr lang="en-US" dirty="0"/>
              <a:t>;</a:t>
            </a:r>
          </a:p>
          <a:p>
            <a:pPr lvl="1">
              <a:lnSpc>
                <a:spcPct val="90000"/>
              </a:lnSpc>
            </a:pPr>
            <a:r>
              <a:rPr lang="en-US" dirty="0"/>
              <a:t>All </a:t>
            </a:r>
            <a:r>
              <a:rPr lang="en-US" dirty="0">
                <a:solidFill>
                  <a:srgbClr val="FF0000"/>
                </a:solidFill>
              </a:rPr>
              <a:t>tests</a:t>
            </a:r>
            <a:r>
              <a:rPr lang="en-US" dirty="0"/>
              <a:t> must be run for </a:t>
            </a:r>
            <a:r>
              <a:rPr lang="en-US" dirty="0">
                <a:solidFill>
                  <a:srgbClr val="FF0000"/>
                </a:solidFill>
              </a:rPr>
              <a:t>every build </a:t>
            </a:r>
            <a:r>
              <a:rPr lang="en-US" dirty="0"/>
              <a:t>and the build is only </a:t>
            </a:r>
            <a:r>
              <a:rPr lang="en-US" dirty="0">
                <a:solidFill>
                  <a:srgbClr val="FF0000"/>
                </a:solidFill>
              </a:rPr>
              <a:t>accepted</a:t>
            </a:r>
            <a:r>
              <a:rPr lang="en-US" dirty="0"/>
              <a:t> if tests run </a:t>
            </a:r>
            <a:r>
              <a:rPr lang="en-US" dirty="0">
                <a:solidFill>
                  <a:srgbClr val="FF0000"/>
                </a:solidFill>
              </a:rPr>
              <a:t>successfully</a:t>
            </a:r>
            <a:r>
              <a:rPr lang="en-US" dirty="0"/>
              <a:t>.</a:t>
            </a:r>
          </a:p>
          <a:p>
            <a:endParaRPr lang="en-ZA" dirty="0"/>
          </a:p>
        </p:txBody>
      </p:sp>
    </p:spTree>
    <p:extLst>
      <p:ext uri="{BB962C8B-B14F-4D97-AF65-F5344CB8AC3E}">
        <p14:creationId xmlns:p14="http://schemas.microsoft.com/office/powerpoint/2010/main" val="4284424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EC031-9812-F0B6-4339-4507B1A3DB4C}"/>
              </a:ext>
            </a:extLst>
          </p:cNvPr>
          <p:cNvSpPr>
            <a:spLocks noGrp="1"/>
          </p:cNvSpPr>
          <p:nvPr>
            <p:ph type="title"/>
          </p:nvPr>
        </p:nvSpPr>
        <p:spPr/>
        <p:txBody>
          <a:bodyPr/>
          <a:lstStyle/>
          <a:p>
            <a:r>
              <a:rPr lang="en-US" dirty="0"/>
              <a:t>Extreme programming release cycle</a:t>
            </a:r>
            <a:endParaRPr lang="en-ZA" dirty="0"/>
          </a:p>
        </p:txBody>
      </p:sp>
      <p:sp>
        <p:nvSpPr>
          <p:cNvPr id="6" name="Content Placeholder 5">
            <a:extLst>
              <a:ext uri="{FF2B5EF4-FFF2-40B4-BE49-F238E27FC236}">
                <a16:creationId xmlns:a16="http://schemas.microsoft.com/office/drawing/2014/main" id="{14F5C1F6-53F9-6E38-5190-C5A293B2044F}"/>
              </a:ext>
            </a:extLst>
          </p:cNvPr>
          <p:cNvSpPr>
            <a:spLocks noGrp="1"/>
          </p:cNvSpPr>
          <p:nvPr>
            <p:ph idx="1"/>
          </p:nvPr>
        </p:nvSpPr>
        <p:spPr/>
        <p:txBody>
          <a:bodyPr/>
          <a:lstStyle/>
          <a:p>
            <a:endParaRPr lang="en-ZA" dirty="0"/>
          </a:p>
        </p:txBody>
      </p:sp>
      <p:pic>
        <p:nvPicPr>
          <p:cNvPr id="8" name="Picture 7">
            <a:extLst>
              <a:ext uri="{FF2B5EF4-FFF2-40B4-BE49-F238E27FC236}">
                <a16:creationId xmlns:a16="http://schemas.microsoft.com/office/drawing/2014/main" id="{213A582B-F1EF-63EA-F3A7-37E29DC6F9B4}"/>
              </a:ext>
            </a:extLst>
          </p:cNvPr>
          <p:cNvPicPr>
            <a:picLocks noChangeAspect="1"/>
          </p:cNvPicPr>
          <p:nvPr/>
        </p:nvPicPr>
        <p:blipFill>
          <a:blip r:embed="rId2"/>
          <a:stretch>
            <a:fillRect/>
          </a:stretch>
        </p:blipFill>
        <p:spPr>
          <a:xfrm>
            <a:off x="1991895" y="2267261"/>
            <a:ext cx="7451908" cy="3923491"/>
          </a:xfrm>
          <a:prstGeom prst="rect">
            <a:avLst/>
          </a:prstGeom>
        </p:spPr>
      </p:pic>
    </p:spTree>
    <p:extLst>
      <p:ext uri="{BB962C8B-B14F-4D97-AF65-F5344CB8AC3E}">
        <p14:creationId xmlns:p14="http://schemas.microsoft.com/office/powerpoint/2010/main" val="2301784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CD572-A94C-383A-9B7F-DE6D9E038838}"/>
              </a:ext>
            </a:extLst>
          </p:cNvPr>
          <p:cNvSpPr>
            <a:spLocks noGrp="1"/>
          </p:cNvSpPr>
          <p:nvPr>
            <p:ph type="title"/>
          </p:nvPr>
        </p:nvSpPr>
        <p:spPr/>
        <p:txBody>
          <a:bodyPr/>
          <a:lstStyle/>
          <a:p>
            <a:r>
              <a:rPr lang="en-US" dirty="0"/>
              <a:t>Extreme programming practices (a)</a:t>
            </a:r>
            <a:endParaRPr lang="en-ZA" dirty="0"/>
          </a:p>
        </p:txBody>
      </p:sp>
      <p:pic>
        <p:nvPicPr>
          <p:cNvPr id="5" name="Content Placeholder 4">
            <a:extLst>
              <a:ext uri="{FF2B5EF4-FFF2-40B4-BE49-F238E27FC236}">
                <a16:creationId xmlns:a16="http://schemas.microsoft.com/office/drawing/2014/main" id="{36D0F9DF-1EE3-A870-D4AB-42783037A668}"/>
              </a:ext>
            </a:extLst>
          </p:cNvPr>
          <p:cNvPicPr>
            <a:picLocks noGrp="1" noChangeAspect="1"/>
          </p:cNvPicPr>
          <p:nvPr>
            <p:ph idx="1"/>
          </p:nvPr>
        </p:nvPicPr>
        <p:blipFill>
          <a:blip r:embed="rId2"/>
          <a:stretch>
            <a:fillRect/>
          </a:stretch>
        </p:blipFill>
        <p:spPr>
          <a:xfrm>
            <a:off x="1710813" y="1690688"/>
            <a:ext cx="8031419" cy="4628076"/>
          </a:xfrm>
        </p:spPr>
      </p:pic>
    </p:spTree>
    <p:extLst>
      <p:ext uri="{BB962C8B-B14F-4D97-AF65-F5344CB8AC3E}">
        <p14:creationId xmlns:p14="http://schemas.microsoft.com/office/powerpoint/2010/main" val="1368337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EB264-CB56-B934-35F3-38062A0FFBCB}"/>
              </a:ext>
            </a:extLst>
          </p:cNvPr>
          <p:cNvSpPr>
            <a:spLocks noGrp="1"/>
          </p:cNvSpPr>
          <p:nvPr>
            <p:ph type="title"/>
          </p:nvPr>
        </p:nvSpPr>
        <p:spPr/>
        <p:txBody>
          <a:bodyPr/>
          <a:lstStyle/>
          <a:p>
            <a:r>
              <a:rPr lang="en-US" dirty="0"/>
              <a:t>Extreme programming practices (b)</a:t>
            </a:r>
            <a:endParaRPr lang="en-ZA" dirty="0"/>
          </a:p>
        </p:txBody>
      </p:sp>
      <p:pic>
        <p:nvPicPr>
          <p:cNvPr id="5" name="Content Placeholder 4">
            <a:extLst>
              <a:ext uri="{FF2B5EF4-FFF2-40B4-BE49-F238E27FC236}">
                <a16:creationId xmlns:a16="http://schemas.microsoft.com/office/drawing/2014/main" id="{55FE8503-8BA8-E1FC-5322-49C93CAD0621}"/>
              </a:ext>
            </a:extLst>
          </p:cNvPr>
          <p:cNvPicPr>
            <a:picLocks noGrp="1" noChangeAspect="1"/>
          </p:cNvPicPr>
          <p:nvPr>
            <p:ph idx="1"/>
          </p:nvPr>
        </p:nvPicPr>
        <p:blipFill>
          <a:blip r:embed="rId2"/>
          <a:stretch>
            <a:fillRect/>
          </a:stretch>
        </p:blipFill>
        <p:spPr>
          <a:xfrm>
            <a:off x="1169779" y="1761891"/>
            <a:ext cx="7824320" cy="4283387"/>
          </a:xfrm>
        </p:spPr>
      </p:pic>
    </p:spTree>
    <p:extLst>
      <p:ext uri="{BB962C8B-B14F-4D97-AF65-F5344CB8AC3E}">
        <p14:creationId xmlns:p14="http://schemas.microsoft.com/office/powerpoint/2010/main" val="3024585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706A-4E39-F6BA-1949-39996A25BA7B}"/>
              </a:ext>
            </a:extLst>
          </p:cNvPr>
          <p:cNvSpPr>
            <a:spLocks noGrp="1"/>
          </p:cNvSpPr>
          <p:nvPr>
            <p:ph type="title"/>
          </p:nvPr>
        </p:nvSpPr>
        <p:spPr/>
        <p:txBody>
          <a:bodyPr/>
          <a:lstStyle/>
          <a:p>
            <a:r>
              <a:rPr lang="en-US" dirty="0"/>
              <a:t>Influential XP practices</a:t>
            </a:r>
            <a:endParaRPr lang="en-ZA" dirty="0"/>
          </a:p>
        </p:txBody>
      </p:sp>
      <p:sp>
        <p:nvSpPr>
          <p:cNvPr id="3" name="Content Placeholder 2">
            <a:extLst>
              <a:ext uri="{FF2B5EF4-FFF2-40B4-BE49-F238E27FC236}">
                <a16:creationId xmlns:a16="http://schemas.microsoft.com/office/drawing/2014/main" id="{302268AA-7A50-3CE1-3AAF-7C069324653F}"/>
              </a:ext>
            </a:extLst>
          </p:cNvPr>
          <p:cNvSpPr>
            <a:spLocks noGrp="1"/>
          </p:cNvSpPr>
          <p:nvPr>
            <p:ph idx="1"/>
          </p:nvPr>
        </p:nvSpPr>
        <p:spPr/>
        <p:txBody>
          <a:bodyPr>
            <a:normAutofit/>
          </a:bodyPr>
          <a:lstStyle/>
          <a:p>
            <a:r>
              <a:rPr lang="en-US" b="0" i="0" dirty="0">
                <a:solidFill>
                  <a:srgbClr val="222222"/>
                </a:solidFill>
                <a:effectLst/>
                <a:latin typeface="Arial" panose="020B0604020202020204" pitchFamily="34" charset="0"/>
              </a:rPr>
              <a:t> Extreme programming has a technical focus and is not easy to integrate with management practice in most organizations </a:t>
            </a:r>
          </a:p>
          <a:p>
            <a:r>
              <a:rPr lang="en-US" b="0" i="0" dirty="0">
                <a:solidFill>
                  <a:srgbClr val="222222"/>
                </a:solidFill>
                <a:effectLst/>
                <a:latin typeface="Arial" panose="020B0604020202020204" pitchFamily="34" charset="0"/>
              </a:rPr>
              <a:t>Consequently, while agile development uses practices from XP, the method as originally defined is not widely used</a:t>
            </a:r>
          </a:p>
          <a:p>
            <a:r>
              <a:rPr lang="en-US" b="1" i="0" dirty="0">
                <a:solidFill>
                  <a:srgbClr val="222222"/>
                </a:solidFill>
                <a:effectLst/>
                <a:latin typeface="Arial" panose="020B0604020202020204" pitchFamily="34" charset="0"/>
              </a:rPr>
              <a:t>Key practices </a:t>
            </a:r>
          </a:p>
          <a:p>
            <a:pPr lvl="1"/>
            <a:r>
              <a:rPr lang="en-US" b="0" i="0" dirty="0">
                <a:solidFill>
                  <a:srgbClr val="222222"/>
                </a:solidFill>
                <a:effectLst/>
                <a:latin typeface="Arial" panose="020B0604020202020204" pitchFamily="34" charset="0"/>
              </a:rPr>
              <a:t>User stories for specification </a:t>
            </a:r>
          </a:p>
          <a:p>
            <a:pPr lvl="1"/>
            <a:r>
              <a:rPr lang="en-US" b="0" i="0" dirty="0">
                <a:solidFill>
                  <a:srgbClr val="222222"/>
                </a:solidFill>
                <a:effectLst/>
                <a:latin typeface="Arial" panose="020B0604020202020204" pitchFamily="34" charset="0"/>
              </a:rPr>
              <a:t>Refactoring </a:t>
            </a:r>
          </a:p>
          <a:p>
            <a:pPr lvl="1"/>
            <a:r>
              <a:rPr lang="en-US" b="0" i="0" dirty="0">
                <a:solidFill>
                  <a:srgbClr val="222222"/>
                </a:solidFill>
                <a:effectLst/>
                <a:latin typeface="Arial" panose="020B0604020202020204" pitchFamily="34" charset="0"/>
              </a:rPr>
              <a:t>Test-first development </a:t>
            </a:r>
          </a:p>
          <a:p>
            <a:pPr lvl="1"/>
            <a:r>
              <a:rPr lang="en-US" b="0" i="0" dirty="0">
                <a:solidFill>
                  <a:srgbClr val="222222"/>
                </a:solidFill>
                <a:effectLst/>
                <a:latin typeface="Arial" panose="020B0604020202020204" pitchFamily="34" charset="0"/>
              </a:rPr>
              <a:t>Pair programming</a:t>
            </a:r>
          </a:p>
        </p:txBody>
      </p:sp>
    </p:spTree>
    <p:extLst>
      <p:ext uri="{BB962C8B-B14F-4D97-AF65-F5344CB8AC3E}">
        <p14:creationId xmlns:p14="http://schemas.microsoft.com/office/powerpoint/2010/main" val="4237892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8998-1F09-8F73-12A2-19553A912CC0}"/>
              </a:ext>
            </a:extLst>
          </p:cNvPr>
          <p:cNvSpPr>
            <a:spLocks noGrp="1"/>
          </p:cNvSpPr>
          <p:nvPr>
            <p:ph type="title"/>
          </p:nvPr>
        </p:nvSpPr>
        <p:spPr/>
        <p:txBody>
          <a:bodyPr>
            <a:normAutofit/>
          </a:bodyPr>
          <a:lstStyle/>
          <a:p>
            <a:pPr lvl="1"/>
            <a:r>
              <a:rPr lang="en-US" sz="4400" b="0" i="0" dirty="0">
                <a:solidFill>
                  <a:srgbClr val="222222"/>
                </a:solidFill>
                <a:effectLst/>
                <a:latin typeface="Aptos Display" panose="020B0004020202020204" pitchFamily="34" charset="0"/>
              </a:rPr>
              <a:t>User stories for specification </a:t>
            </a:r>
          </a:p>
        </p:txBody>
      </p:sp>
      <p:sp>
        <p:nvSpPr>
          <p:cNvPr id="3" name="Content Placeholder 2">
            <a:extLst>
              <a:ext uri="{FF2B5EF4-FFF2-40B4-BE49-F238E27FC236}">
                <a16:creationId xmlns:a16="http://schemas.microsoft.com/office/drawing/2014/main" id="{EEDA228B-1C9F-5D23-EEC8-33673866D0DC}"/>
              </a:ext>
            </a:extLst>
          </p:cNvPr>
          <p:cNvSpPr>
            <a:spLocks noGrp="1"/>
          </p:cNvSpPr>
          <p:nvPr>
            <p:ph idx="1"/>
          </p:nvPr>
        </p:nvSpPr>
        <p:spPr/>
        <p:txBody>
          <a:bodyPr/>
          <a:lstStyle/>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In XP, a </a:t>
            </a:r>
            <a:r>
              <a:rPr lang="en-US" altLang="en-US" dirty="0">
                <a:solidFill>
                  <a:srgbClr val="0000FF"/>
                </a:solidFill>
                <a:latin typeface="Arial" panose="020B0604020202020204" pitchFamily="34" charset="0"/>
                <a:cs typeface="Arial" panose="020B0604020202020204" pitchFamily="34" charset="0"/>
              </a:rPr>
              <a:t>customer</a:t>
            </a:r>
            <a:r>
              <a:rPr lang="en-US" altLang="en-US" dirty="0">
                <a:latin typeface="Arial" panose="020B0604020202020204" pitchFamily="34" charset="0"/>
                <a:cs typeface="Arial" panose="020B0604020202020204" pitchFamily="34" charset="0"/>
              </a:rPr>
              <a:t> or </a:t>
            </a:r>
            <a:r>
              <a:rPr lang="en-US" altLang="en-US" dirty="0">
                <a:solidFill>
                  <a:srgbClr val="0000FF"/>
                </a:solidFill>
                <a:latin typeface="Arial" panose="020B0604020202020204" pitchFamily="34" charset="0"/>
                <a:cs typeface="Arial" panose="020B0604020202020204" pitchFamily="34" charset="0"/>
              </a:rPr>
              <a:t>user</a:t>
            </a:r>
            <a:r>
              <a:rPr lang="en-US" altLang="en-US" dirty="0">
                <a:latin typeface="Arial" panose="020B0604020202020204" pitchFamily="34" charset="0"/>
                <a:cs typeface="Arial" panose="020B0604020202020204" pitchFamily="34" charset="0"/>
              </a:rPr>
              <a:t> is part of the XP team and is responsible for making decisions on requirements.</a:t>
            </a:r>
          </a:p>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User requirements are expressed as </a:t>
            </a:r>
            <a:r>
              <a:rPr lang="en-US" altLang="en-US" dirty="0">
                <a:solidFill>
                  <a:srgbClr val="0000FF"/>
                </a:solidFill>
                <a:latin typeface="Arial" panose="020B0604020202020204" pitchFamily="34" charset="0"/>
                <a:cs typeface="Arial" panose="020B0604020202020204" pitchFamily="34" charset="0"/>
              </a:rPr>
              <a:t>scenarios</a:t>
            </a:r>
            <a:r>
              <a:rPr lang="en-US" altLang="en-US" dirty="0">
                <a:latin typeface="Arial" panose="020B0604020202020204" pitchFamily="34" charset="0"/>
                <a:cs typeface="Arial" panose="020B0604020202020204" pitchFamily="34" charset="0"/>
              </a:rPr>
              <a:t> or </a:t>
            </a:r>
            <a:r>
              <a:rPr lang="en-US" altLang="en-US" dirty="0">
                <a:solidFill>
                  <a:srgbClr val="0000FF"/>
                </a:solidFill>
                <a:latin typeface="Arial" panose="020B0604020202020204" pitchFamily="34" charset="0"/>
                <a:cs typeface="Arial" panose="020B0604020202020204" pitchFamily="34" charset="0"/>
              </a:rPr>
              <a:t>user stories.</a:t>
            </a:r>
          </a:p>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These are written on cards and the development team break them down into </a:t>
            </a:r>
            <a:r>
              <a:rPr lang="en-US" altLang="en-US" dirty="0">
                <a:solidFill>
                  <a:srgbClr val="0000FF"/>
                </a:solidFill>
                <a:latin typeface="Arial" panose="020B0604020202020204" pitchFamily="34" charset="0"/>
                <a:cs typeface="Arial" panose="020B0604020202020204" pitchFamily="34" charset="0"/>
              </a:rPr>
              <a:t>implementation tasks</a:t>
            </a:r>
            <a:r>
              <a:rPr lang="en-US" altLang="en-US" dirty="0">
                <a:latin typeface="Arial" panose="020B0604020202020204" pitchFamily="34" charset="0"/>
                <a:cs typeface="Arial" panose="020B0604020202020204" pitchFamily="34" charset="0"/>
              </a:rPr>
              <a:t>. These tasks are the basis of schedule and cost estimates.</a:t>
            </a:r>
          </a:p>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The customer chooses the stories for inclusion in the next release based on their priorities and the schedule estimates.</a:t>
            </a:r>
          </a:p>
          <a:p>
            <a:endParaRPr lang="en-ZA" dirty="0"/>
          </a:p>
        </p:txBody>
      </p:sp>
    </p:spTree>
    <p:extLst>
      <p:ext uri="{BB962C8B-B14F-4D97-AF65-F5344CB8AC3E}">
        <p14:creationId xmlns:p14="http://schemas.microsoft.com/office/powerpoint/2010/main" val="2217706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DDB2-56A5-86F9-F75A-2DDAAB4A9990}"/>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A ‘prescribing medication’ story</a:t>
            </a:r>
            <a:r>
              <a:rPr lang="en-GB" altLang="en-US" dirty="0">
                <a:latin typeface="Arial" panose="020B0604020202020204" pitchFamily="34" charset="0"/>
                <a:cs typeface="Arial" panose="020B0604020202020204" pitchFamily="34" charset="0"/>
              </a:rPr>
              <a:t> </a:t>
            </a:r>
            <a:endParaRPr lang="en-ZA" dirty="0"/>
          </a:p>
        </p:txBody>
      </p:sp>
      <p:pic>
        <p:nvPicPr>
          <p:cNvPr id="4" name="Picture 6" descr="3.5 StoryCard.eps">
            <a:extLst>
              <a:ext uri="{FF2B5EF4-FFF2-40B4-BE49-F238E27FC236}">
                <a16:creationId xmlns:a16="http://schemas.microsoft.com/office/drawing/2014/main" id="{90FD7AB9-BA4C-F777-09B4-65410EE4F04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824" y="1903751"/>
            <a:ext cx="5039596" cy="3294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5BA72CCE-AD92-0AC9-D4A7-AE780F4A283C}"/>
              </a:ext>
            </a:extLst>
          </p:cNvPr>
          <p:cNvPicPr>
            <a:picLocks noChangeAspect="1"/>
          </p:cNvPicPr>
          <p:nvPr/>
        </p:nvPicPr>
        <p:blipFill>
          <a:blip r:embed="rId3"/>
          <a:stretch>
            <a:fillRect/>
          </a:stretch>
        </p:blipFill>
        <p:spPr>
          <a:xfrm>
            <a:off x="5886137" y="2081865"/>
            <a:ext cx="5626309" cy="3229918"/>
          </a:xfrm>
          <a:prstGeom prst="rect">
            <a:avLst/>
          </a:prstGeom>
        </p:spPr>
      </p:pic>
    </p:spTree>
    <p:extLst>
      <p:ext uri="{BB962C8B-B14F-4D97-AF65-F5344CB8AC3E}">
        <p14:creationId xmlns:p14="http://schemas.microsoft.com/office/powerpoint/2010/main" val="4247924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E54D0-14C0-2399-B150-62E74BD592C1}"/>
              </a:ext>
            </a:extLst>
          </p:cNvPr>
          <p:cNvSpPr>
            <a:spLocks noGrp="1"/>
          </p:cNvSpPr>
          <p:nvPr>
            <p:ph type="title"/>
          </p:nvPr>
        </p:nvSpPr>
        <p:spPr/>
        <p:txBody>
          <a:bodyPr/>
          <a:lstStyle/>
          <a:p>
            <a:r>
              <a:rPr lang="en-US" dirty="0">
                <a:latin typeface="+mn-lt"/>
              </a:rPr>
              <a:t>Refactoring (Cleaning up the code)</a:t>
            </a:r>
            <a:endParaRPr lang="en-ZA" dirty="0"/>
          </a:p>
        </p:txBody>
      </p:sp>
      <p:sp>
        <p:nvSpPr>
          <p:cNvPr id="3" name="Content Placeholder 2">
            <a:extLst>
              <a:ext uri="{FF2B5EF4-FFF2-40B4-BE49-F238E27FC236}">
                <a16:creationId xmlns:a16="http://schemas.microsoft.com/office/drawing/2014/main" id="{D1CD7548-9637-4394-44AB-933F561570A5}"/>
              </a:ext>
            </a:extLst>
          </p:cNvPr>
          <p:cNvSpPr>
            <a:spLocks noGrp="1"/>
          </p:cNvSpPr>
          <p:nvPr>
            <p:ph idx="1"/>
          </p:nvPr>
        </p:nvSpPr>
        <p:spPr/>
        <p:txBody>
          <a:bodyPr>
            <a:normAutofit fontScale="92500" lnSpcReduction="10000"/>
          </a:bodyPr>
          <a:lstStyle/>
          <a:p>
            <a:r>
              <a:rPr lang="en-US" dirty="0"/>
              <a:t>In Extreme Programming (XP), refactoring is the practice of continuously improving code without changing its external behavior. It helps keep the code clean, simple, and maintainable.</a:t>
            </a:r>
          </a:p>
          <a:p>
            <a:pPr marL="457200" indent="-457200">
              <a:buFont typeface="Wingdings" panose="05000000000000000000" pitchFamily="2" charset="2"/>
              <a:buChar char="Ø"/>
            </a:pPr>
            <a:r>
              <a:rPr lang="en-US" dirty="0"/>
              <a:t>More efficient</a:t>
            </a:r>
          </a:p>
          <a:p>
            <a:pPr marL="457200" indent="-457200">
              <a:buFont typeface="Wingdings" panose="05000000000000000000" pitchFamily="2" charset="2"/>
              <a:buChar char="Ø"/>
            </a:pPr>
            <a:r>
              <a:rPr lang="en-US" sz="2800" dirty="0"/>
              <a:t>Helps in finding the Bugs</a:t>
            </a:r>
          </a:p>
          <a:p>
            <a:pPr marL="457200" indent="-457200">
              <a:buFont typeface="Wingdings" panose="05000000000000000000" pitchFamily="2" charset="2"/>
              <a:buChar char="Ø"/>
            </a:pPr>
            <a:r>
              <a:rPr lang="en-US" sz="2800" dirty="0"/>
              <a:t>Remove duplicates</a:t>
            </a:r>
          </a:p>
          <a:p>
            <a:pPr marL="457200" indent="-457200">
              <a:buFont typeface="Wingdings" panose="05000000000000000000" pitchFamily="2" charset="2"/>
              <a:buChar char="Ø"/>
            </a:pPr>
            <a:r>
              <a:rPr lang="en-US" sz="2800" dirty="0"/>
              <a:t>Replacement of similar code sections</a:t>
            </a:r>
          </a:p>
          <a:p>
            <a:pPr marL="457200" indent="-457200">
              <a:buFont typeface="Wingdings" panose="05000000000000000000" pitchFamily="2" charset="2"/>
              <a:buChar char="Ø"/>
            </a:pPr>
            <a:r>
              <a:rPr lang="en-US" sz="2800" dirty="0"/>
              <a:t>Makes software easier to understand</a:t>
            </a:r>
          </a:p>
          <a:p>
            <a:pPr marL="457200" indent="-457200">
              <a:buFont typeface="Wingdings" panose="05000000000000000000" pitchFamily="2" charset="2"/>
              <a:buChar char="Ø"/>
            </a:pPr>
            <a:r>
              <a:rPr lang="en-US" sz="2800" dirty="0"/>
              <a:t>Improves the design of software</a:t>
            </a:r>
          </a:p>
          <a:p>
            <a:pPr marL="457200" indent="-457200">
              <a:buFont typeface="Wingdings" panose="05000000000000000000" pitchFamily="2" charset="2"/>
              <a:buChar char="Ø"/>
            </a:pPr>
            <a:r>
              <a:rPr lang="en-US" sz="2800" dirty="0"/>
              <a:t>Also helps in executing the program faster</a:t>
            </a:r>
          </a:p>
          <a:p>
            <a:endParaRPr lang="en-ZA" dirty="0"/>
          </a:p>
        </p:txBody>
      </p:sp>
    </p:spTree>
    <p:extLst>
      <p:ext uri="{BB962C8B-B14F-4D97-AF65-F5344CB8AC3E}">
        <p14:creationId xmlns:p14="http://schemas.microsoft.com/office/powerpoint/2010/main" val="1002593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95D8-B1AA-B994-6051-372D12292B7D}"/>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Examples of refactoring</a:t>
            </a:r>
            <a:endParaRPr lang="en-ZA" dirty="0"/>
          </a:p>
        </p:txBody>
      </p:sp>
      <p:sp>
        <p:nvSpPr>
          <p:cNvPr id="3" name="Content Placeholder 2">
            <a:extLst>
              <a:ext uri="{FF2B5EF4-FFF2-40B4-BE49-F238E27FC236}">
                <a16:creationId xmlns:a16="http://schemas.microsoft.com/office/drawing/2014/main" id="{E0561D65-0880-14CE-DB59-F40A62726738}"/>
              </a:ext>
            </a:extLst>
          </p:cNvPr>
          <p:cNvSpPr>
            <a:spLocks noGrp="1"/>
          </p:cNvSpPr>
          <p:nvPr>
            <p:ph idx="1"/>
          </p:nvPr>
        </p:nvSpPr>
        <p:spPr/>
        <p:txBody>
          <a:bodyPr/>
          <a:lstStyle/>
          <a:p>
            <a:pPr eaLnBrk="1" hangingPunct="1">
              <a:buFont typeface="Wingdings" panose="05000000000000000000" pitchFamily="2" charset="2"/>
              <a:buChar char="²"/>
            </a:pPr>
            <a:r>
              <a:rPr lang="en-US" altLang="en-US" dirty="0">
                <a:solidFill>
                  <a:srgbClr val="0000FF"/>
                </a:solidFill>
                <a:latin typeface="Arial" panose="020B0604020202020204" pitchFamily="34" charset="0"/>
                <a:cs typeface="Arial" panose="020B0604020202020204" pitchFamily="34" charset="0"/>
              </a:rPr>
              <a:t>Re-organization of a class hierarchy </a:t>
            </a:r>
            <a:r>
              <a:rPr lang="en-US" altLang="en-US" dirty="0">
                <a:latin typeface="Arial" panose="020B0604020202020204" pitchFamily="34" charset="0"/>
                <a:cs typeface="Arial" panose="020B0604020202020204" pitchFamily="34" charset="0"/>
              </a:rPr>
              <a:t>to remove duplicate code</a:t>
            </a:r>
          </a:p>
          <a:p>
            <a:pPr eaLnBrk="1" hangingPunct="1">
              <a:buFont typeface="Wingdings" panose="05000000000000000000" pitchFamily="2" charset="2"/>
              <a:buChar char="²"/>
            </a:pPr>
            <a:r>
              <a:rPr lang="en-US" altLang="en-US" dirty="0">
                <a:solidFill>
                  <a:srgbClr val="0000FF"/>
                </a:solidFill>
                <a:latin typeface="Arial" panose="020B0604020202020204" pitchFamily="34" charset="0"/>
                <a:cs typeface="Arial" panose="020B0604020202020204" pitchFamily="34" charset="0"/>
              </a:rPr>
              <a:t>Tidying up and renaming attributes and methods </a:t>
            </a:r>
            <a:r>
              <a:rPr lang="en-US" altLang="en-US" dirty="0">
                <a:latin typeface="Arial" panose="020B0604020202020204" pitchFamily="34" charset="0"/>
                <a:cs typeface="Arial" panose="020B0604020202020204" pitchFamily="34" charset="0"/>
              </a:rPr>
              <a:t>to make them easier to understand</a:t>
            </a:r>
          </a:p>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The </a:t>
            </a:r>
            <a:r>
              <a:rPr lang="en-US" altLang="en-US" dirty="0">
                <a:solidFill>
                  <a:srgbClr val="0000FF"/>
                </a:solidFill>
                <a:latin typeface="Arial" panose="020B0604020202020204" pitchFamily="34" charset="0"/>
                <a:cs typeface="Arial" panose="020B0604020202020204" pitchFamily="34" charset="0"/>
              </a:rPr>
              <a:t>replacement of inline code </a:t>
            </a:r>
            <a:r>
              <a:rPr lang="en-US" altLang="en-US" dirty="0">
                <a:latin typeface="Arial" panose="020B0604020202020204" pitchFamily="34" charset="0"/>
                <a:cs typeface="Arial" panose="020B0604020202020204" pitchFamily="34" charset="0"/>
              </a:rPr>
              <a:t>with calls to methods that have been included in a program library</a:t>
            </a:r>
          </a:p>
          <a:p>
            <a:endParaRPr lang="en-ZA" dirty="0"/>
          </a:p>
        </p:txBody>
      </p:sp>
      <p:pic>
        <p:nvPicPr>
          <p:cNvPr id="5" name="Picture 4">
            <a:extLst>
              <a:ext uri="{FF2B5EF4-FFF2-40B4-BE49-F238E27FC236}">
                <a16:creationId xmlns:a16="http://schemas.microsoft.com/office/drawing/2014/main" id="{BC86493D-30C7-4D3A-EFD7-922624E74909}"/>
              </a:ext>
            </a:extLst>
          </p:cNvPr>
          <p:cNvPicPr>
            <a:picLocks noChangeAspect="1"/>
          </p:cNvPicPr>
          <p:nvPr/>
        </p:nvPicPr>
        <p:blipFill>
          <a:blip r:embed="rId2"/>
          <a:stretch>
            <a:fillRect/>
          </a:stretch>
        </p:blipFill>
        <p:spPr>
          <a:xfrm>
            <a:off x="979385" y="4212236"/>
            <a:ext cx="3787488" cy="2280639"/>
          </a:xfrm>
          <a:prstGeom prst="rect">
            <a:avLst/>
          </a:prstGeom>
        </p:spPr>
      </p:pic>
      <p:pic>
        <p:nvPicPr>
          <p:cNvPr id="7" name="Picture 6">
            <a:extLst>
              <a:ext uri="{FF2B5EF4-FFF2-40B4-BE49-F238E27FC236}">
                <a16:creationId xmlns:a16="http://schemas.microsoft.com/office/drawing/2014/main" id="{D3513ABF-E75C-AAFD-FC4E-35D37098592B}"/>
              </a:ext>
            </a:extLst>
          </p:cNvPr>
          <p:cNvPicPr>
            <a:picLocks noChangeAspect="1"/>
          </p:cNvPicPr>
          <p:nvPr/>
        </p:nvPicPr>
        <p:blipFill>
          <a:blip r:embed="rId3"/>
          <a:stretch>
            <a:fillRect/>
          </a:stretch>
        </p:blipFill>
        <p:spPr>
          <a:xfrm>
            <a:off x="5058166" y="4295280"/>
            <a:ext cx="3787489" cy="2114550"/>
          </a:xfrm>
          <a:prstGeom prst="rect">
            <a:avLst/>
          </a:prstGeom>
        </p:spPr>
      </p:pic>
    </p:spTree>
    <p:extLst>
      <p:ext uri="{BB962C8B-B14F-4D97-AF65-F5344CB8AC3E}">
        <p14:creationId xmlns:p14="http://schemas.microsoft.com/office/powerpoint/2010/main" val="2744094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0C1DA-188A-9AD9-541E-29889B384D93}"/>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Test-first development</a:t>
            </a:r>
            <a:endParaRPr lang="en-ZA" dirty="0"/>
          </a:p>
        </p:txBody>
      </p:sp>
      <p:sp>
        <p:nvSpPr>
          <p:cNvPr id="3" name="Content Placeholder 2">
            <a:extLst>
              <a:ext uri="{FF2B5EF4-FFF2-40B4-BE49-F238E27FC236}">
                <a16:creationId xmlns:a16="http://schemas.microsoft.com/office/drawing/2014/main" id="{06A736C3-7E82-CE00-E372-B0541849BF09}"/>
              </a:ext>
            </a:extLst>
          </p:cNvPr>
          <p:cNvSpPr>
            <a:spLocks noGrp="1"/>
          </p:cNvSpPr>
          <p:nvPr>
            <p:ph idx="1"/>
          </p:nvPr>
        </p:nvSpPr>
        <p:spPr/>
        <p:txBody>
          <a:bodyPr>
            <a:normAutofit fontScale="85000" lnSpcReduction="10000"/>
          </a:bodyPr>
          <a:lstStyle/>
          <a:p>
            <a:pPr eaLnBrk="1" hangingPunct="1">
              <a:lnSpc>
                <a:spcPct val="90000"/>
              </a:lnSpc>
              <a:buFont typeface="Wingdings" panose="05000000000000000000" pitchFamily="2" charset="2"/>
              <a:buChar char="²"/>
            </a:pPr>
            <a:r>
              <a:rPr lang="en-US" altLang="en-US" dirty="0">
                <a:solidFill>
                  <a:srgbClr val="0000FF"/>
                </a:solidFill>
                <a:latin typeface="Arial" panose="020B0604020202020204" pitchFamily="34" charset="0"/>
                <a:cs typeface="Arial" panose="020B0604020202020204" pitchFamily="34" charset="0"/>
              </a:rPr>
              <a:t>Writing tests before code </a:t>
            </a:r>
            <a:r>
              <a:rPr lang="en-US" altLang="en-US" dirty="0">
                <a:latin typeface="Arial" panose="020B0604020202020204" pitchFamily="34" charset="0"/>
                <a:cs typeface="Arial" panose="020B0604020202020204" pitchFamily="34" charset="0"/>
              </a:rPr>
              <a:t>clarifies the requirements to be implemented</a:t>
            </a:r>
          </a:p>
          <a:p>
            <a:pPr eaLnBrk="1" hangingPunct="1">
              <a:lnSpc>
                <a:spcPct val="90000"/>
              </a:lnSpc>
              <a:buFont typeface="Wingdings" panose="05000000000000000000" pitchFamily="2" charset="2"/>
              <a:buChar char="²"/>
            </a:pPr>
            <a:r>
              <a:rPr lang="en-US" altLang="en-US" dirty="0">
                <a:latin typeface="Arial" panose="020B0604020202020204" pitchFamily="34" charset="0"/>
                <a:cs typeface="Arial" panose="020B0604020202020204" pitchFamily="34" charset="0"/>
              </a:rPr>
              <a:t>Tests are written as programs rather than data so that they can be executed automatically. The test includes a check that it has executed correctly.</a:t>
            </a:r>
          </a:p>
          <a:p>
            <a:pPr lvl="1" eaLnBrk="1" hangingPunct="1">
              <a:lnSpc>
                <a:spcPct val="90000"/>
              </a:lnSpc>
              <a:buFont typeface="Wingdings" panose="05000000000000000000" pitchFamily="2" charset="2"/>
              <a:buChar char="§"/>
            </a:pPr>
            <a:r>
              <a:rPr lang="en-US" altLang="en-US" dirty="0">
                <a:latin typeface="Arial" panose="020B0604020202020204" pitchFamily="34" charset="0"/>
                <a:cs typeface="Arial" panose="020B0604020202020204" pitchFamily="34" charset="0"/>
              </a:rPr>
              <a:t>Usually relies on a testing framework such as Junit</a:t>
            </a:r>
          </a:p>
          <a:p>
            <a:pPr eaLnBrk="1" hangingPunct="1">
              <a:lnSpc>
                <a:spcPct val="90000"/>
              </a:lnSpc>
              <a:buFont typeface="Wingdings" panose="05000000000000000000" pitchFamily="2" charset="2"/>
              <a:buChar char="²"/>
            </a:pPr>
            <a:r>
              <a:rPr lang="en-US" altLang="en-US" dirty="0">
                <a:solidFill>
                  <a:srgbClr val="0000FF"/>
                </a:solidFill>
                <a:latin typeface="Arial" panose="020B0604020202020204" pitchFamily="34" charset="0"/>
                <a:cs typeface="Arial" panose="020B0604020202020204" pitchFamily="34" charset="0"/>
              </a:rPr>
              <a:t>All previous and new tests are run automatically </a:t>
            </a:r>
            <a:r>
              <a:rPr lang="en-US" altLang="en-US" dirty="0">
                <a:latin typeface="Arial" panose="020B0604020202020204" pitchFamily="34" charset="0"/>
                <a:cs typeface="Arial" panose="020B0604020202020204" pitchFamily="34" charset="0"/>
              </a:rPr>
              <a:t>when new functionality is added, thus checking that the new functionality has not introduced errors</a:t>
            </a:r>
          </a:p>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XP testing features:</a:t>
            </a:r>
          </a:p>
          <a:p>
            <a:pPr lvl="1" eaLnBrk="1" hangingPunct="1">
              <a:buFont typeface="Wingdings" panose="05000000000000000000" pitchFamily="2" charset="2"/>
              <a:buChar char="§"/>
            </a:pPr>
            <a:r>
              <a:rPr lang="en-US" altLang="en-US" dirty="0">
                <a:solidFill>
                  <a:srgbClr val="0000FF"/>
                </a:solidFill>
                <a:latin typeface="Arial" panose="020B0604020202020204" pitchFamily="34" charset="0"/>
                <a:cs typeface="Arial" panose="020B0604020202020204" pitchFamily="34" charset="0"/>
              </a:rPr>
              <a:t>Test-first development</a:t>
            </a:r>
          </a:p>
          <a:p>
            <a:pPr lvl="1" eaLnBrk="1" hangingPunct="1">
              <a:buFont typeface="Wingdings" panose="05000000000000000000" pitchFamily="2" charset="2"/>
              <a:buChar char="§"/>
            </a:pPr>
            <a:r>
              <a:rPr lang="en-US" altLang="en-US" dirty="0">
                <a:solidFill>
                  <a:srgbClr val="0000FF"/>
                </a:solidFill>
                <a:latin typeface="Arial" panose="020B0604020202020204" pitchFamily="34" charset="0"/>
                <a:cs typeface="Arial" panose="020B0604020202020204" pitchFamily="34" charset="0"/>
              </a:rPr>
              <a:t>Incremental test development </a:t>
            </a:r>
            <a:r>
              <a:rPr lang="en-US" altLang="en-US" dirty="0">
                <a:latin typeface="Arial" panose="020B0604020202020204" pitchFamily="34" charset="0"/>
                <a:cs typeface="Arial" panose="020B0604020202020204" pitchFamily="34" charset="0"/>
              </a:rPr>
              <a:t>from scenarios</a:t>
            </a:r>
          </a:p>
          <a:p>
            <a:pPr lvl="1" eaLnBrk="1" hangingPunct="1">
              <a:buFont typeface="Wingdings" panose="05000000000000000000" pitchFamily="2" charset="2"/>
              <a:buChar char="§"/>
            </a:pPr>
            <a:r>
              <a:rPr lang="en-US" altLang="en-US" dirty="0">
                <a:solidFill>
                  <a:srgbClr val="0000FF"/>
                </a:solidFill>
                <a:latin typeface="Arial" panose="020B0604020202020204" pitchFamily="34" charset="0"/>
                <a:cs typeface="Arial" panose="020B0604020202020204" pitchFamily="34" charset="0"/>
              </a:rPr>
              <a:t>User involvement </a:t>
            </a:r>
            <a:r>
              <a:rPr lang="en-US" altLang="en-US" dirty="0">
                <a:latin typeface="Arial" panose="020B0604020202020204" pitchFamily="34" charset="0"/>
                <a:cs typeface="Arial" panose="020B0604020202020204" pitchFamily="34" charset="0"/>
              </a:rPr>
              <a:t>in test development and validation</a:t>
            </a:r>
          </a:p>
          <a:p>
            <a:pPr lvl="1" eaLnBrk="1" hangingPunct="1">
              <a:buFont typeface="Wingdings" panose="05000000000000000000" pitchFamily="2" charset="2"/>
              <a:buChar char="§"/>
            </a:pPr>
            <a:r>
              <a:rPr lang="en-US" altLang="en-US" dirty="0">
                <a:solidFill>
                  <a:srgbClr val="0000FF"/>
                </a:solidFill>
                <a:latin typeface="Arial" panose="020B0604020202020204" pitchFamily="34" charset="0"/>
                <a:cs typeface="Arial" panose="020B0604020202020204" pitchFamily="34" charset="0"/>
              </a:rPr>
              <a:t>Automated test harnesses </a:t>
            </a:r>
            <a:r>
              <a:rPr lang="en-US" altLang="en-US" dirty="0">
                <a:latin typeface="Arial" panose="020B0604020202020204" pitchFamily="34" charset="0"/>
                <a:cs typeface="Arial" panose="020B0604020202020204" pitchFamily="34" charset="0"/>
              </a:rPr>
              <a:t>are used to run all component tests each time that a new release is built.</a:t>
            </a:r>
          </a:p>
          <a:p>
            <a:pPr eaLnBrk="1" hangingPunct="1">
              <a:lnSpc>
                <a:spcPct val="90000"/>
              </a:lnSpc>
              <a:buFont typeface="Wingdings" panose="05000000000000000000" pitchFamily="2" charset="2"/>
              <a:buChar char="²"/>
            </a:pPr>
            <a:endParaRPr lang="en-US" altLang="en-US" dirty="0">
              <a:latin typeface="Arial" panose="020B0604020202020204" pitchFamily="34" charset="0"/>
              <a:cs typeface="Arial" panose="020B0604020202020204" pitchFamily="34" charset="0"/>
            </a:endParaRPr>
          </a:p>
          <a:p>
            <a:endParaRPr lang="en-ZA" dirty="0"/>
          </a:p>
        </p:txBody>
      </p:sp>
    </p:spTree>
    <p:extLst>
      <p:ext uri="{BB962C8B-B14F-4D97-AF65-F5344CB8AC3E}">
        <p14:creationId xmlns:p14="http://schemas.microsoft.com/office/powerpoint/2010/main" val="2258679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F8AC2-7C33-8468-69E4-F7B99802F62C}"/>
              </a:ext>
            </a:extLst>
          </p:cNvPr>
          <p:cNvSpPr>
            <a:spLocks noGrp="1"/>
          </p:cNvSpPr>
          <p:nvPr>
            <p:ph type="title"/>
          </p:nvPr>
        </p:nvSpPr>
        <p:spPr/>
        <p:txBody>
          <a:bodyPr/>
          <a:lstStyle/>
          <a:p>
            <a:r>
              <a:rPr lang="en-US" altLang="en-US" dirty="0">
                <a:solidFill>
                  <a:schemeClr val="bg2">
                    <a:lumMod val="10000"/>
                  </a:schemeClr>
                </a:solidFill>
                <a:latin typeface="Arial" panose="020B0604020202020204" pitchFamily="34" charset="0"/>
                <a:cs typeface="Arial" panose="020B0604020202020204" pitchFamily="34" charset="0"/>
              </a:rPr>
              <a:t>Pair programming</a:t>
            </a:r>
            <a:endParaRPr lang="en-ZA" dirty="0">
              <a:solidFill>
                <a:schemeClr val="bg2">
                  <a:lumMod val="10000"/>
                </a:schemeClr>
              </a:solidFill>
            </a:endParaRPr>
          </a:p>
        </p:txBody>
      </p:sp>
      <p:sp>
        <p:nvSpPr>
          <p:cNvPr id="3" name="Content Placeholder 2">
            <a:extLst>
              <a:ext uri="{FF2B5EF4-FFF2-40B4-BE49-F238E27FC236}">
                <a16:creationId xmlns:a16="http://schemas.microsoft.com/office/drawing/2014/main" id="{D9A21497-758C-4044-B925-7D4ED8EFE640}"/>
              </a:ext>
            </a:extLst>
          </p:cNvPr>
          <p:cNvSpPr>
            <a:spLocks noGrp="1"/>
          </p:cNvSpPr>
          <p:nvPr>
            <p:ph idx="1"/>
          </p:nvPr>
        </p:nvSpPr>
        <p:spPr/>
        <p:txBody>
          <a:bodyPr>
            <a:normAutofit fontScale="92500"/>
          </a:bodyPr>
          <a:lstStyle/>
          <a:p>
            <a:pPr eaLnBrk="1" hangingPunct="1">
              <a:lnSpc>
                <a:spcPct val="90000"/>
              </a:lnSpc>
              <a:buFont typeface="Wingdings" panose="05000000000000000000" pitchFamily="2" charset="2"/>
              <a:buChar char="²"/>
            </a:pPr>
            <a:r>
              <a:rPr lang="en-US" altLang="en-US" dirty="0">
                <a:latin typeface="Arial" panose="020B0604020202020204" pitchFamily="34" charset="0"/>
                <a:cs typeface="Arial" panose="020B0604020202020204" pitchFamily="34" charset="0"/>
              </a:rPr>
              <a:t>In XP, </a:t>
            </a:r>
            <a:r>
              <a:rPr lang="en-US" altLang="en-US" dirty="0">
                <a:solidFill>
                  <a:srgbClr val="0000FF"/>
                </a:solidFill>
                <a:latin typeface="Arial" panose="020B0604020202020204" pitchFamily="34" charset="0"/>
                <a:cs typeface="Arial" panose="020B0604020202020204" pitchFamily="34" charset="0"/>
              </a:rPr>
              <a:t>programmers work in pairs</a:t>
            </a:r>
            <a:r>
              <a:rPr lang="en-US" altLang="en-US" dirty="0">
                <a:latin typeface="Arial" panose="020B0604020202020204" pitchFamily="34" charset="0"/>
                <a:cs typeface="Arial" panose="020B0604020202020204" pitchFamily="34" charset="0"/>
              </a:rPr>
              <a:t>, sitting together to develop code.</a:t>
            </a:r>
          </a:p>
          <a:p>
            <a:pPr eaLnBrk="1" hangingPunct="1">
              <a:lnSpc>
                <a:spcPct val="90000"/>
              </a:lnSpc>
              <a:buFont typeface="Wingdings" panose="05000000000000000000" pitchFamily="2" charset="2"/>
              <a:buChar char="²"/>
            </a:pPr>
            <a:r>
              <a:rPr lang="en-US" altLang="en-US" dirty="0">
                <a:latin typeface="Arial" panose="020B0604020202020204" pitchFamily="34" charset="0"/>
                <a:cs typeface="Arial" panose="020B0604020202020204" pitchFamily="34" charset="0"/>
              </a:rPr>
              <a:t>This helps develop common </a:t>
            </a:r>
            <a:r>
              <a:rPr lang="en-US" altLang="en-US" dirty="0">
                <a:solidFill>
                  <a:srgbClr val="0000FF"/>
                </a:solidFill>
                <a:latin typeface="Arial" panose="020B0604020202020204" pitchFamily="34" charset="0"/>
                <a:cs typeface="Arial" panose="020B0604020202020204" pitchFamily="34" charset="0"/>
              </a:rPr>
              <a:t>ownership of code </a:t>
            </a:r>
            <a:r>
              <a:rPr lang="en-US" altLang="en-US" dirty="0">
                <a:latin typeface="Arial" panose="020B0604020202020204" pitchFamily="34" charset="0"/>
                <a:cs typeface="Arial" panose="020B0604020202020204" pitchFamily="34" charset="0"/>
              </a:rPr>
              <a:t>and spreads knowledge across the team.</a:t>
            </a:r>
          </a:p>
          <a:p>
            <a:pPr eaLnBrk="1" hangingPunct="1">
              <a:lnSpc>
                <a:spcPct val="90000"/>
              </a:lnSpc>
              <a:buFont typeface="Wingdings" panose="05000000000000000000" pitchFamily="2" charset="2"/>
              <a:buChar char="²"/>
            </a:pPr>
            <a:r>
              <a:rPr lang="en-US" altLang="en-US" dirty="0">
                <a:latin typeface="Arial" panose="020B0604020202020204" pitchFamily="34" charset="0"/>
                <a:cs typeface="Arial" panose="020B0604020202020204" pitchFamily="34" charset="0"/>
              </a:rPr>
              <a:t>It serves as an </a:t>
            </a:r>
            <a:r>
              <a:rPr lang="en-US" altLang="en-US" dirty="0">
                <a:solidFill>
                  <a:srgbClr val="0000FF"/>
                </a:solidFill>
                <a:latin typeface="Arial" panose="020B0604020202020204" pitchFamily="34" charset="0"/>
                <a:cs typeface="Arial" panose="020B0604020202020204" pitchFamily="34" charset="0"/>
              </a:rPr>
              <a:t>informal review process </a:t>
            </a:r>
            <a:r>
              <a:rPr lang="en-US" altLang="en-US" dirty="0">
                <a:latin typeface="Arial" panose="020B0604020202020204" pitchFamily="34" charset="0"/>
                <a:cs typeface="Arial" panose="020B0604020202020204" pitchFamily="34" charset="0"/>
              </a:rPr>
              <a:t>as each line of code is looked at by more than one person.</a:t>
            </a:r>
          </a:p>
          <a:p>
            <a:pPr eaLnBrk="1" hangingPunct="1">
              <a:lnSpc>
                <a:spcPct val="90000"/>
              </a:lnSpc>
              <a:buFont typeface="Wingdings" panose="05000000000000000000" pitchFamily="2" charset="2"/>
              <a:buChar char="²"/>
            </a:pPr>
            <a:r>
              <a:rPr lang="en-US" altLang="en-US" dirty="0">
                <a:latin typeface="Arial" panose="020B0604020202020204" pitchFamily="34" charset="0"/>
                <a:cs typeface="Arial" panose="020B0604020202020204" pitchFamily="34" charset="0"/>
              </a:rPr>
              <a:t>It encourages </a:t>
            </a:r>
            <a:r>
              <a:rPr lang="en-US" altLang="en-US" dirty="0">
                <a:solidFill>
                  <a:srgbClr val="0000FF"/>
                </a:solidFill>
                <a:latin typeface="Arial" panose="020B0604020202020204" pitchFamily="34" charset="0"/>
                <a:cs typeface="Arial" panose="020B0604020202020204" pitchFamily="34" charset="0"/>
              </a:rPr>
              <a:t>refactoring</a:t>
            </a:r>
            <a:r>
              <a:rPr lang="en-US" altLang="en-US" dirty="0">
                <a:latin typeface="Arial" panose="020B0604020202020204" pitchFamily="34" charset="0"/>
                <a:cs typeface="Arial" panose="020B0604020202020204" pitchFamily="34" charset="0"/>
              </a:rPr>
              <a:t> as the whole team can benefit from this.</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In pair programming, programmers sit together at the same computer to develop the software. </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Pairs are created dynamically so that all team members work with each other during the development process.</a:t>
            </a:r>
            <a:endParaRPr lang="en-US" altLang="en-US" dirty="0">
              <a:latin typeface="Arial" panose="020B0604020202020204" pitchFamily="34" charset="0"/>
              <a:cs typeface="Arial" panose="020B0604020202020204" pitchFamily="34" charset="0"/>
            </a:endParaRPr>
          </a:p>
          <a:p>
            <a:endParaRPr lang="en-ZA" dirty="0"/>
          </a:p>
        </p:txBody>
      </p:sp>
    </p:spTree>
    <p:extLst>
      <p:ext uri="{BB962C8B-B14F-4D97-AF65-F5344CB8AC3E}">
        <p14:creationId xmlns:p14="http://schemas.microsoft.com/office/powerpoint/2010/main" val="883999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8A86-05FD-3F95-7DDD-C2B7DEED32A7}"/>
              </a:ext>
            </a:extLst>
          </p:cNvPr>
          <p:cNvSpPr>
            <a:spLocks noGrp="1"/>
          </p:cNvSpPr>
          <p:nvPr>
            <p:ph type="title"/>
          </p:nvPr>
        </p:nvSpPr>
        <p:spPr/>
        <p:txBody>
          <a:bodyPr/>
          <a:lstStyle/>
          <a:p>
            <a:r>
              <a:rPr lang="en-US" dirty="0"/>
              <a:t>Scrum </a:t>
            </a:r>
            <a:endParaRPr lang="en-ZA" dirty="0"/>
          </a:p>
        </p:txBody>
      </p:sp>
      <p:sp>
        <p:nvSpPr>
          <p:cNvPr id="3" name="Content Placeholder 2">
            <a:extLst>
              <a:ext uri="{FF2B5EF4-FFF2-40B4-BE49-F238E27FC236}">
                <a16:creationId xmlns:a16="http://schemas.microsoft.com/office/drawing/2014/main" id="{49D1E89F-D7E8-8472-FE64-893A157841F4}"/>
              </a:ext>
            </a:extLst>
          </p:cNvPr>
          <p:cNvSpPr>
            <a:spLocks noGrp="1"/>
          </p:cNvSpPr>
          <p:nvPr>
            <p:ph idx="1"/>
          </p:nvPr>
        </p:nvSpPr>
        <p:spPr/>
        <p:txBody>
          <a:bodyPr/>
          <a:lstStyle/>
          <a:p>
            <a:pPr eaLnBrk="1" hangingPunct="1">
              <a:defRPr/>
            </a:pPr>
            <a:r>
              <a:rPr lang="en-GB" dirty="0">
                <a:latin typeface="Arial" charset="0"/>
                <a:ea typeface="ＭＳ Ｐゴシック" charset="-128"/>
                <a:cs typeface="Arial" charset="0"/>
              </a:rPr>
              <a:t>The</a:t>
            </a:r>
            <a:r>
              <a:rPr lang="en-GB" dirty="0">
                <a:solidFill>
                  <a:srgbClr val="0000FF"/>
                </a:solidFill>
                <a:latin typeface="Arial" charset="0"/>
                <a:ea typeface="ＭＳ Ｐゴシック" charset="-128"/>
                <a:cs typeface="Arial" charset="0"/>
              </a:rPr>
              <a:t> Scrum </a:t>
            </a:r>
            <a:r>
              <a:rPr lang="en-GB" dirty="0">
                <a:latin typeface="Arial" charset="0"/>
                <a:ea typeface="ＭＳ Ｐゴシック" charset="-128"/>
                <a:cs typeface="Arial" charset="0"/>
              </a:rPr>
              <a:t>approach is a general agile method, but its </a:t>
            </a:r>
            <a:r>
              <a:rPr lang="en-GB" dirty="0">
                <a:solidFill>
                  <a:srgbClr val="0000FF"/>
                </a:solidFill>
                <a:latin typeface="Arial" charset="0"/>
                <a:ea typeface="ＭＳ Ｐゴシック" charset="-128"/>
                <a:cs typeface="Arial" charset="0"/>
              </a:rPr>
              <a:t>focus is on managing iterative development </a:t>
            </a:r>
            <a:r>
              <a:rPr lang="en-GB" dirty="0">
                <a:latin typeface="Arial" charset="0"/>
                <a:ea typeface="ＭＳ Ｐゴシック" charset="-128"/>
                <a:cs typeface="Arial" charset="0"/>
              </a:rPr>
              <a:t>rather than specific agile practices</a:t>
            </a:r>
          </a:p>
          <a:p>
            <a:pPr eaLnBrk="1" hangingPunct="1">
              <a:defRPr/>
            </a:pPr>
            <a:r>
              <a:rPr lang="en-GB" dirty="0">
                <a:latin typeface="Arial" charset="0"/>
                <a:ea typeface="ＭＳ Ｐゴシック" charset="-128"/>
                <a:cs typeface="Arial" charset="0"/>
              </a:rPr>
              <a:t>There are </a:t>
            </a:r>
            <a:r>
              <a:rPr lang="en-GB" dirty="0">
                <a:solidFill>
                  <a:srgbClr val="0000FF"/>
                </a:solidFill>
                <a:latin typeface="Arial" charset="0"/>
                <a:ea typeface="ＭＳ Ｐゴシック" charset="-128"/>
                <a:cs typeface="Arial" charset="0"/>
              </a:rPr>
              <a:t>three phases </a:t>
            </a:r>
            <a:r>
              <a:rPr lang="en-GB" dirty="0">
                <a:latin typeface="Arial" charset="0"/>
                <a:ea typeface="ＭＳ Ｐゴシック" charset="-128"/>
                <a:cs typeface="Arial" charset="0"/>
              </a:rPr>
              <a:t>in Scrum:</a:t>
            </a:r>
          </a:p>
          <a:p>
            <a:pPr lvl="1" eaLnBrk="1" hangingPunct="1">
              <a:defRPr/>
            </a:pPr>
            <a:r>
              <a:rPr lang="en-GB" dirty="0">
                <a:latin typeface="Arial" charset="0"/>
                <a:ea typeface="ＭＳ Ｐゴシック" charset="-128"/>
                <a:cs typeface="Arial" charset="0"/>
              </a:rPr>
              <a:t>The initial phase is an </a:t>
            </a:r>
            <a:r>
              <a:rPr lang="en-GB" dirty="0">
                <a:solidFill>
                  <a:srgbClr val="0000FF"/>
                </a:solidFill>
                <a:latin typeface="Arial" charset="0"/>
                <a:ea typeface="ＭＳ Ｐゴシック" charset="-128"/>
                <a:cs typeface="Arial" charset="0"/>
              </a:rPr>
              <a:t>outline planning </a:t>
            </a:r>
            <a:r>
              <a:rPr lang="en-GB" dirty="0">
                <a:latin typeface="Arial" charset="0"/>
                <a:ea typeface="ＭＳ Ｐゴシック" charset="-128"/>
                <a:cs typeface="Arial" charset="0"/>
              </a:rPr>
              <a:t>phase where you establish the general objectives for the project and design the software architecture</a:t>
            </a:r>
          </a:p>
          <a:p>
            <a:pPr lvl="1" eaLnBrk="1" hangingPunct="1">
              <a:defRPr/>
            </a:pPr>
            <a:r>
              <a:rPr lang="en-GB" dirty="0">
                <a:latin typeface="Arial" charset="0"/>
                <a:ea typeface="ＭＳ Ｐゴシック" charset="-128"/>
                <a:cs typeface="Arial" charset="0"/>
              </a:rPr>
              <a:t>This is followed by a </a:t>
            </a:r>
            <a:r>
              <a:rPr lang="en-GB" dirty="0">
                <a:solidFill>
                  <a:srgbClr val="0000FF"/>
                </a:solidFill>
                <a:latin typeface="Arial" charset="0"/>
                <a:ea typeface="ＭＳ Ｐゴシック" charset="-128"/>
                <a:cs typeface="Arial" charset="0"/>
              </a:rPr>
              <a:t>series of sprint cycles</a:t>
            </a:r>
            <a:r>
              <a:rPr lang="en-GB" dirty="0">
                <a:latin typeface="Arial" charset="0"/>
                <a:ea typeface="ＭＳ Ｐゴシック" charset="-128"/>
                <a:cs typeface="Arial" charset="0"/>
              </a:rPr>
              <a:t>, where each cycle develops an increment of the system </a:t>
            </a:r>
          </a:p>
          <a:p>
            <a:pPr lvl="1" eaLnBrk="1" hangingPunct="1">
              <a:defRPr/>
            </a:pPr>
            <a:r>
              <a:rPr lang="en-GB" dirty="0">
                <a:latin typeface="Arial" charset="0"/>
                <a:ea typeface="ＭＳ Ｐゴシック" charset="-128"/>
                <a:cs typeface="Arial" charset="0"/>
              </a:rPr>
              <a:t>The project </a:t>
            </a:r>
            <a:r>
              <a:rPr lang="en-GB" dirty="0">
                <a:solidFill>
                  <a:srgbClr val="0000FF"/>
                </a:solidFill>
                <a:latin typeface="Arial" charset="0"/>
                <a:ea typeface="ＭＳ Ｐゴシック" charset="-128"/>
                <a:cs typeface="Arial" charset="0"/>
              </a:rPr>
              <a:t>closure phase </a:t>
            </a:r>
            <a:r>
              <a:rPr lang="en-GB" dirty="0">
                <a:latin typeface="Arial" charset="0"/>
                <a:ea typeface="ＭＳ Ｐゴシック" charset="-128"/>
                <a:cs typeface="Arial" charset="0"/>
              </a:rPr>
              <a:t>wraps up the project, completes required documentation such as system help frames and user manuals and assesses the lessons learned from the project</a:t>
            </a:r>
          </a:p>
          <a:p>
            <a:endParaRPr lang="en-ZA" dirty="0"/>
          </a:p>
        </p:txBody>
      </p:sp>
    </p:spTree>
    <p:extLst>
      <p:ext uri="{BB962C8B-B14F-4D97-AF65-F5344CB8AC3E}">
        <p14:creationId xmlns:p14="http://schemas.microsoft.com/office/powerpoint/2010/main" val="1350455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C22B-E386-B653-06F0-9F21462CA7CD}"/>
              </a:ext>
            </a:extLst>
          </p:cNvPr>
          <p:cNvSpPr>
            <a:spLocks noGrp="1"/>
          </p:cNvSpPr>
          <p:nvPr>
            <p:ph type="title"/>
          </p:nvPr>
        </p:nvSpPr>
        <p:spPr/>
        <p:txBody>
          <a:bodyPr/>
          <a:lstStyle/>
          <a:p>
            <a:r>
              <a:rPr lang="en-US" dirty="0"/>
              <a:t>Roles in Scrum</a:t>
            </a:r>
            <a:endParaRPr lang="en-ZA" dirty="0"/>
          </a:p>
        </p:txBody>
      </p:sp>
      <p:sp>
        <p:nvSpPr>
          <p:cNvPr id="3" name="Content Placeholder 2">
            <a:extLst>
              <a:ext uri="{FF2B5EF4-FFF2-40B4-BE49-F238E27FC236}">
                <a16:creationId xmlns:a16="http://schemas.microsoft.com/office/drawing/2014/main" id="{DF8732A1-24B1-D9E2-4C60-08786E491DBD}"/>
              </a:ext>
            </a:extLst>
          </p:cNvPr>
          <p:cNvSpPr>
            <a:spLocks noGrp="1"/>
          </p:cNvSpPr>
          <p:nvPr>
            <p:ph idx="1"/>
          </p:nvPr>
        </p:nvSpPr>
        <p:spPr/>
        <p:txBody>
          <a:bodyPr>
            <a:normAutofit fontScale="62500" lnSpcReduction="20000"/>
          </a:bodyPr>
          <a:lstStyle/>
          <a:p>
            <a:pPr marL="0" marR="0" lvl="0" indent="0" algn="l" defTabSz="914400" rtl="0" eaLnBrk="1" fontAlgn="base" latinLnBrk="0" hangingPunct="1">
              <a:lnSpc>
                <a:spcPct val="17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ea typeface="+mn-ea"/>
                <a:cs typeface="+mn-cs"/>
              </a:rPr>
              <a:t>There are three different roles needed in doing the scrum method, namely:</a:t>
            </a:r>
          </a:p>
          <a:p>
            <a:pPr marL="457200" marR="0" lvl="0" indent="-457200" algn="l" defTabSz="914400" rtl="0" eaLnBrk="1" fontAlgn="base" latinLnBrk="0" hangingPunct="1">
              <a:lnSpc>
                <a:spcPct val="170000"/>
              </a:lnSpc>
              <a:spcBef>
                <a:spcPts val="0"/>
              </a:spcBef>
              <a:spcAft>
                <a:spcPts val="0"/>
              </a:spcAft>
              <a:buClrTx/>
              <a:buSzTx/>
              <a:buFont typeface="Wingdings" panose="05000000000000000000" pitchFamily="2" charset="2"/>
              <a:buChar char="Ø"/>
              <a:tabLst/>
              <a:defRPr/>
            </a:pPr>
            <a:r>
              <a:rPr kumimoji="0" lang="en-US" sz="2800" b="1" i="0" u="none" strike="noStrike" kern="1200" cap="none" spc="0" normalizeH="0" baseline="0" noProof="0" dirty="0">
                <a:ln>
                  <a:noFill/>
                </a:ln>
                <a:effectLst/>
                <a:uLnTx/>
                <a:uFillTx/>
                <a:ea typeface="+mn-ea"/>
                <a:cs typeface="+mn-cs"/>
              </a:rPr>
              <a:t>Scrum Master </a:t>
            </a:r>
            <a:r>
              <a:rPr kumimoji="0" lang="en-US" sz="2800" b="0" i="0" u="none" strike="noStrike" kern="1200" cap="none" spc="0" normalizeH="0" baseline="0" noProof="0" dirty="0">
                <a:ln>
                  <a:noFill/>
                </a:ln>
                <a:effectLst/>
                <a:uLnTx/>
                <a:uFillTx/>
                <a:ea typeface="+mn-ea"/>
                <a:cs typeface="+mn-cs"/>
              </a:rPr>
              <a:t>: S</a:t>
            </a:r>
            <a:r>
              <a:rPr lang="en-US" dirty="0" err="1"/>
              <a:t>crum</a:t>
            </a:r>
            <a:r>
              <a:rPr lang="en-US" dirty="0"/>
              <a:t> master is like a team coach who helps everyone follow the Scrum process smoothly. They </a:t>
            </a:r>
            <a:r>
              <a:rPr lang="en-US" b="1" dirty="0"/>
              <a:t>don’t manage the team</a:t>
            </a:r>
            <a:r>
              <a:rPr lang="en-US" dirty="0"/>
              <a:t> but make sure work happens without problems.</a:t>
            </a:r>
            <a:endParaRPr kumimoji="0" lang="en-US" sz="2800" i="0" u="none" strike="noStrike" kern="1200" cap="none" spc="0" normalizeH="0" baseline="0" noProof="0" dirty="0">
              <a:ln>
                <a:noFill/>
              </a:ln>
              <a:effectLst/>
              <a:uLnTx/>
              <a:uFillTx/>
              <a:ea typeface="+mn-ea"/>
              <a:cs typeface="+mn-cs"/>
            </a:endParaRPr>
          </a:p>
          <a:p>
            <a:pPr marL="457200" marR="0" lvl="0" indent="-457200" algn="l" defTabSz="914400" rtl="0" eaLnBrk="1" fontAlgn="base" latinLnBrk="0" hangingPunct="1">
              <a:lnSpc>
                <a:spcPct val="170000"/>
              </a:lnSpc>
              <a:spcBef>
                <a:spcPts val="0"/>
              </a:spcBef>
              <a:spcAft>
                <a:spcPts val="0"/>
              </a:spcAft>
              <a:buClrTx/>
              <a:buSzTx/>
              <a:buFont typeface="Wingdings" panose="05000000000000000000" pitchFamily="2" charset="2"/>
              <a:buChar char="Ø"/>
              <a:tabLst/>
              <a:defRPr/>
            </a:pPr>
            <a:r>
              <a:rPr kumimoji="0" lang="en-US" sz="2800" b="1" i="0" u="none" strike="noStrike" kern="1200" cap="none" spc="0" normalizeH="0" baseline="0" noProof="0" dirty="0">
                <a:ln>
                  <a:noFill/>
                </a:ln>
                <a:effectLst/>
                <a:uLnTx/>
                <a:uFillTx/>
                <a:ea typeface="+mn-ea"/>
                <a:cs typeface="+mn-cs"/>
              </a:rPr>
              <a:t>Product Owner</a:t>
            </a:r>
            <a:r>
              <a:rPr kumimoji="0" lang="en-US" sz="2800" b="0" i="0" u="none" strike="noStrike" kern="1200" cap="none" spc="0" normalizeH="0" baseline="0" noProof="0" dirty="0">
                <a:ln>
                  <a:noFill/>
                </a:ln>
                <a:effectLst/>
                <a:uLnTx/>
                <a:uFillTx/>
                <a:ea typeface="+mn-ea"/>
                <a:cs typeface="+mn-cs"/>
              </a:rPr>
              <a:t>: </a:t>
            </a:r>
            <a:r>
              <a:rPr lang="en-US" dirty="0"/>
              <a:t>Product Owner is the decision-maker in a Scrum team. They make sure the team is building the right product by setting priorities and defining features.</a:t>
            </a:r>
            <a:r>
              <a:rPr kumimoji="0" lang="en-US" sz="2800" i="0" u="none" strike="noStrike" kern="1200" cap="none" spc="0" normalizeH="0" baseline="0" noProof="0" dirty="0">
                <a:ln>
                  <a:noFill/>
                </a:ln>
                <a:effectLst/>
                <a:uLnTx/>
                <a:uFillTx/>
                <a:ea typeface="+mn-ea"/>
                <a:cs typeface="+mn-cs"/>
              </a:rPr>
              <a:t>The product owner can be a customer but might also be a product manager in a software company or other stakeholder representative. </a:t>
            </a:r>
          </a:p>
          <a:p>
            <a:pPr marL="457200" marR="0" lvl="0" indent="-457200" algn="l" defTabSz="914400" rtl="0" eaLnBrk="1" fontAlgn="base" latinLnBrk="0" hangingPunct="1">
              <a:lnSpc>
                <a:spcPct val="170000"/>
              </a:lnSpc>
              <a:spcBef>
                <a:spcPts val="0"/>
              </a:spcBef>
              <a:spcAft>
                <a:spcPts val="0"/>
              </a:spcAft>
              <a:buClrTx/>
              <a:buSzTx/>
              <a:buFont typeface="Wingdings" panose="05000000000000000000" pitchFamily="2" charset="2"/>
              <a:buChar char="Ø"/>
              <a:tabLst/>
              <a:defRPr/>
            </a:pPr>
            <a:r>
              <a:rPr kumimoji="0" lang="en-US" sz="2800" b="1" i="0" u="none" strike="noStrike" kern="1200" cap="none" spc="0" normalizeH="0" baseline="0" noProof="0" dirty="0">
                <a:ln>
                  <a:noFill/>
                </a:ln>
                <a:effectLst/>
                <a:uLnTx/>
                <a:uFillTx/>
                <a:ea typeface="+mn-ea"/>
                <a:cs typeface="+mn-cs"/>
              </a:rPr>
              <a:t>Scrum Team</a:t>
            </a:r>
            <a:r>
              <a:rPr kumimoji="0" lang="en-US" sz="2800" b="0" i="0" u="none" strike="noStrike" kern="1200" cap="none" spc="0" normalizeH="0" baseline="0" noProof="0" dirty="0">
                <a:ln>
                  <a:noFill/>
                </a:ln>
                <a:effectLst/>
                <a:uLnTx/>
                <a:uFillTx/>
                <a:ea typeface="+mn-ea"/>
                <a:cs typeface="+mn-cs"/>
              </a:rPr>
              <a:t>: </a:t>
            </a:r>
            <a:r>
              <a:rPr lang="en-US" dirty="0"/>
              <a:t> Scrum team is a small, self-organizing group of people who work together to complete a project using the Scrum framework. It includes a mix of roles, with everyone working collaboratively to deliver value in short cycles (sprints).</a:t>
            </a:r>
            <a:endParaRPr kumimoji="0" lang="en-US" sz="2800" b="0" i="0" u="none" strike="noStrike" kern="1200" cap="none" spc="0" normalizeH="0" baseline="0" noProof="0" dirty="0">
              <a:ln>
                <a:noFill/>
              </a:ln>
              <a:effectLst/>
              <a:uLnTx/>
              <a:uFillTx/>
              <a:ea typeface="+mn-ea"/>
              <a:cs typeface="+mn-cs"/>
            </a:endParaRPr>
          </a:p>
          <a:p>
            <a:endParaRPr lang="en-ZA" dirty="0"/>
          </a:p>
        </p:txBody>
      </p:sp>
    </p:spTree>
    <p:extLst>
      <p:ext uri="{BB962C8B-B14F-4D97-AF65-F5344CB8AC3E}">
        <p14:creationId xmlns:p14="http://schemas.microsoft.com/office/powerpoint/2010/main" val="2369472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C598-DFFC-2E0B-C94D-E67D913792DB}"/>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The scrum sprint cycle</a:t>
            </a:r>
            <a:endParaRPr lang="en-ZA" dirty="0"/>
          </a:p>
        </p:txBody>
      </p:sp>
      <p:sp>
        <p:nvSpPr>
          <p:cNvPr id="3" name="Content Placeholder 2">
            <a:extLst>
              <a:ext uri="{FF2B5EF4-FFF2-40B4-BE49-F238E27FC236}">
                <a16:creationId xmlns:a16="http://schemas.microsoft.com/office/drawing/2014/main" id="{D7D88B61-BFA0-A90F-DE49-911DDDF14FEB}"/>
              </a:ext>
            </a:extLst>
          </p:cNvPr>
          <p:cNvSpPr>
            <a:spLocks noGrp="1"/>
          </p:cNvSpPr>
          <p:nvPr>
            <p:ph idx="1"/>
          </p:nvPr>
        </p:nvSpPr>
        <p:spPr/>
        <p:txBody>
          <a:bodyPr/>
          <a:lstStyle/>
          <a:p>
            <a:pPr eaLnBrk="1" hangingPunct="1">
              <a:buFont typeface="Wingdings" panose="05000000000000000000" pitchFamily="2" charset="2"/>
              <a:buChar char="²"/>
            </a:pPr>
            <a:r>
              <a:rPr lang="en-GB" altLang="en-US" dirty="0">
                <a:solidFill>
                  <a:srgbClr val="0000FF"/>
                </a:solidFill>
                <a:latin typeface="Arial" panose="020B0604020202020204" pitchFamily="34" charset="0"/>
                <a:cs typeface="Arial" panose="020B0604020202020204" pitchFamily="34" charset="0"/>
              </a:rPr>
              <a:t>Sprints</a:t>
            </a:r>
            <a:r>
              <a:rPr lang="en-GB" altLang="en-US" dirty="0">
                <a:latin typeface="Arial" panose="020B0604020202020204" pitchFamily="34" charset="0"/>
                <a:cs typeface="Arial" panose="020B0604020202020204" pitchFamily="34" charset="0"/>
              </a:rPr>
              <a:t> are fixed length, normally 2–4 weeks.</a:t>
            </a:r>
          </a:p>
          <a:p>
            <a:pPr eaLnBrk="1" hangingPunct="1">
              <a:buFont typeface="Wingdings" panose="05000000000000000000" pitchFamily="2" charset="2"/>
              <a:buChar char="²"/>
            </a:pPr>
            <a:r>
              <a:rPr lang="en-GB" altLang="en-US" dirty="0">
                <a:latin typeface="Arial" panose="020B0604020202020204" pitchFamily="34" charset="0"/>
                <a:cs typeface="Arial" panose="020B0604020202020204" pitchFamily="34" charset="0"/>
              </a:rPr>
              <a:t>The starting point for planning is the </a:t>
            </a:r>
            <a:r>
              <a:rPr lang="en-GB" altLang="en-US" dirty="0">
                <a:solidFill>
                  <a:srgbClr val="0000FF"/>
                </a:solidFill>
                <a:latin typeface="Arial" panose="020B0604020202020204" pitchFamily="34" charset="0"/>
                <a:cs typeface="Arial" panose="020B0604020202020204" pitchFamily="34" charset="0"/>
              </a:rPr>
              <a:t>product backlog</a:t>
            </a:r>
            <a:r>
              <a:rPr lang="en-GB" altLang="en-US" dirty="0">
                <a:latin typeface="Arial" panose="020B0604020202020204" pitchFamily="34" charset="0"/>
                <a:cs typeface="Arial" panose="020B0604020202020204" pitchFamily="34" charset="0"/>
              </a:rPr>
              <a:t>, which is the list of work to be done on the project</a:t>
            </a:r>
          </a:p>
          <a:p>
            <a:pPr eaLnBrk="1" hangingPunct="1">
              <a:buFont typeface="Wingdings" panose="05000000000000000000" pitchFamily="2" charset="2"/>
              <a:buChar char="²"/>
            </a:pPr>
            <a:r>
              <a:rPr lang="en-GB" altLang="en-US" dirty="0">
                <a:latin typeface="Arial" panose="020B0604020202020204" pitchFamily="34" charset="0"/>
                <a:cs typeface="Arial" panose="020B0604020202020204" pitchFamily="34" charset="0"/>
              </a:rPr>
              <a:t>The </a:t>
            </a:r>
            <a:r>
              <a:rPr lang="en-GB" altLang="en-US" dirty="0">
                <a:solidFill>
                  <a:srgbClr val="0000FF"/>
                </a:solidFill>
                <a:latin typeface="Arial" panose="020B0604020202020204" pitchFamily="34" charset="0"/>
                <a:cs typeface="Arial" panose="020B0604020202020204" pitchFamily="34" charset="0"/>
              </a:rPr>
              <a:t>selection phase </a:t>
            </a:r>
            <a:r>
              <a:rPr lang="en-GB" altLang="en-US" dirty="0">
                <a:latin typeface="Arial" panose="020B0604020202020204" pitchFamily="34" charset="0"/>
                <a:cs typeface="Arial" panose="020B0604020202020204" pitchFamily="34" charset="0"/>
              </a:rPr>
              <a:t>involves all of the project team who work with the customer to select the features and functionality to be developed during the sprint</a:t>
            </a:r>
          </a:p>
          <a:p>
            <a:endParaRPr lang="en-ZA" dirty="0"/>
          </a:p>
        </p:txBody>
      </p:sp>
    </p:spTree>
    <p:extLst>
      <p:ext uri="{BB962C8B-B14F-4D97-AF65-F5344CB8AC3E}">
        <p14:creationId xmlns:p14="http://schemas.microsoft.com/office/powerpoint/2010/main" val="5974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682A2-5CCD-C4B3-1D99-9FD8A605C587}"/>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Teamwork in Scrum</a:t>
            </a:r>
            <a:endParaRPr lang="en-ZA" dirty="0"/>
          </a:p>
        </p:txBody>
      </p:sp>
      <p:sp>
        <p:nvSpPr>
          <p:cNvPr id="3" name="Content Placeholder 2">
            <a:extLst>
              <a:ext uri="{FF2B5EF4-FFF2-40B4-BE49-F238E27FC236}">
                <a16:creationId xmlns:a16="http://schemas.microsoft.com/office/drawing/2014/main" id="{CE04EF42-3D58-0AE6-9897-F81770E4BE6D}"/>
              </a:ext>
            </a:extLst>
          </p:cNvPr>
          <p:cNvSpPr>
            <a:spLocks noGrp="1"/>
          </p:cNvSpPr>
          <p:nvPr>
            <p:ph idx="1"/>
          </p:nvPr>
        </p:nvSpPr>
        <p:spPr/>
        <p:txBody>
          <a:bodyPr>
            <a:normAutofit lnSpcReduction="10000"/>
          </a:bodyPr>
          <a:lstStyle/>
          <a:p>
            <a:pPr eaLnBrk="1" hangingPunct="1">
              <a:buFont typeface="Wingdings" panose="05000000000000000000" pitchFamily="2" charset="2"/>
              <a:buChar char="²"/>
            </a:pPr>
            <a:r>
              <a:rPr lang="en-GB" altLang="en-US" dirty="0">
                <a:latin typeface="Arial" panose="020B0604020202020204" pitchFamily="34" charset="0"/>
                <a:cs typeface="Arial" panose="020B0604020202020204" pitchFamily="34" charset="0"/>
              </a:rPr>
              <a:t>The </a:t>
            </a:r>
            <a:r>
              <a:rPr lang="en-GB" altLang="en-US" dirty="0">
                <a:solidFill>
                  <a:srgbClr val="0000FF"/>
                </a:solidFill>
                <a:latin typeface="Arial" panose="020B0604020202020204" pitchFamily="34" charset="0"/>
                <a:cs typeface="Arial" panose="020B0604020202020204" pitchFamily="34" charset="0"/>
              </a:rPr>
              <a:t>Scrum master </a:t>
            </a:r>
            <a:r>
              <a:rPr lang="en-GB" altLang="en-US" dirty="0">
                <a:latin typeface="Arial" panose="020B0604020202020204" pitchFamily="34" charset="0"/>
                <a:cs typeface="Arial" panose="020B0604020202020204" pitchFamily="34" charset="0"/>
              </a:rPr>
              <a:t>is a facilitator who arranges daily meetings, tracks the backlog of work to be done, records decisions, measures progress against the backlog and communicates with customers and management outside of the team</a:t>
            </a:r>
          </a:p>
          <a:p>
            <a:pPr eaLnBrk="1" hangingPunct="1">
              <a:buFont typeface="Wingdings" panose="05000000000000000000" pitchFamily="2" charset="2"/>
              <a:buChar char="²"/>
            </a:pPr>
            <a:r>
              <a:rPr lang="en-GB" altLang="en-US" dirty="0">
                <a:latin typeface="Arial" panose="020B0604020202020204" pitchFamily="34" charset="0"/>
                <a:cs typeface="Arial" panose="020B0604020202020204" pitchFamily="34" charset="0"/>
              </a:rPr>
              <a:t>The whole team attends </a:t>
            </a:r>
            <a:r>
              <a:rPr lang="en-GB" altLang="en-US" dirty="0">
                <a:solidFill>
                  <a:srgbClr val="0000FF"/>
                </a:solidFill>
                <a:latin typeface="Arial" panose="020B0604020202020204" pitchFamily="34" charset="0"/>
                <a:cs typeface="Arial" panose="020B0604020202020204" pitchFamily="34" charset="0"/>
              </a:rPr>
              <a:t>short daily meetings which are referred as daily stand-up meeting </a:t>
            </a:r>
            <a:r>
              <a:rPr lang="en-GB" altLang="en-US" dirty="0">
                <a:latin typeface="Arial" panose="020B0604020202020204" pitchFamily="34" charset="0"/>
                <a:cs typeface="Arial" panose="020B0604020202020204" pitchFamily="34" charset="0"/>
              </a:rPr>
              <a:t>where all team members share information, describe their progress since the last meeting, problems that have arisen and what is planned for the following day</a:t>
            </a:r>
          </a:p>
          <a:p>
            <a:pPr lvl="1" eaLnBrk="1" hangingPunct="1">
              <a:buFont typeface="Wingdings" panose="05000000000000000000" pitchFamily="2" charset="2"/>
              <a:buChar char="§"/>
            </a:pPr>
            <a:r>
              <a:rPr lang="en-GB" altLang="en-US" dirty="0">
                <a:latin typeface="Arial" panose="020B0604020202020204" pitchFamily="34" charset="0"/>
                <a:cs typeface="Arial" panose="020B0604020202020204" pitchFamily="34" charset="0"/>
              </a:rPr>
              <a:t>This means that everyone on the team knows what is going on and, if problems arise, can re-plan short-term work to cope with them</a:t>
            </a:r>
          </a:p>
          <a:p>
            <a:endParaRPr lang="en-ZA" dirty="0"/>
          </a:p>
        </p:txBody>
      </p:sp>
    </p:spTree>
    <p:extLst>
      <p:ext uri="{BB962C8B-B14F-4D97-AF65-F5344CB8AC3E}">
        <p14:creationId xmlns:p14="http://schemas.microsoft.com/office/powerpoint/2010/main" val="1912109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58FBA-701C-1DF8-9D99-21BE6B006E0D}"/>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Scrum benefits</a:t>
            </a:r>
            <a:endParaRPr lang="en-ZA" dirty="0"/>
          </a:p>
        </p:txBody>
      </p:sp>
      <p:sp>
        <p:nvSpPr>
          <p:cNvPr id="3" name="Content Placeholder 2">
            <a:extLst>
              <a:ext uri="{FF2B5EF4-FFF2-40B4-BE49-F238E27FC236}">
                <a16:creationId xmlns:a16="http://schemas.microsoft.com/office/drawing/2014/main" id="{CE167DA5-FC9B-AF28-0F6E-4AC8F43808FE}"/>
              </a:ext>
            </a:extLst>
          </p:cNvPr>
          <p:cNvSpPr>
            <a:spLocks noGrp="1"/>
          </p:cNvSpPr>
          <p:nvPr>
            <p:ph idx="1"/>
          </p:nvPr>
        </p:nvSpPr>
        <p:spPr/>
        <p:txBody>
          <a:bodyPr>
            <a:normAutofit/>
          </a:bodyPr>
          <a:lstStyle/>
          <a:p>
            <a:pPr eaLnBrk="1" hangingPunct="1">
              <a:buFont typeface="Wingdings" panose="05000000000000000000" pitchFamily="2" charset="2"/>
              <a:buChar char="²"/>
            </a:pPr>
            <a:r>
              <a:rPr lang="en-GB" altLang="en-US" dirty="0">
                <a:solidFill>
                  <a:schemeClr val="tx1"/>
                </a:solidFill>
                <a:latin typeface="Arial" panose="020B0604020202020204" pitchFamily="34" charset="0"/>
                <a:cs typeface="Arial" panose="020B0604020202020204" pitchFamily="34" charset="0"/>
              </a:rPr>
              <a:t>The product is broken down into a set of manageable and understandable chunks</a:t>
            </a:r>
          </a:p>
          <a:p>
            <a:pPr eaLnBrk="1" hangingPunct="1">
              <a:buFont typeface="Wingdings" panose="05000000000000000000" pitchFamily="2" charset="2"/>
              <a:buChar char="²"/>
            </a:pPr>
            <a:r>
              <a:rPr lang="en-GB" altLang="en-US" dirty="0">
                <a:solidFill>
                  <a:schemeClr val="tx1"/>
                </a:solidFill>
                <a:latin typeface="Arial" panose="020B0604020202020204" pitchFamily="34" charset="0"/>
                <a:cs typeface="Arial" panose="020B0604020202020204" pitchFamily="34" charset="0"/>
              </a:rPr>
              <a:t>The whole team have visibility of everything and consequently team communication is improved</a:t>
            </a:r>
          </a:p>
          <a:p>
            <a:pPr eaLnBrk="1" hangingPunct="1">
              <a:buFont typeface="Wingdings" panose="05000000000000000000" pitchFamily="2" charset="2"/>
              <a:buChar char="²"/>
            </a:pPr>
            <a:r>
              <a:rPr lang="en-GB" altLang="en-US" dirty="0">
                <a:solidFill>
                  <a:schemeClr val="tx1"/>
                </a:solidFill>
                <a:latin typeface="Arial" panose="020B0604020202020204" pitchFamily="34" charset="0"/>
                <a:cs typeface="Arial" panose="020B0604020202020204" pitchFamily="34" charset="0"/>
              </a:rPr>
              <a:t>Customers see on-time delivery of increments and gain feedback on how the product works</a:t>
            </a:r>
          </a:p>
          <a:p>
            <a:pPr eaLnBrk="1" hangingPunct="1">
              <a:buFont typeface="Wingdings" panose="05000000000000000000" pitchFamily="2" charset="2"/>
              <a:buChar char="²"/>
            </a:pPr>
            <a:r>
              <a:rPr lang="en-GB" altLang="en-US" dirty="0">
                <a:solidFill>
                  <a:schemeClr val="tx1"/>
                </a:solidFill>
                <a:latin typeface="Arial" panose="020B0604020202020204" pitchFamily="34" charset="0"/>
                <a:cs typeface="Arial" panose="020B0604020202020204" pitchFamily="34" charset="0"/>
              </a:rPr>
              <a:t>Trust between customers and developers is established and a positive culture is created in which everyone expects the project to succeed</a:t>
            </a:r>
          </a:p>
          <a:p>
            <a:endParaRPr lang="en-ZA" dirty="0"/>
          </a:p>
        </p:txBody>
      </p:sp>
    </p:spTree>
    <p:extLst>
      <p:ext uri="{BB962C8B-B14F-4D97-AF65-F5344CB8AC3E}">
        <p14:creationId xmlns:p14="http://schemas.microsoft.com/office/powerpoint/2010/main" val="1876778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623" y="247560"/>
            <a:ext cx="10515600" cy="719092"/>
          </a:xfrm>
        </p:spPr>
        <p:txBody>
          <a:bodyPr/>
          <a:lstStyle/>
          <a:p>
            <a:r>
              <a:rPr lang="en-US" dirty="0"/>
              <a:t>Scrum</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2025</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03D7A9-CDA1-4732-8CA0-2A470E848275}"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Z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6" name="Picture 5"/>
          <p:cNvPicPr>
            <a:picLocks noChangeAspect="1"/>
          </p:cNvPicPr>
          <p:nvPr/>
        </p:nvPicPr>
        <p:blipFill>
          <a:blip r:embed="rId2"/>
          <a:stretch>
            <a:fillRect/>
          </a:stretch>
        </p:blipFill>
        <p:spPr>
          <a:xfrm>
            <a:off x="285750" y="955675"/>
            <a:ext cx="8096250" cy="5400675"/>
          </a:xfrm>
          <a:prstGeom prst="rect">
            <a:avLst/>
          </a:prstGeom>
        </p:spPr>
      </p:pic>
    </p:spTree>
    <p:extLst>
      <p:ext uri="{BB962C8B-B14F-4D97-AF65-F5344CB8AC3E}">
        <p14:creationId xmlns:p14="http://schemas.microsoft.com/office/powerpoint/2010/main" val="3009270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EEAEC-79F7-AAC7-2A29-F8506308D387}"/>
              </a:ext>
            </a:extLst>
          </p:cNvPr>
          <p:cNvSpPr>
            <a:spLocks noGrp="1"/>
          </p:cNvSpPr>
          <p:nvPr>
            <p:ph type="title"/>
          </p:nvPr>
        </p:nvSpPr>
        <p:spPr/>
        <p:txBody>
          <a:bodyPr/>
          <a:lstStyle/>
          <a:p>
            <a:r>
              <a:rPr lang="en-US" dirty="0"/>
              <a:t>Kanban</a:t>
            </a:r>
            <a:endParaRPr lang="en-ZA" dirty="0"/>
          </a:p>
        </p:txBody>
      </p:sp>
      <p:sp>
        <p:nvSpPr>
          <p:cNvPr id="3" name="Content Placeholder 2">
            <a:extLst>
              <a:ext uri="{FF2B5EF4-FFF2-40B4-BE49-F238E27FC236}">
                <a16:creationId xmlns:a16="http://schemas.microsoft.com/office/drawing/2014/main" id="{BC32A4D8-BCC6-A2C7-732A-9D26FAA52AE6}"/>
              </a:ext>
            </a:extLst>
          </p:cNvPr>
          <p:cNvSpPr>
            <a:spLocks noGrp="1"/>
          </p:cNvSpPr>
          <p:nvPr>
            <p:ph idx="1"/>
          </p:nvPr>
        </p:nvSpPr>
        <p:spPr/>
        <p:txBody>
          <a:bodyPr>
            <a:normAutofit fontScale="92500" lnSpcReduction="10000"/>
          </a:bodyPr>
          <a:lstStyle/>
          <a:p>
            <a:r>
              <a:rPr lang="en-US" b="0" i="0" dirty="0">
                <a:solidFill>
                  <a:srgbClr val="222222"/>
                </a:solidFill>
                <a:effectLst/>
                <a:latin typeface="Arial" panose="020B0604020202020204" pitchFamily="34" charset="0"/>
                <a:cs typeface="Arial" panose="020B0604020202020204" pitchFamily="34" charset="0"/>
              </a:rPr>
              <a:t>Kanban is an Agile framework that emphasizes visualization, workflow management, and continuous improvement. </a:t>
            </a:r>
            <a:endParaRPr lang="en-US" b="0" i="0" dirty="0">
              <a:effectLst/>
              <a:latin typeface="Arial" panose="020B0604020202020204" pitchFamily="34" charset="0"/>
              <a:cs typeface="Arial" panose="020B0604020202020204" pitchFamily="34" charset="0"/>
            </a:endParaRPr>
          </a:p>
          <a:p>
            <a:r>
              <a:rPr lang="en-US" b="0" i="0" dirty="0">
                <a:solidFill>
                  <a:srgbClr val="222222"/>
                </a:solidFill>
                <a:effectLst/>
                <a:latin typeface="Arial" panose="020B0604020202020204" pitchFamily="34" charset="0"/>
                <a:cs typeface="Arial" panose="020B0604020202020204" pitchFamily="34" charset="0"/>
              </a:rPr>
              <a:t>It involves creating a visual board that represents the work that needs to be done, the work that is in progress, and the work that has been completed. </a:t>
            </a:r>
          </a:p>
          <a:p>
            <a:r>
              <a:rPr lang="en-US" b="0" i="0" dirty="0">
                <a:solidFill>
                  <a:srgbClr val="131313"/>
                </a:solidFill>
                <a:effectLst/>
                <a:latin typeface="Arial" panose="020B0604020202020204" pitchFamily="34" charset="0"/>
                <a:cs typeface="Arial" panose="020B0604020202020204" pitchFamily="34" charset="0"/>
              </a:rPr>
              <a:t>It is designed to help teams manage their work more efficiently by visualizing the workflow, limiting work in progress (WIP), and optimizing the flow of tasks or work items from start to finish.</a:t>
            </a:r>
          </a:p>
          <a:p>
            <a:r>
              <a:rPr lang="en-US" dirty="0">
                <a:solidFill>
                  <a:srgbClr val="131313"/>
                </a:solidFill>
                <a:latin typeface="Arial" panose="020B0604020202020204" pitchFamily="34" charset="0"/>
                <a:cs typeface="Arial" panose="020B0604020202020204" pitchFamily="34" charset="0"/>
              </a:rPr>
              <a:t>Kanban uses a kanban board to represent work items as cards that move through different stages of a workflow.</a:t>
            </a:r>
            <a:br>
              <a:rPr lang="en-US" dirty="0"/>
            </a:br>
            <a:endParaRPr lang="en-ZA" dirty="0"/>
          </a:p>
        </p:txBody>
      </p:sp>
    </p:spTree>
    <p:extLst>
      <p:ext uri="{BB962C8B-B14F-4D97-AF65-F5344CB8AC3E}">
        <p14:creationId xmlns:p14="http://schemas.microsoft.com/office/powerpoint/2010/main" val="3587431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C03DB-FDA0-BB19-F379-5205578D88D9}"/>
              </a:ext>
            </a:extLst>
          </p:cNvPr>
          <p:cNvSpPr>
            <a:spLocks noGrp="1"/>
          </p:cNvSpPr>
          <p:nvPr>
            <p:ph type="title"/>
          </p:nvPr>
        </p:nvSpPr>
        <p:spPr/>
        <p:txBody>
          <a:bodyPr>
            <a:normAutofit fontScale="90000"/>
          </a:bodyPr>
          <a:lstStyle/>
          <a:p>
            <a:br>
              <a:rPr lang="en-US" b="0" i="0" dirty="0">
                <a:solidFill>
                  <a:srgbClr val="253858"/>
                </a:solidFill>
                <a:effectLst/>
                <a:latin typeface="Charlie Display"/>
              </a:rPr>
            </a:br>
            <a:r>
              <a:rPr lang="en-US" b="0" i="0" dirty="0">
                <a:effectLst/>
              </a:rPr>
              <a:t>What is the difference between a Kanban board and a Kanban card?</a:t>
            </a:r>
            <a:br>
              <a:rPr lang="en-US" b="0" i="0" dirty="0">
                <a:solidFill>
                  <a:srgbClr val="253858"/>
                </a:solidFill>
                <a:effectLst/>
                <a:latin typeface="Charlie Display"/>
              </a:rPr>
            </a:br>
            <a:endParaRPr lang="en-ZA" dirty="0"/>
          </a:p>
        </p:txBody>
      </p:sp>
      <p:sp>
        <p:nvSpPr>
          <p:cNvPr id="3" name="Content Placeholder 2">
            <a:extLst>
              <a:ext uri="{FF2B5EF4-FFF2-40B4-BE49-F238E27FC236}">
                <a16:creationId xmlns:a16="http://schemas.microsoft.com/office/drawing/2014/main" id="{E1109206-0E5E-405C-DC17-9CF689225C5A}"/>
              </a:ext>
            </a:extLst>
          </p:cNvPr>
          <p:cNvSpPr>
            <a:spLocks noGrp="1"/>
          </p:cNvSpPr>
          <p:nvPr>
            <p:ph idx="1"/>
          </p:nvPr>
        </p:nvSpPr>
        <p:spPr/>
        <p:txBody>
          <a:bodyPr/>
          <a:lstStyle/>
          <a:p>
            <a:pPr algn="l" fontAlgn="base">
              <a:lnSpc>
                <a:spcPct val="100000"/>
              </a:lnSpc>
              <a:spcAft>
                <a:spcPts val="1800"/>
              </a:spcAft>
            </a:pPr>
            <a:r>
              <a:rPr lang="en-US" b="0" i="0" dirty="0">
                <a:effectLst/>
              </a:rPr>
              <a:t>A </a:t>
            </a:r>
            <a:r>
              <a:rPr lang="en-US" b="1" i="0" dirty="0">
                <a:effectLst/>
              </a:rPr>
              <a:t>Kanban card </a:t>
            </a:r>
            <a:r>
              <a:rPr lang="en-US" b="0" i="0" dirty="0">
                <a:effectLst/>
              </a:rPr>
              <a:t>represents an individual task within a workflow.</a:t>
            </a:r>
          </a:p>
          <a:p>
            <a:pPr lvl="1" fontAlgn="base">
              <a:lnSpc>
                <a:spcPct val="100000"/>
              </a:lnSpc>
              <a:spcAft>
                <a:spcPts val="1800"/>
              </a:spcAft>
            </a:pPr>
            <a:r>
              <a:rPr lang="en-US" b="0" i="0" dirty="0">
                <a:effectLst/>
              </a:rPr>
              <a:t>Kanban cards include detailed information about each task, including its status, owner, and priority.</a:t>
            </a:r>
          </a:p>
          <a:p>
            <a:pPr algn="l" fontAlgn="base">
              <a:lnSpc>
                <a:spcPct val="100000"/>
              </a:lnSpc>
              <a:spcAft>
                <a:spcPts val="1800"/>
              </a:spcAft>
            </a:pPr>
            <a:r>
              <a:rPr lang="en-US" b="0" i="0" dirty="0">
                <a:effectLst/>
              </a:rPr>
              <a:t> A </a:t>
            </a:r>
            <a:r>
              <a:rPr lang="en-US" b="1" i="0" dirty="0">
                <a:effectLst/>
              </a:rPr>
              <a:t>Kanban board </a:t>
            </a:r>
            <a:r>
              <a:rPr lang="en-US" b="0" i="0" dirty="0">
                <a:effectLst/>
              </a:rPr>
              <a:t>is a visual tool that displays an entire workflow.</a:t>
            </a:r>
          </a:p>
          <a:p>
            <a:pPr lvl="1" fontAlgn="base">
              <a:lnSpc>
                <a:spcPct val="100000"/>
              </a:lnSpc>
              <a:spcAft>
                <a:spcPts val="1800"/>
              </a:spcAft>
            </a:pPr>
            <a:r>
              <a:rPr lang="en-US" b="0" i="0" dirty="0">
                <a:effectLst/>
              </a:rPr>
              <a:t>The Kanban board brings the Kanban cards together to give the team an overall view of a project.</a:t>
            </a:r>
          </a:p>
          <a:p>
            <a:endParaRPr lang="en-ZA" dirty="0"/>
          </a:p>
        </p:txBody>
      </p:sp>
    </p:spTree>
    <p:extLst>
      <p:ext uri="{BB962C8B-B14F-4D97-AF65-F5344CB8AC3E}">
        <p14:creationId xmlns:p14="http://schemas.microsoft.com/office/powerpoint/2010/main" val="475763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0FA4-7D0E-6498-2B3F-B2B8BA0CD56B}"/>
              </a:ext>
            </a:extLst>
          </p:cNvPr>
          <p:cNvSpPr>
            <a:spLocks noGrp="1"/>
          </p:cNvSpPr>
          <p:nvPr>
            <p:ph type="title"/>
          </p:nvPr>
        </p:nvSpPr>
        <p:spPr/>
        <p:txBody>
          <a:bodyPr/>
          <a:lstStyle/>
          <a:p>
            <a:r>
              <a:rPr lang="en-US" dirty="0"/>
              <a:t>Kanban Methodology</a:t>
            </a:r>
            <a:endParaRPr lang="en-ZA" dirty="0"/>
          </a:p>
        </p:txBody>
      </p:sp>
      <p:pic>
        <p:nvPicPr>
          <p:cNvPr id="5" name="Content Placeholder 4">
            <a:extLst>
              <a:ext uri="{FF2B5EF4-FFF2-40B4-BE49-F238E27FC236}">
                <a16:creationId xmlns:a16="http://schemas.microsoft.com/office/drawing/2014/main" id="{9488EBAB-702E-7180-648F-F9AAD163D16A}"/>
              </a:ext>
            </a:extLst>
          </p:cNvPr>
          <p:cNvPicPr>
            <a:picLocks noGrp="1" noChangeAspect="1"/>
          </p:cNvPicPr>
          <p:nvPr>
            <p:ph idx="1"/>
          </p:nvPr>
        </p:nvPicPr>
        <p:blipFill>
          <a:blip r:embed="rId2"/>
          <a:srcRect t="23372" r="-973"/>
          <a:stretch/>
        </p:blipFill>
        <p:spPr>
          <a:xfrm>
            <a:off x="1949344" y="2308485"/>
            <a:ext cx="5770589" cy="2671385"/>
          </a:xfrm>
        </p:spPr>
      </p:pic>
    </p:spTree>
    <p:extLst>
      <p:ext uri="{BB962C8B-B14F-4D97-AF65-F5344CB8AC3E}">
        <p14:creationId xmlns:p14="http://schemas.microsoft.com/office/powerpoint/2010/main" val="680186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03E63-EB56-D5E9-1E2B-D482BE5EC853}"/>
              </a:ext>
            </a:extLst>
          </p:cNvPr>
          <p:cNvSpPr>
            <a:spLocks noGrp="1"/>
          </p:cNvSpPr>
          <p:nvPr>
            <p:ph type="title"/>
          </p:nvPr>
        </p:nvSpPr>
        <p:spPr/>
        <p:txBody>
          <a:bodyPr/>
          <a:lstStyle/>
          <a:p>
            <a:r>
              <a:rPr lang="en-US" b="0" i="0" dirty="0">
                <a:effectLst/>
              </a:rPr>
              <a:t>Four core principles make up the Kanban framework</a:t>
            </a:r>
            <a:endParaRPr lang="en-ZA" dirty="0"/>
          </a:p>
        </p:txBody>
      </p:sp>
      <p:sp>
        <p:nvSpPr>
          <p:cNvPr id="3" name="Content Placeholder 2">
            <a:extLst>
              <a:ext uri="{FF2B5EF4-FFF2-40B4-BE49-F238E27FC236}">
                <a16:creationId xmlns:a16="http://schemas.microsoft.com/office/drawing/2014/main" id="{4FD3D380-FCB0-0AD6-8EF1-00E97A723526}"/>
              </a:ext>
            </a:extLst>
          </p:cNvPr>
          <p:cNvSpPr>
            <a:spLocks noGrp="1"/>
          </p:cNvSpPr>
          <p:nvPr>
            <p:ph idx="1"/>
          </p:nvPr>
        </p:nvSpPr>
        <p:spPr/>
        <p:txBody>
          <a:bodyPr/>
          <a:lstStyle/>
          <a:p>
            <a:r>
              <a:rPr lang="en-US" dirty="0"/>
              <a:t>S</a:t>
            </a:r>
            <a:r>
              <a:rPr lang="en-US" b="0" i="0" dirty="0">
                <a:effectLst/>
              </a:rPr>
              <a:t>tart with what you know</a:t>
            </a:r>
          </a:p>
          <a:p>
            <a:r>
              <a:rPr lang="en-US" b="0" i="0" dirty="0">
                <a:effectLst/>
              </a:rPr>
              <a:t> Pursue incremental change</a:t>
            </a:r>
          </a:p>
          <a:p>
            <a:r>
              <a:rPr lang="en-US" b="0" i="0" dirty="0">
                <a:effectLst/>
              </a:rPr>
              <a:t> Respect the current process</a:t>
            </a:r>
          </a:p>
          <a:p>
            <a:r>
              <a:rPr lang="en-US" dirty="0"/>
              <a:t>E</a:t>
            </a:r>
            <a:r>
              <a:rPr lang="en-US" b="0" i="0" dirty="0">
                <a:effectLst/>
              </a:rPr>
              <a:t>ncourage leadership at all levels</a:t>
            </a:r>
            <a:endParaRPr lang="en-ZA" dirty="0"/>
          </a:p>
        </p:txBody>
      </p:sp>
    </p:spTree>
    <p:extLst>
      <p:ext uri="{BB962C8B-B14F-4D97-AF65-F5344CB8AC3E}">
        <p14:creationId xmlns:p14="http://schemas.microsoft.com/office/powerpoint/2010/main" val="3702944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FCE37-3A9F-5273-2760-2E5379977499}"/>
              </a:ext>
            </a:extLst>
          </p:cNvPr>
          <p:cNvSpPr>
            <a:spLocks noGrp="1"/>
          </p:cNvSpPr>
          <p:nvPr>
            <p:ph type="title"/>
          </p:nvPr>
        </p:nvSpPr>
        <p:spPr/>
        <p:txBody>
          <a:bodyPr/>
          <a:lstStyle/>
          <a:p>
            <a:r>
              <a:rPr lang="en-US" i="0" dirty="0">
                <a:effectLst/>
              </a:rPr>
              <a:t>Kanban Key practices</a:t>
            </a:r>
            <a:endParaRPr lang="en-ZA" dirty="0"/>
          </a:p>
        </p:txBody>
      </p:sp>
      <p:sp>
        <p:nvSpPr>
          <p:cNvPr id="3" name="Content Placeholder 2">
            <a:extLst>
              <a:ext uri="{FF2B5EF4-FFF2-40B4-BE49-F238E27FC236}">
                <a16:creationId xmlns:a16="http://schemas.microsoft.com/office/drawing/2014/main" id="{23B5B70B-CBB1-FCD6-A439-BD601DF69788}"/>
              </a:ext>
            </a:extLst>
          </p:cNvPr>
          <p:cNvSpPr>
            <a:spLocks noGrp="1"/>
          </p:cNvSpPr>
          <p:nvPr>
            <p:ph idx="1"/>
          </p:nvPr>
        </p:nvSpPr>
        <p:spPr/>
        <p:txBody>
          <a:bodyPr>
            <a:normAutofit fontScale="92500" lnSpcReduction="10000"/>
          </a:bodyPr>
          <a:lstStyle/>
          <a:p>
            <a:pPr algn="l" fontAlgn="ctr">
              <a:spcBef>
                <a:spcPts val="600"/>
              </a:spcBef>
              <a:spcAft>
                <a:spcPts val="600"/>
              </a:spcAft>
              <a:buFont typeface="Arial" panose="020B0604020202020204" pitchFamily="34" charset="0"/>
              <a:buChar char="•"/>
            </a:pPr>
            <a:r>
              <a:rPr lang="en-US" b="1" i="0" dirty="0">
                <a:effectLst/>
                <a:latin typeface="Google Sans"/>
              </a:rPr>
              <a:t>Visualize the workflow:</a:t>
            </a:r>
            <a:r>
              <a:rPr lang="en-US" b="0" i="0" dirty="0">
                <a:effectLst/>
                <a:latin typeface="Google Sans"/>
              </a:rPr>
              <a:t> Make the process transparent and easy to understand. </a:t>
            </a:r>
          </a:p>
          <a:p>
            <a:pPr algn="l" fontAlgn="ctr">
              <a:spcBef>
                <a:spcPts val="600"/>
              </a:spcBef>
              <a:spcAft>
                <a:spcPts val="600"/>
              </a:spcAft>
              <a:buFont typeface="Arial" panose="020B0604020202020204" pitchFamily="34" charset="0"/>
              <a:buChar char="•"/>
            </a:pPr>
            <a:r>
              <a:rPr lang="en-US" b="1" i="0" dirty="0">
                <a:effectLst/>
                <a:latin typeface="Google Sans"/>
              </a:rPr>
              <a:t>Limit work-in-progress (WIP):</a:t>
            </a:r>
            <a:r>
              <a:rPr lang="en-US" b="0" i="0" dirty="0">
                <a:effectLst/>
                <a:latin typeface="Google Sans"/>
              </a:rPr>
              <a:t> Reduce bottlenecks and improve flow by limiting the number of tasks in each stage. </a:t>
            </a:r>
          </a:p>
          <a:p>
            <a:pPr algn="l" fontAlgn="ctr">
              <a:spcBef>
                <a:spcPts val="600"/>
              </a:spcBef>
              <a:spcAft>
                <a:spcPts val="600"/>
              </a:spcAft>
              <a:buFont typeface="Arial" panose="020B0604020202020204" pitchFamily="34" charset="0"/>
              <a:buChar char="•"/>
            </a:pPr>
            <a:r>
              <a:rPr lang="en-US" b="1" i="0" dirty="0">
                <a:effectLst/>
                <a:latin typeface="Google Sans"/>
              </a:rPr>
              <a:t>Focus on flow:</a:t>
            </a:r>
            <a:r>
              <a:rPr lang="en-US" b="0" i="0" dirty="0">
                <a:effectLst/>
                <a:latin typeface="Google Sans"/>
              </a:rPr>
              <a:t> Prioritize the continuous movement of work through the system. </a:t>
            </a:r>
          </a:p>
          <a:p>
            <a:pPr algn="l" fontAlgn="ctr">
              <a:spcBef>
                <a:spcPts val="600"/>
              </a:spcBef>
              <a:spcAft>
                <a:spcPts val="600"/>
              </a:spcAft>
              <a:buFont typeface="Arial" panose="020B0604020202020204" pitchFamily="34" charset="0"/>
              <a:buChar char="•"/>
            </a:pPr>
            <a:r>
              <a:rPr lang="en-US" b="1" i="0" dirty="0">
                <a:effectLst/>
                <a:latin typeface="Google Sans"/>
              </a:rPr>
              <a:t>Make explicit policies for the workflow:</a:t>
            </a:r>
            <a:r>
              <a:rPr lang="en-US" b="0" i="0" dirty="0">
                <a:effectLst/>
                <a:latin typeface="Google Sans"/>
              </a:rPr>
              <a:t> Establish clear rules and procedures for how work moves through the process. </a:t>
            </a:r>
          </a:p>
          <a:p>
            <a:pPr algn="l">
              <a:spcBef>
                <a:spcPts val="600"/>
              </a:spcBef>
              <a:spcAft>
                <a:spcPts val="1500"/>
              </a:spcAft>
              <a:buFont typeface="Arial" panose="020B0604020202020204" pitchFamily="34" charset="0"/>
              <a:buChar char="•"/>
            </a:pPr>
            <a:r>
              <a:rPr lang="en-US" b="1" i="0" dirty="0">
                <a:effectLst/>
                <a:latin typeface="Google Sans"/>
              </a:rPr>
              <a:t>Implement feedback loops:</a:t>
            </a:r>
            <a:r>
              <a:rPr lang="en-US" b="0" i="0" dirty="0">
                <a:effectLst/>
                <a:latin typeface="Google Sans"/>
              </a:rPr>
              <a:t> Continuously monitor and improve the process based on real-time data</a:t>
            </a:r>
          </a:p>
          <a:p>
            <a:endParaRPr lang="en-ZA" dirty="0"/>
          </a:p>
        </p:txBody>
      </p:sp>
    </p:spTree>
    <p:extLst>
      <p:ext uri="{BB962C8B-B14F-4D97-AF65-F5344CB8AC3E}">
        <p14:creationId xmlns:p14="http://schemas.microsoft.com/office/powerpoint/2010/main" val="2124743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8EE17-449B-571C-8D30-674671A97A06}"/>
              </a:ext>
            </a:extLst>
          </p:cNvPr>
          <p:cNvSpPr>
            <a:spLocks noGrp="1"/>
          </p:cNvSpPr>
          <p:nvPr>
            <p:ph type="title"/>
          </p:nvPr>
        </p:nvSpPr>
        <p:spPr/>
        <p:txBody>
          <a:bodyPr/>
          <a:lstStyle/>
          <a:p>
            <a:r>
              <a:rPr lang="en-US" dirty="0"/>
              <a:t>B</a:t>
            </a:r>
            <a:r>
              <a:rPr lang="en-US" b="0" i="0" dirty="0">
                <a:effectLst/>
              </a:rPr>
              <a:t>enefits of the Kanban method</a:t>
            </a:r>
            <a:endParaRPr lang="en-ZA" dirty="0"/>
          </a:p>
        </p:txBody>
      </p:sp>
      <p:sp>
        <p:nvSpPr>
          <p:cNvPr id="3" name="Content Placeholder 2">
            <a:extLst>
              <a:ext uri="{FF2B5EF4-FFF2-40B4-BE49-F238E27FC236}">
                <a16:creationId xmlns:a16="http://schemas.microsoft.com/office/drawing/2014/main" id="{B59132C6-F5CE-6E60-D071-979416E1C2E9}"/>
              </a:ext>
            </a:extLst>
          </p:cNvPr>
          <p:cNvSpPr>
            <a:spLocks noGrp="1"/>
          </p:cNvSpPr>
          <p:nvPr>
            <p:ph idx="1"/>
          </p:nvPr>
        </p:nvSpPr>
        <p:spPr/>
        <p:txBody>
          <a:bodyPr>
            <a:normAutofit lnSpcReduction="10000"/>
          </a:bodyPr>
          <a:lstStyle/>
          <a:p>
            <a:pPr marL="0" indent="0" algn="l" fontAlgn="base">
              <a:spcAft>
                <a:spcPts val="1800"/>
              </a:spcAft>
              <a:buNone/>
            </a:pPr>
            <a:r>
              <a:rPr lang="en-US" b="0" i="0" dirty="0">
                <a:effectLst/>
                <a:latin typeface="Aptos Display" panose="020B0004020202020204" pitchFamily="34" charset="0"/>
              </a:rPr>
              <a:t>The Kanban method offers a range of advantages that streamline project management and enhance team performance, including:</a:t>
            </a:r>
          </a:p>
          <a:p>
            <a:pPr algn="l" fontAlgn="base">
              <a:spcAft>
                <a:spcPts val="900"/>
              </a:spcAft>
              <a:buFont typeface="Arial" panose="020B0604020202020204" pitchFamily="34" charset="0"/>
              <a:buChar char="•"/>
            </a:pPr>
            <a:r>
              <a:rPr lang="en-US" b="1" i="0" dirty="0">
                <a:effectLst/>
                <a:latin typeface="Aptos Display" panose="020B0004020202020204" pitchFamily="34" charset="0"/>
              </a:rPr>
              <a:t>Improved workflow:</a:t>
            </a:r>
            <a:r>
              <a:rPr lang="en-US" b="0" i="0" dirty="0">
                <a:effectLst/>
                <a:latin typeface="Aptos Display" panose="020B0004020202020204" pitchFamily="34" charset="0"/>
              </a:rPr>
              <a:t> By visualizing tasks on a Kanban board, teams can identify bottlenecks and optimize workflows.</a:t>
            </a:r>
          </a:p>
          <a:p>
            <a:pPr algn="l" fontAlgn="base">
              <a:spcAft>
                <a:spcPts val="900"/>
              </a:spcAft>
              <a:buFont typeface="Arial" panose="020B0604020202020204" pitchFamily="34" charset="0"/>
              <a:buChar char="•"/>
            </a:pPr>
            <a:r>
              <a:rPr lang="en-US" b="1" i="0" dirty="0">
                <a:effectLst/>
                <a:latin typeface="Aptos Display" panose="020B0004020202020204" pitchFamily="34" charset="0"/>
              </a:rPr>
              <a:t>Increased efficiency:</a:t>
            </a:r>
            <a:r>
              <a:rPr lang="en-US" b="0" i="0" dirty="0">
                <a:effectLst/>
                <a:latin typeface="Aptos Display" panose="020B0004020202020204" pitchFamily="34" charset="0"/>
              </a:rPr>
              <a:t> Limiting WIP ensures that team members focus on completing tasks instead of feeling overwhelmed with multitasking. </a:t>
            </a:r>
          </a:p>
          <a:p>
            <a:pPr algn="l" fontAlgn="base">
              <a:spcAft>
                <a:spcPts val="900"/>
              </a:spcAft>
              <a:buFont typeface="Arial" panose="020B0604020202020204" pitchFamily="34" charset="0"/>
              <a:buChar char="•"/>
            </a:pPr>
            <a:r>
              <a:rPr lang="en-US" b="1" i="0" dirty="0">
                <a:effectLst/>
                <a:latin typeface="Aptos Display" panose="020B0004020202020204" pitchFamily="34" charset="0"/>
              </a:rPr>
              <a:t>Enhanced collaboration:</a:t>
            </a:r>
            <a:r>
              <a:rPr lang="en-US" b="0" i="0" dirty="0">
                <a:effectLst/>
                <a:latin typeface="Aptos Display" panose="020B0004020202020204" pitchFamily="34" charset="0"/>
              </a:rPr>
              <a:t> The visual nature of Kanban boards fosters a collaborative environment, as everyone is aware of their responsibilities and the status of each task.</a:t>
            </a:r>
          </a:p>
          <a:p>
            <a:endParaRPr lang="en-ZA" dirty="0"/>
          </a:p>
        </p:txBody>
      </p:sp>
    </p:spTree>
    <p:extLst>
      <p:ext uri="{BB962C8B-B14F-4D97-AF65-F5344CB8AC3E}">
        <p14:creationId xmlns:p14="http://schemas.microsoft.com/office/powerpoint/2010/main" val="34819948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04903-7942-AE6B-F6B4-F03FCF6022BC}"/>
              </a:ext>
            </a:extLst>
          </p:cNvPr>
          <p:cNvSpPr>
            <a:spLocks noGrp="1"/>
          </p:cNvSpPr>
          <p:nvPr>
            <p:ph type="title"/>
          </p:nvPr>
        </p:nvSpPr>
        <p:spPr/>
        <p:txBody>
          <a:bodyPr/>
          <a:lstStyle/>
          <a:p>
            <a:r>
              <a:rPr lang="en-US" dirty="0"/>
              <a:t>Scrum Vs Kanban</a:t>
            </a:r>
            <a:endParaRPr lang="en-ZA" dirty="0"/>
          </a:p>
        </p:txBody>
      </p:sp>
      <p:pic>
        <p:nvPicPr>
          <p:cNvPr id="5" name="Content Placeholder 4">
            <a:extLst>
              <a:ext uri="{FF2B5EF4-FFF2-40B4-BE49-F238E27FC236}">
                <a16:creationId xmlns:a16="http://schemas.microsoft.com/office/drawing/2014/main" id="{7EF692A9-66F0-694E-2A5A-CB9801847B7B}"/>
              </a:ext>
            </a:extLst>
          </p:cNvPr>
          <p:cNvPicPr>
            <a:picLocks noGrp="1" noChangeAspect="1"/>
          </p:cNvPicPr>
          <p:nvPr>
            <p:ph idx="1"/>
          </p:nvPr>
        </p:nvPicPr>
        <p:blipFill>
          <a:blip r:embed="rId2"/>
          <a:srcRect l="1261" t="11460" r="167" b="278"/>
          <a:stretch/>
        </p:blipFill>
        <p:spPr>
          <a:xfrm>
            <a:off x="1061882" y="1563330"/>
            <a:ext cx="9615949" cy="4689986"/>
          </a:xfrm>
        </p:spPr>
      </p:pic>
    </p:spTree>
    <p:extLst>
      <p:ext uri="{BB962C8B-B14F-4D97-AF65-F5344CB8AC3E}">
        <p14:creationId xmlns:p14="http://schemas.microsoft.com/office/powerpoint/2010/main" val="2911593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0B88-B00D-B255-BE5C-113141C43337}"/>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Scaling agile methods</a:t>
            </a:r>
            <a:endParaRPr lang="en-ZA" dirty="0"/>
          </a:p>
        </p:txBody>
      </p:sp>
      <p:sp>
        <p:nvSpPr>
          <p:cNvPr id="3" name="Content Placeholder 2">
            <a:extLst>
              <a:ext uri="{FF2B5EF4-FFF2-40B4-BE49-F238E27FC236}">
                <a16:creationId xmlns:a16="http://schemas.microsoft.com/office/drawing/2014/main" id="{8C65D660-05F6-FBDA-E663-26F6594BF8BD}"/>
              </a:ext>
            </a:extLst>
          </p:cNvPr>
          <p:cNvSpPr>
            <a:spLocks noGrp="1"/>
          </p:cNvSpPr>
          <p:nvPr>
            <p:ph idx="1"/>
          </p:nvPr>
        </p:nvSpPr>
        <p:spPr/>
        <p:txBody>
          <a:bodyPr/>
          <a:lstStyle/>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Agile methods have proved to be </a:t>
            </a:r>
            <a:r>
              <a:rPr lang="en-US" altLang="en-US" dirty="0">
                <a:solidFill>
                  <a:srgbClr val="0000FF"/>
                </a:solidFill>
                <a:latin typeface="Arial" panose="020B0604020202020204" pitchFamily="34" charset="0"/>
                <a:cs typeface="Arial" panose="020B0604020202020204" pitchFamily="34" charset="0"/>
              </a:rPr>
              <a:t>successful for small and medium sized projects </a:t>
            </a:r>
            <a:r>
              <a:rPr lang="en-US" altLang="en-US" dirty="0">
                <a:latin typeface="Arial" panose="020B0604020202020204" pitchFamily="34" charset="0"/>
                <a:cs typeface="Arial" panose="020B0604020202020204" pitchFamily="34" charset="0"/>
              </a:rPr>
              <a:t>that can be developed by a small co-located team</a:t>
            </a:r>
          </a:p>
          <a:p>
            <a:pPr eaLnBrk="1" hangingPunct="1">
              <a:buFont typeface="Wingdings" panose="05000000000000000000" pitchFamily="2" charset="2"/>
              <a:buChar char="²"/>
            </a:pPr>
            <a:r>
              <a:rPr lang="en-US" altLang="en-US" dirty="0">
                <a:latin typeface="Arial" panose="020B0604020202020204" pitchFamily="34" charset="0"/>
                <a:cs typeface="Arial" panose="020B0604020202020204" pitchFamily="34" charset="0"/>
              </a:rPr>
              <a:t>It is sometimes argued that the success of these methods comes because of </a:t>
            </a:r>
            <a:r>
              <a:rPr lang="en-US" altLang="en-US" dirty="0">
                <a:solidFill>
                  <a:srgbClr val="0000FF"/>
                </a:solidFill>
                <a:latin typeface="Arial" panose="020B0604020202020204" pitchFamily="34" charset="0"/>
                <a:cs typeface="Arial" panose="020B0604020202020204" pitchFamily="34" charset="0"/>
              </a:rPr>
              <a:t>improved communications </a:t>
            </a:r>
            <a:r>
              <a:rPr lang="en-US" altLang="en-US" dirty="0">
                <a:latin typeface="Arial" panose="020B0604020202020204" pitchFamily="34" charset="0"/>
                <a:cs typeface="Arial" panose="020B0604020202020204" pitchFamily="34" charset="0"/>
              </a:rPr>
              <a:t>which is possible when everyone is working together</a:t>
            </a:r>
          </a:p>
          <a:p>
            <a:pPr eaLnBrk="1" hangingPunct="1">
              <a:buFont typeface="Wingdings" panose="05000000000000000000" pitchFamily="2" charset="2"/>
              <a:buChar char="²"/>
            </a:pPr>
            <a:r>
              <a:rPr lang="en-US" altLang="en-US" dirty="0">
                <a:solidFill>
                  <a:srgbClr val="0000FF"/>
                </a:solidFill>
                <a:latin typeface="Arial" panose="020B0604020202020204" pitchFamily="34" charset="0"/>
                <a:cs typeface="Arial" panose="020B0604020202020204" pitchFamily="34" charset="0"/>
              </a:rPr>
              <a:t>Scaling up agile methods </a:t>
            </a:r>
            <a:r>
              <a:rPr lang="en-US" altLang="en-US" dirty="0">
                <a:latin typeface="Arial" panose="020B0604020202020204" pitchFamily="34" charset="0"/>
                <a:cs typeface="Arial" panose="020B0604020202020204" pitchFamily="34" charset="0"/>
              </a:rPr>
              <a:t>involves changing these to cope with larger, longer projects where there are multiple development teams, perhaps working in different locations</a:t>
            </a:r>
          </a:p>
          <a:p>
            <a:endParaRPr lang="en-ZA" dirty="0"/>
          </a:p>
        </p:txBody>
      </p:sp>
    </p:spTree>
    <p:extLst>
      <p:ext uri="{BB962C8B-B14F-4D97-AF65-F5344CB8AC3E}">
        <p14:creationId xmlns:p14="http://schemas.microsoft.com/office/powerpoint/2010/main" val="32282446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D0796-0522-1341-8968-80AD7E15F398}"/>
              </a:ext>
            </a:extLst>
          </p:cNvPr>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Scaling out and scaling up</a:t>
            </a:r>
            <a:endParaRPr lang="en-ZA" dirty="0"/>
          </a:p>
        </p:txBody>
      </p:sp>
      <p:sp>
        <p:nvSpPr>
          <p:cNvPr id="3" name="Content Placeholder 2">
            <a:extLst>
              <a:ext uri="{FF2B5EF4-FFF2-40B4-BE49-F238E27FC236}">
                <a16:creationId xmlns:a16="http://schemas.microsoft.com/office/drawing/2014/main" id="{3790BCFE-E6D7-71A3-FCB4-95E337CEC936}"/>
              </a:ext>
            </a:extLst>
          </p:cNvPr>
          <p:cNvSpPr>
            <a:spLocks noGrp="1"/>
          </p:cNvSpPr>
          <p:nvPr>
            <p:ph idx="1"/>
          </p:nvPr>
        </p:nvSpPr>
        <p:spPr/>
        <p:txBody>
          <a:bodyPr>
            <a:normAutofit/>
          </a:bodyPr>
          <a:lstStyle/>
          <a:p>
            <a:r>
              <a:rPr lang="en-US" b="1" i="0" dirty="0">
                <a:solidFill>
                  <a:srgbClr val="222222"/>
                </a:solidFill>
                <a:effectLst/>
                <a:latin typeface="Arial" panose="020B0604020202020204" pitchFamily="34" charset="0"/>
              </a:rPr>
              <a:t>'Scaling up</a:t>
            </a:r>
            <a:r>
              <a:rPr lang="en-US" b="0" i="0" dirty="0">
                <a:solidFill>
                  <a:srgbClr val="222222"/>
                </a:solidFill>
                <a:effectLst/>
                <a:latin typeface="Arial" panose="020B0604020202020204" pitchFamily="34" charset="0"/>
              </a:rPr>
              <a:t>' is concerned with using agile methods for developing large software systems that cannot be developed by a small team </a:t>
            </a:r>
          </a:p>
          <a:p>
            <a:r>
              <a:rPr lang="en-US" b="1" i="0" dirty="0">
                <a:solidFill>
                  <a:srgbClr val="222222"/>
                </a:solidFill>
                <a:effectLst/>
                <a:latin typeface="Arial" panose="020B0604020202020204" pitchFamily="34" charset="0"/>
              </a:rPr>
              <a:t>'Scaling out</a:t>
            </a:r>
            <a:r>
              <a:rPr lang="en-US" b="0" i="0" dirty="0">
                <a:solidFill>
                  <a:srgbClr val="222222"/>
                </a:solidFill>
                <a:effectLst/>
                <a:latin typeface="Arial" panose="020B0604020202020204" pitchFamily="34" charset="0"/>
              </a:rPr>
              <a:t>' is concerned with how agile methods can be introduced across a large organization with many years of software development experience </a:t>
            </a:r>
          </a:p>
          <a:p>
            <a:r>
              <a:rPr lang="en-US" b="0" i="0" dirty="0">
                <a:solidFill>
                  <a:srgbClr val="222222"/>
                </a:solidFill>
                <a:effectLst/>
                <a:latin typeface="Arial" panose="020B0604020202020204" pitchFamily="34" charset="0"/>
              </a:rPr>
              <a:t>When scaling agile methods, it is important to maintain agile fundamentals: </a:t>
            </a:r>
          </a:p>
          <a:p>
            <a:pPr lvl="1"/>
            <a:r>
              <a:rPr lang="en-US" b="0" i="0" dirty="0">
                <a:solidFill>
                  <a:srgbClr val="222222"/>
                </a:solidFill>
                <a:effectLst/>
                <a:latin typeface="Arial" panose="020B0604020202020204" pitchFamily="34" charset="0"/>
              </a:rPr>
              <a:t>Flexible planning, frequent system releases, continuous integration, test-driven development, and good team communication</a:t>
            </a:r>
            <a:endParaRPr lang="en-ZA" dirty="0"/>
          </a:p>
        </p:txBody>
      </p:sp>
    </p:spTree>
    <p:extLst>
      <p:ext uri="{BB962C8B-B14F-4D97-AF65-F5344CB8AC3E}">
        <p14:creationId xmlns:p14="http://schemas.microsoft.com/office/powerpoint/2010/main" val="78778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8B8B-59A4-0468-5908-691F035B6EAF}"/>
              </a:ext>
            </a:extLst>
          </p:cNvPr>
          <p:cNvSpPr>
            <a:spLocks noGrp="1"/>
          </p:cNvSpPr>
          <p:nvPr>
            <p:ph type="title"/>
          </p:nvPr>
        </p:nvSpPr>
        <p:spPr/>
        <p:txBody>
          <a:bodyPr/>
          <a:lstStyle/>
          <a:p>
            <a:r>
              <a:rPr lang="en-US" dirty="0"/>
              <a:t>Agile across organizations</a:t>
            </a:r>
            <a:endParaRPr lang="en-ZA" dirty="0"/>
          </a:p>
        </p:txBody>
      </p:sp>
      <p:sp>
        <p:nvSpPr>
          <p:cNvPr id="3" name="Content Placeholder 2">
            <a:extLst>
              <a:ext uri="{FF2B5EF4-FFF2-40B4-BE49-F238E27FC236}">
                <a16:creationId xmlns:a16="http://schemas.microsoft.com/office/drawing/2014/main" id="{21E7EA88-5A66-80E0-8C64-7C955D992853}"/>
              </a:ext>
            </a:extLst>
          </p:cNvPr>
          <p:cNvSpPr>
            <a:spLocks noGrp="1"/>
          </p:cNvSpPr>
          <p:nvPr>
            <p:ph idx="1"/>
          </p:nvPr>
        </p:nvSpPr>
        <p:spPr/>
        <p:txBody>
          <a:bodyPr/>
          <a:lstStyle/>
          <a:p>
            <a:pPr marL="0" indent="0">
              <a:buNone/>
            </a:pPr>
            <a:r>
              <a:rPr lang="en-US" dirty="0"/>
              <a:t>Some barriers to agile adoption:</a:t>
            </a:r>
          </a:p>
          <a:p>
            <a:pPr>
              <a:buFont typeface="Wingdings" panose="05000000000000000000" pitchFamily="2" charset="2"/>
              <a:buChar char="Ø"/>
            </a:pPr>
            <a:r>
              <a:rPr lang="en-US" dirty="0"/>
              <a:t>Project managers are largely inexperienced with agile</a:t>
            </a:r>
          </a:p>
          <a:p>
            <a:pPr>
              <a:buFont typeface="Wingdings" panose="05000000000000000000" pitchFamily="2" charset="2"/>
              <a:buChar char="Ø"/>
            </a:pPr>
            <a:r>
              <a:rPr lang="en-US" dirty="0"/>
              <a:t>Bureaucratic procedures that are necessary for quality </a:t>
            </a:r>
          </a:p>
          <a:p>
            <a:pPr>
              <a:buFont typeface="Wingdings" panose="05000000000000000000" pitchFamily="2" charset="2"/>
              <a:buChar char="Ø"/>
            </a:pPr>
            <a:r>
              <a:rPr lang="en-US" dirty="0"/>
              <a:t>Needs highly and multi-skilled team members</a:t>
            </a:r>
          </a:p>
          <a:p>
            <a:pPr>
              <a:buFont typeface="Wingdings" panose="05000000000000000000" pitchFamily="2" charset="2"/>
              <a:buChar char="Ø"/>
            </a:pPr>
            <a:r>
              <a:rPr lang="en-US" dirty="0"/>
              <a:t>Well ingrained plan-driven processes </a:t>
            </a:r>
          </a:p>
          <a:p>
            <a:endParaRPr lang="en-ZA" dirty="0"/>
          </a:p>
        </p:txBody>
      </p:sp>
    </p:spTree>
    <p:extLst>
      <p:ext uri="{BB962C8B-B14F-4D97-AF65-F5344CB8AC3E}">
        <p14:creationId xmlns:p14="http://schemas.microsoft.com/office/powerpoint/2010/main" val="3544876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45E8-BABF-D73E-7EC4-C7A0BEAED953}"/>
              </a:ext>
            </a:extLst>
          </p:cNvPr>
          <p:cNvSpPr>
            <a:spLocks noGrp="1"/>
          </p:cNvSpPr>
          <p:nvPr>
            <p:ph type="title"/>
          </p:nvPr>
        </p:nvSpPr>
        <p:spPr/>
        <p:txBody>
          <a:bodyPr/>
          <a:lstStyle/>
          <a:p>
            <a:r>
              <a:rPr lang="en-US" dirty="0"/>
              <a:t>Agile maintenance</a:t>
            </a:r>
            <a:endParaRPr lang="en-ZA" dirty="0"/>
          </a:p>
        </p:txBody>
      </p:sp>
      <p:sp>
        <p:nvSpPr>
          <p:cNvPr id="3" name="Content Placeholder 2">
            <a:extLst>
              <a:ext uri="{FF2B5EF4-FFF2-40B4-BE49-F238E27FC236}">
                <a16:creationId xmlns:a16="http://schemas.microsoft.com/office/drawing/2014/main" id="{1B7A95F0-2B18-7AF4-B414-36CFC4D07615}"/>
              </a:ext>
            </a:extLst>
          </p:cNvPr>
          <p:cNvSpPr>
            <a:spLocks noGrp="1"/>
          </p:cNvSpPr>
          <p:nvPr>
            <p:ph idx="1"/>
          </p:nvPr>
        </p:nvSpPr>
        <p:spPr/>
        <p:txBody>
          <a:bodyPr/>
          <a:lstStyle/>
          <a:p>
            <a:pPr marL="0" indent="0">
              <a:buNone/>
            </a:pPr>
            <a:r>
              <a:rPr lang="en-US" dirty="0"/>
              <a:t>Key problems are:</a:t>
            </a:r>
          </a:p>
          <a:p>
            <a:r>
              <a:rPr lang="en-US" dirty="0"/>
              <a:t>Lack of product documentation</a:t>
            </a:r>
          </a:p>
          <a:p>
            <a:r>
              <a:rPr lang="en-US" dirty="0"/>
              <a:t>Keeping customers involved in the development process</a:t>
            </a:r>
          </a:p>
          <a:p>
            <a:r>
              <a:rPr lang="en-US" dirty="0"/>
              <a:t>Maintaining the continuity of the development team</a:t>
            </a:r>
          </a:p>
          <a:p>
            <a:endParaRPr lang="en-ZA" dirty="0"/>
          </a:p>
        </p:txBody>
      </p:sp>
    </p:spTree>
    <p:extLst>
      <p:ext uri="{BB962C8B-B14F-4D97-AF65-F5344CB8AC3E}">
        <p14:creationId xmlns:p14="http://schemas.microsoft.com/office/powerpoint/2010/main" val="13187808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4FE759-06C4-0FB1-2FC3-671A29F82080}"/>
              </a:ext>
            </a:extLst>
          </p:cNvPr>
          <p:cNvSpPr>
            <a:spLocks noGrp="1"/>
          </p:cNvSpPr>
          <p:nvPr>
            <p:ph type="title"/>
          </p:nvPr>
        </p:nvSpPr>
        <p:spPr>
          <a:xfrm>
            <a:off x="1008184" y="174032"/>
            <a:ext cx="10175631" cy="1111843"/>
          </a:xfrm>
        </p:spPr>
        <p:txBody>
          <a:bodyPr anchor="ctr">
            <a:normAutofit/>
          </a:bodyPr>
          <a:lstStyle/>
          <a:p>
            <a:pPr algn="ctr"/>
            <a:r>
              <a:rPr lang="en-US" sz="4000"/>
              <a:t>Agile or Plan Driven(How to decide?)</a:t>
            </a:r>
            <a:endParaRPr lang="en-ZA" sz="4000"/>
          </a:p>
        </p:txBody>
      </p:sp>
      <p:sp>
        <p:nvSpPr>
          <p:cNvPr id="3" name="Content Placeholder 2">
            <a:extLst>
              <a:ext uri="{FF2B5EF4-FFF2-40B4-BE49-F238E27FC236}">
                <a16:creationId xmlns:a16="http://schemas.microsoft.com/office/drawing/2014/main" id="{15F4557F-8BA2-0D68-EE85-0B8646ED406B}"/>
              </a:ext>
            </a:extLst>
          </p:cNvPr>
          <p:cNvSpPr>
            <a:spLocks noGrp="1"/>
          </p:cNvSpPr>
          <p:nvPr>
            <p:ph idx="1"/>
          </p:nvPr>
        </p:nvSpPr>
        <p:spPr>
          <a:xfrm>
            <a:off x="1008184" y="1459907"/>
            <a:ext cx="10175630" cy="767904"/>
          </a:xfrm>
        </p:spPr>
        <p:txBody>
          <a:bodyPr anchor="ctr">
            <a:normAutofit/>
          </a:bodyPr>
          <a:lstStyle/>
          <a:p>
            <a:pPr algn="ctr"/>
            <a:r>
              <a:rPr lang="en-US" sz="2000" dirty="0"/>
              <a:t>What factors should the team consider before choosing?</a:t>
            </a:r>
          </a:p>
          <a:p>
            <a:pPr algn="ctr"/>
            <a:endParaRPr lang="en-ZA" sz="2000" dirty="0"/>
          </a:p>
        </p:txBody>
      </p:sp>
      <p:pic>
        <p:nvPicPr>
          <p:cNvPr id="4" name="Picture 3">
            <a:extLst>
              <a:ext uri="{FF2B5EF4-FFF2-40B4-BE49-F238E27FC236}">
                <a16:creationId xmlns:a16="http://schemas.microsoft.com/office/drawing/2014/main" id="{BFBE4566-8D9C-6EE1-E5C5-DA95BF65254F}"/>
              </a:ext>
            </a:extLst>
          </p:cNvPr>
          <p:cNvPicPr>
            <a:picLocks noChangeAspect="1"/>
          </p:cNvPicPr>
          <p:nvPr/>
        </p:nvPicPr>
        <p:blipFill>
          <a:blip r:embed="rId2"/>
          <a:stretch>
            <a:fillRect/>
          </a:stretch>
        </p:blipFill>
        <p:spPr>
          <a:xfrm>
            <a:off x="835154" y="2664029"/>
            <a:ext cx="10515595" cy="3381633"/>
          </a:xfrm>
          <a:prstGeom prst="rect">
            <a:avLst/>
          </a:prstGeom>
        </p:spPr>
      </p:pic>
    </p:spTree>
    <p:extLst>
      <p:ext uri="{BB962C8B-B14F-4D97-AF65-F5344CB8AC3E}">
        <p14:creationId xmlns:p14="http://schemas.microsoft.com/office/powerpoint/2010/main" val="40967443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D207E-901D-9CED-D356-B3FE8A7A6907}"/>
              </a:ext>
            </a:extLst>
          </p:cNvPr>
          <p:cNvSpPr>
            <a:spLocks noGrp="1"/>
          </p:cNvSpPr>
          <p:nvPr>
            <p:ph type="title"/>
          </p:nvPr>
        </p:nvSpPr>
        <p:spPr/>
        <p:txBody>
          <a:bodyPr/>
          <a:lstStyle/>
          <a:p>
            <a:r>
              <a:rPr lang="en-US" dirty="0"/>
              <a:t>Agile methods across organizations</a:t>
            </a:r>
            <a:endParaRPr lang="en-ZA" dirty="0"/>
          </a:p>
        </p:txBody>
      </p:sp>
      <p:sp>
        <p:nvSpPr>
          <p:cNvPr id="3" name="Content Placeholder 2">
            <a:extLst>
              <a:ext uri="{FF2B5EF4-FFF2-40B4-BE49-F238E27FC236}">
                <a16:creationId xmlns:a16="http://schemas.microsoft.com/office/drawing/2014/main" id="{7D5B31A1-78E0-D6F6-9A8B-38B599E74A4C}"/>
              </a:ext>
            </a:extLst>
          </p:cNvPr>
          <p:cNvSpPr>
            <a:spLocks noGrp="1"/>
          </p:cNvSpPr>
          <p:nvPr>
            <p:ph idx="1"/>
          </p:nvPr>
        </p:nvSpPr>
        <p:spPr/>
        <p:txBody>
          <a:bodyPr>
            <a:normAutofit fontScale="92500" lnSpcReduction="10000"/>
          </a:bodyPr>
          <a:lstStyle/>
          <a:p>
            <a:r>
              <a:rPr lang="en-GB" sz="2800" dirty="0"/>
              <a:t>Project managers who do not have experience of agile methods may be reluctant to accept the risk of a new approach.</a:t>
            </a:r>
          </a:p>
          <a:p>
            <a:r>
              <a:rPr lang="en-GB" sz="2800" dirty="0"/>
              <a:t>Large organizations often have quality procedures and standards that all projects are expected to follow, and, because of their bureaucratic nature, these are likely to be incompatible with agile methods. </a:t>
            </a:r>
          </a:p>
          <a:p>
            <a:r>
              <a:rPr lang="en-GB" sz="2800" dirty="0"/>
              <a:t>Agile methods seem to work best when team members have a relatively high skill level. However, within large organizations, there are likely to be a wide range of skills and abilities. </a:t>
            </a:r>
          </a:p>
          <a:p>
            <a:r>
              <a:rPr lang="en-GB" sz="2800" dirty="0"/>
              <a:t>There may be cultural resistance to agile methods, especially in those organizations that have a long history of using conventional systems engineering processes.</a:t>
            </a:r>
          </a:p>
          <a:p>
            <a:endParaRPr lang="en-ZA" dirty="0"/>
          </a:p>
        </p:txBody>
      </p:sp>
    </p:spTree>
    <p:extLst>
      <p:ext uri="{BB962C8B-B14F-4D97-AF65-F5344CB8AC3E}">
        <p14:creationId xmlns:p14="http://schemas.microsoft.com/office/powerpoint/2010/main" val="420609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15432</TotalTime>
  <Words>2325</Words>
  <Application>Microsoft Office PowerPoint</Application>
  <PresentationFormat>Widescreen</PresentationFormat>
  <Paragraphs>190</Paragraphs>
  <Slides>42</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42</vt:i4>
      </vt:variant>
    </vt:vector>
  </HeadingPairs>
  <TitlesOfParts>
    <vt:vector size="53" baseType="lpstr">
      <vt:lpstr>Aptos</vt:lpstr>
      <vt:lpstr>Aptos Display</vt:lpstr>
      <vt:lpstr>Arial</vt:lpstr>
      <vt:lpstr>Calibri</vt:lpstr>
      <vt:lpstr>Calibri Light</vt:lpstr>
      <vt:lpstr>Charlie Display</vt:lpstr>
      <vt:lpstr>Google Sans</vt:lpstr>
      <vt:lpstr>Wingdings</vt:lpstr>
      <vt:lpstr>Office Theme</vt:lpstr>
      <vt:lpstr>1_Office Theme</vt:lpstr>
      <vt:lpstr>2_Office Theme</vt:lpstr>
      <vt:lpstr>INFORMATION SYSTEMS 3A  Agile Software Development </vt:lpstr>
      <vt:lpstr>Contents</vt:lpstr>
      <vt:lpstr>Plan-driven and agile development</vt:lpstr>
      <vt:lpstr>Agile software development</vt:lpstr>
      <vt:lpstr>Agile software development</vt:lpstr>
      <vt:lpstr>Agile software development</vt:lpstr>
      <vt:lpstr>Plan-driven and agile development</vt:lpstr>
      <vt:lpstr>Key characteristics of agile process models</vt:lpstr>
      <vt:lpstr>Agile manifesto core values</vt:lpstr>
      <vt:lpstr>The principles of Agile Methods</vt:lpstr>
      <vt:lpstr>Agile method applicability</vt:lpstr>
      <vt:lpstr>Agile development methods techniques</vt:lpstr>
      <vt:lpstr>Extreme programming (XP)</vt:lpstr>
      <vt:lpstr>Extreme programming release cycle</vt:lpstr>
      <vt:lpstr>Extreme programming practices (a)</vt:lpstr>
      <vt:lpstr>Extreme programming practices (b)</vt:lpstr>
      <vt:lpstr>Influential XP practices</vt:lpstr>
      <vt:lpstr>User stories for specification </vt:lpstr>
      <vt:lpstr>A ‘prescribing medication’ story </vt:lpstr>
      <vt:lpstr>Refactoring (Cleaning up the code)</vt:lpstr>
      <vt:lpstr>Examples of refactoring</vt:lpstr>
      <vt:lpstr>Test-first development</vt:lpstr>
      <vt:lpstr>Pair programming</vt:lpstr>
      <vt:lpstr>Scrum </vt:lpstr>
      <vt:lpstr>Roles in Scrum</vt:lpstr>
      <vt:lpstr>The scrum sprint cycle</vt:lpstr>
      <vt:lpstr>Teamwork in Scrum</vt:lpstr>
      <vt:lpstr>Scrum benefits</vt:lpstr>
      <vt:lpstr>Scrum</vt:lpstr>
      <vt:lpstr>Kanban</vt:lpstr>
      <vt:lpstr> What is the difference between a Kanban board and a Kanban card? </vt:lpstr>
      <vt:lpstr>Kanban Methodology</vt:lpstr>
      <vt:lpstr>Four core principles make up the Kanban framework</vt:lpstr>
      <vt:lpstr>Kanban Key practices</vt:lpstr>
      <vt:lpstr>Benefits of the Kanban method</vt:lpstr>
      <vt:lpstr>Scrum Vs Kanban</vt:lpstr>
      <vt:lpstr>Scaling agile methods</vt:lpstr>
      <vt:lpstr>Scaling out and scaling up</vt:lpstr>
      <vt:lpstr>Agile across organizations</vt:lpstr>
      <vt:lpstr>Agile maintenance</vt:lpstr>
      <vt:lpstr>Agile or Plan Driven(How to decide?)</vt:lpstr>
      <vt:lpstr>Agile methods across organizations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Noxolo Pretty Cele</dc:creator>
  <cp:lastModifiedBy>Noxolo Pretty Cele</cp:lastModifiedBy>
  <cp:revision>2</cp:revision>
  <dcterms:created xsi:type="dcterms:W3CDTF">2025-03-08T04:16:07Z</dcterms:created>
  <dcterms:modified xsi:type="dcterms:W3CDTF">2026-05-11T11:49:18Z</dcterms:modified>
</cp:coreProperties>
</file>