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4" r:id="rId3"/>
  </p:sldMasterIdLst>
  <p:notesMasterIdLst>
    <p:notesMasterId r:id="rId40"/>
  </p:notesMasterIdLst>
  <p:sldIdLst>
    <p:sldId id="321" r:id="rId4"/>
    <p:sldId id="257" r:id="rId5"/>
    <p:sldId id="322" r:id="rId6"/>
    <p:sldId id="323" r:id="rId7"/>
    <p:sldId id="324" r:id="rId8"/>
    <p:sldId id="325" r:id="rId9"/>
    <p:sldId id="326" r:id="rId10"/>
    <p:sldId id="327" r:id="rId11"/>
    <p:sldId id="328" r:id="rId12"/>
    <p:sldId id="329" r:id="rId13"/>
    <p:sldId id="330" r:id="rId14"/>
    <p:sldId id="331" r:id="rId15"/>
    <p:sldId id="332" r:id="rId16"/>
    <p:sldId id="333" r:id="rId17"/>
    <p:sldId id="334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2" r:id="rId26"/>
    <p:sldId id="343" r:id="rId27"/>
    <p:sldId id="344" r:id="rId28"/>
    <p:sldId id="345" r:id="rId29"/>
    <p:sldId id="346" r:id="rId30"/>
    <p:sldId id="347" r:id="rId31"/>
    <p:sldId id="348" r:id="rId32"/>
    <p:sldId id="349" r:id="rId33"/>
    <p:sldId id="350" r:id="rId34"/>
    <p:sldId id="351" r:id="rId35"/>
    <p:sldId id="352" r:id="rId36"/>
    <p:sldId id="353" r:id="rId37"/>
    <p:sldId id="354" r:id="rId38"/>
    <p:sldId id="355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83" d="100"/>
          <a:sy n="83" d="100"/>
        </p:scale>
        <p:origin x="435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theme" Target="theme/theme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20" Type="http://schemas.openxmlformats.org/officeDocument/2006/relationships/slide" Target="slides/slide17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xolo Pretty Cele" userId="c0214832-da79-4e77-9892-7642ead81f7d" providerId="ADAL" clId="{38C75C36-08D6-456C-B4B9-DF9254900FEF}"/>
    <pc:docChg chg="delSld">
      <pc:chgData name="Noxolo Pretty Cele" userId="c0214832-da79-4e77-9892-7642ead81f7d" providerId="ADAL" clId="{38C75C36-08D6-456C-B4B9-DF9254900FEF}" dt="2026-04-13T19:09:11.051" v="0" actId="47"/>
      <pc:docMkLst>
        <pc:docMk/>
      </pc:docMkLst>
      <pc:sldChg chg="del">
        <pc:chgData name="Noxolo Pretty Cele" userId="c0214832-da79-4e77-9892-7642ead81f7d" providerId="ADAL" clId="{38C75C36-08D6-456C-B4B9-DF9254900FEF}" dt="2026-04-13T19:09:11.051" v="0" actId="47"/>
        <pc:sldMkLst>
          <pc:docMk/>
          <pc:sldMk cId="1578949473" sldId="35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46C552-F217-41E2-943B-622A670983E3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2294CC-DA76-4742-9F1B-5722A2191DE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989782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 Madamshetty Department of IS</a:t>
            </a:r>
          </a:p>
        </p:txBody>
      </p:sp>
    </p:spTree>
    <p:extLst>
      <p:ext uri="{BB962C8B-B14F-4D97-AF65-F5344CB8AC3E}">
        <p14:creationId xmlns:p14="http://schemas.microsoft.com/office/powerpoint/2010/main" val="1779760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96FFF-D469-85A1-C55E-A6A9F37F77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661E1D-F2E3-BBD9-E95E-23D2A9902F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E95D02-65E5-0387-E230-394AF6BDD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953AF9-A4F3-4AEA-6903-3A1BC92A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84ECB-A06C-831D-24D5-CCA30E512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1530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AE99B-3CF9-7CB2-3AE8-28CF16F71F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F9716F-D9A6-CEB5-4BAE-CB7412FBF4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B47C0D-888D-1850-4213-14A6127E7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A6B28-41E3-D0EE-8638-F261288E3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F5235F-7952-463C-2395-942731B38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0374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FC47C-CFC8-93B3-61F3-F14EF7FDC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59510E-642C-2836-EA84-695D5FDB00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1481B-3385-F5E7-54E7-42CD5A9A6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9D980-E449-D562-1202-6EFFE817C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BDE52E-38E1-A2BC-4174-67D099D34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584255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7554B-0F89-2FC5-9B90-7CEAC424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701CD2-2B4B-1C4F-4139-FB00BE4F25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9B3BC8-FE9E-1D8F-AEE6-BF67255DDB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77D47-8E8A-0BC1-2198-F5B773DE9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47BA72-65A1-4E16-A364-6D7532D88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88AA4-3E48-8273-E2CB-37F177BB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4409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AFABE-9C84-5CB3-7FB4-8077B331F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85649F-590B-AA3C-396C-77C4CDCDD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034597-66EF-7D27-AAC0-F33DF2EB4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58A13D-AD77-132F-0E75-6E6E0997C7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97F2E4-BE04-CC45-DE9C-BC38DA7D60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B2DFF3-3480-F43C-85DC-6861691C6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C70DFBF-C1B7-046E-A7F1-8B1A11BF4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488829-A0E0-7D2A-AC49-3755840B44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37534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4A93B-501A-A03F-D860-9EC542C756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AB606B-A662-D524-F390-7F3EEE5D7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AC390-3D00-4625-F68C-EFAE4E5DC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C45FF5-790D-96C7-9D85-BEC676B3C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32496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634A43-55E1-77CE-B6CE-306569BAE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AFE17C-52F5-6CEC-F206-743A0B8CA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05889-9A6A-3E8F-1678-EBB8713875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5407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51DD4-14AA-A17F-3B4F-2E4DF0A66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200CFF-BB69-3E28-ACF2-5572FB404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9BBC36-A3F3-1E86-4F17-E52517622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F03FE-CB00-BAAB-56C1-7C8FB73867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BD0EC4-18BC-047F-3F5A-DA8DDDAF7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C3E3B2-B3E2-89D0-23DF-6813080CE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70803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474DB-F8AB-BC02-B1D5-F244525F4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0089C4B-6C5E-8A81-E512-39496022F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5D231E-5B96-2AD0-8C96-1F627352F4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48241D-5AE9-8F8D-84A2-D8E8793EC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58C6E-9620-6C0E-E40D-3E557D7CF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C949B2-7A5B-36C8-BE56-082FDCA335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97831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4DC15-57DE-B7C2-D72F-DE03CB96D6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55BC37-9743-B7E5-3758-AFBD489E51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D321D-63A9-0D1E-E0C3-A5E5E80FC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4B0A54-AB0B-DA0C-85F7-B7F345A94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D70E61-19A8-1F86-E691-D088716CC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37882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1088571-6288-598A-6C62-B73FD570DC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9C8EB1-7FC1-B17E-55D6-1337B555E3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74BA2-3B09-D712-A656-E1627B50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68FF-2794-4859-272D-13933E225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3FDB65-F15D-05E1-A1FE-ADBE9A01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749162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259632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3881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517590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661898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475995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66152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510210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2381554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173122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7257986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076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00" y="0"/>
            <a:ext cx="4035902" cy="1341236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905750" y="64475"/>
            <a:ext cx="3826904" cy="198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7717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 + 2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/>
          <p:nvPr/>
        </p:nvSpPr>
        <p:spPr>
          <a:xfrm flipH="1">
            <a:off x="11582400" y="6233133"/>
            <a:ext cx="624800" cy="6248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0" name="Google Shape;30;p6"/>
          <p:cNvSpPr/>
          <p:nvPr/>
        </p:nvSpPr>
        <p:spPr>
          <a:xfrm rot="5400000">
            <a:off x="-133800" y="965980"/>
            <a:ext cx="624800" cy="3572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609600" y="807467"/>
            <a:ext cx="7521200" cy="144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1"/>
          </p:nvPr>
        </p:nvSpPr>
        <p:spPr>
          <a:xfrm>
            <a:off x="609600" y="2661000"/>
            <a:ext cx="3576800" cy="3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body" idx="2"/>
          </p:nvPr>
        </p:nvSpPr>
        <p:spPr>
          <a:xfrm>
            <a:off x="4554104" y="2661000"/>
            <a:ext cx="3576800" cy="357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>
              <a:spcBef>
                <a:spcPts val="800"/>
              </a:spcBef>
              <a:spcAft>
                <a:spcPts val="0"/>
              </a:spcAft>
              <a:buSzPts val="1800"/>
              <a:buChar char="▸"/>
              <a:defRPr sz="2400"/>
            </a:lvl1pPr>
            <a:lvl2pPr marL="1219170" lvl="1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2pPr>
            <a:lvl3pPr marL="1828754" lvl="2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3pPr>
            <a:lvl4pPr marL="2438339" lvl="3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4pPr>
            <a:lvl5pPr marL="3047924" lvl="4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5pPr>
            <a:lvl6pPr marL="3657509" lvl="5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6pPr>
            <a:lvl7pPr marL="4267093" lvl="6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7pPr>
            <a:lvl8pPr marL="4876678" lvl="7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8pPr>
            <a:lvl9pPr marL="5486263" lvl="8" indent="-457189">
              <a:spcBef>
                <a:spcPts val="800"/>
              </a:spcBef>
              <a:spcAft>
                <a:spcPts val="0"/>
              </a:spcAft>
              <a:buSzPts val="1800"/>
              <a:buChar char="▹"/>
              <a:defRPr sz="2400"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sldNum" idx="12"/>
          </p:nvPr>
        </p:nvSpPr>
        <p:spPr>
          <a:xfrm>
            <a:off x="11532033" y="6182333"/>
            <a:ext cx="609200" cy="624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130800" y="-1"/>
            <a:ext cx="4010433" cy="207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965157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8F31D-1C17-E95B-B778-E062E4EC97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F5340B-711B-776E-A971-2695A3416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6E07C6-8A13-F20B-0045-9554B71B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62A6F3-37DD-6A09-E035-F9484F11A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A4305-F6BA-8F13-364B-A552BAA3F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4575227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BBDCE-942B-1797-1EF1-F46DA71D4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27962-4550-29D9-07EF-4BBC18CE0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B9254-4FF5-9EBC-3342-7321824573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98E8B-AF08-236E-443A-01EB89226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6A08CC-3399-E5D2-65CE-6C313A5D0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5732785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2C087-45FA-31EE-5117-3F2275F4A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A4E010-3F88-58AF-618F-8A9975571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F7DDCD-5E15-6987-706D-E3AA4A2D89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7715D7-25B7-844E-B88A-59ADC1F90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8DDEA-27C6-69E7-6C8F-5270359E9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7488849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FA130-C46D-1E48-04C9-327A49A1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56CA45-8DF8-8A8F-64B9-981BDC0C56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66FFF6-AD6F-E0BA-A850-3A1F537F9D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F648FB-58B0-8339-DB6A-0D5B25F5B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8F4605-D08C-8C5C-8FEA-1BD91B69B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928C9F-50DD-E5FE-7559-FC2DA0FA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5221858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A1A7A-84C9-1730-DD9C-C29AD778A5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81D7DE-4B05-CFB2-966A-7FA8B26303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ED2CB2-8092-134A-F2A4-6CFC2ED8E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DB14D9A-5606-BE39-7868-2583AF09AA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56B5A47-BB2C-EAF6-2605-99B7B4B6F0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5E7A8-2ABD-A61C-E42E-133D1F1C6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6EB4CC3-9578-4963-4FA3-D832E9B71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67D8DE-E2E1-CF75-A2E6-B8D1C9BF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9863219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6FD9-C794-49C9-DEC4-9EA23D749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B5A623-43A5-0A4B-2003-CEA16E9714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D4A34A-0725-99A8-C0CD-5FF054C33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89871F-1794-32EA-4D42-347B5166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2572369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04D626-8B51-0D68-51CD-86B7BB519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E95998-FF32-62E5-94F0-9E2908F0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5B1C5D-552A-B0BC-7D9A-FE8D62650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254994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79772-2EEE-5F60-05BE-E8A00E920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9E23D-C65F-5FCE-4F4D-1A4054974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41FFD4-9EDB-71AE-00BD-53F7560C0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7717C4-DB89-AA03-BC85-0DB0F9B52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F5E399-592F-5F4D-E7DD-E6A3A04A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CBC539-E5E5-2929-2548-6225140B2C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0766979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1C584-7EFB-86AF-5466-FA2A33698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F38817-752A-8EB1-E9C4-1654F1404E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1BB71C-90FA-5AED-9258-292C371964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0BF64E-517E-703F-AF08-7FCD0B7E80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D600D-E40D-836D-39F5-2AD070FA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AEFC89-B111-4A7F-17B6-595D933E8C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5313936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F4BB5A-13E0-6AAC-3ECA-B8EDD121BD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D98DC8-CF97-46CF-7D96-5FF4BA7BF5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2BD35-0A26-FCFE-4B48-9B3C14E6B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2E60AF-BF3D-60A1-0D57-FC08A0E701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E9F56A-C0C0-E3A8-BD38-02DE7D237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67963570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BD3F59-8BB8-B695-A411-28A2C50BE9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14C83D-BB17-AA03-5556-D20FD4E80B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5457C8-FDE0-D0F8-D9E6-2ABFD11F9F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92381F-768F-998B-8690-D074355CF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44BA6-77AC-CC0A-F768-BA2B2D8EF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46952367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435100" y="2484800"/>
            <a:ext cx="6616800" cy="1888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 rot="5400000">
            <a:off x="-404500" y="2889207"/>
            <a:ext cx="1888400" cy="1079600"/>
          </a:xfrm>
          <a:prstGeom prst="triangl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98" y="-1"/>
            <a:ext cx="4035902" cy="1906073"/>
          </a:xfrm>
          <a:prstGeom prst="rect">
            <a:avLst/>
          </a:prstGeom>
        </p:spPr>
      </p:pic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ZA"/>
              <a:t>2022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 Madamshetty Department Of IS</a:t>
            </a:r>
            <a:endParaRPr lang="en-ZA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25054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942040E-544E-FDD6-FD91-D18CC55FF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193AE-3E22-A6F3-F189-86C58D4A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28711C-2026-BA40-9285-5E88FA825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F0F84-53EA-4CB6-A36F-F5A0571A4348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8FD690-0992-10E9-8598-6FDFAA3836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911A5-C40A-F6D0-E601-567A873C5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00F9EE-0104-462D-AA5E-0FB7B99A0A5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692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ZA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ZA"/>
              <a:t>2022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L Madamshetty Department Of IS</a:t>
            </a:r>
            <a:endParaRPr lang="en-ZA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3D7A9-CDA1-4732-8CA0-2A470E848275}" type="slidenum">
              <a:rPr lang="en-ZA" smtClean="0"/>
              <a:t>‹#›</a:t>
            </a:fld>
            <a:endParaRPr lang="en-ZA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8153400" y="0"/>
            <a:ext cx="3828620" cy="182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524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151DE2-F462-34F4-9C6C-8FCBF3845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F7F2F9-6732-1190-82CB-4A03F8BF2D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251C9-91A1-71DB-2B8E-2E67F6F738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972153-F511-4A1E-9E49-93E84FE062B7}" type="datetimeFigureOut">
              <a:rPr lang="en-ZA" smtClean="0"/>
              <a:t>2026/04/13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4787C-E5A3-0A30-E448-FE3EC80633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22E16-A899-F607-45B0-B9ECE5C80C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E096D3-983E-4537-ABBF-0D56EE13D15C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48699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2"/>
          <p:cNvSpPr txBox="1">
            <a:spLocks noGrp="1"/>
          </p:cNvSpPr>
          <p:nvPr>
            <p:ph type="ctrTitle"/>
          </p:nvPr>
        </p:nvSpPr>
        <p:spPr>
          <a:xfrm>
            <a:off x="1994490" y="2197806"/>
            <a:ext cx="8524820" cy="3314719"/>
          </a:xfrm>
          <a:prstGeom prst="rect">
            <a:avLst/>
          </a:prstGeom>
        </p:spPr>
        <p:txBody>
          <a:bodyPr spcFirstLastPara="1" vert="horz" wrap="square" lIns="0" tIns="0" rIns="0" bIns="0" rtlCol="0" anchor="ctr" anchorCtr="0">
            <a:noAutofit/>
          </a:bodyPr>
          <a:lstStyle/>
          <a:p>
            <a:pPr lvl="0" algn="ctr"/>
            <a:r>
              <a:rPr lang="en-US" sz="5400" dirty="0">
                <a:latin typeface="+mn-lt"/>
              </a:rPr>
              <a:t>INFORMATION SYSTEMS 3A</a:t>
            </a:r>
            <a:br>
              <a:rPr lang="en-US" sz="5400" dirty="0">
                <a:latin typeface="+mn-lt"/>
              </a:rPr>
            </a:br>
            <a:br>
              <a:rPr lang="en-US" sz="5400" dirty="0">
                <a:latin typeface="+mn-lt"/>
              </a:rPr>
            </a:br>
            <a:r>
              <a:rPr lang="en-US" sz="5400" dirty="0">
                <a:latin typeface="+mn-lt"/>
              </a:rPr>
              <a:t>Current Trends in System Development</a:t>
            </a:r>
            <a:endParaRPr sz="5400" dirty="0">
              <a:latin typeface="+mn-lt"/>
            </a:endParaRP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2025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F03D7A9-CDA1-4732-8CA0-2A470E848275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9542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73674-1EAB-876C-09C2-1B7861DE1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ZA" sz="4000" b="0" i="0" dirty="0">
                <a:effectLst/>
                <a:latin typeface="Arial" panose="020B0604020202020204" pitchFamily="34" charset="0"/>
              </a:rPr>
              <a:t>Contents</a:t>
            </a:r>
            <a:endParaRPr lang="en-ZA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26504-BA5D-5A9E-E9F5-844097D0BE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1558" y="165370"/>
            <a:ext cx="5632314" cy="6342434"/>
          </a:xfrm>
        </p:spPr>
        <p:txBody>
          <a:bodyPr anchor="ctr">
            <a:normAutofit/>
          </a:bodyPr>
          <a:lstStyle/>
          <a:p>
            <a:pPr eaLnBrk="1" hangingPunct="1"/>
            <a:r>
              <a:rPr lang="en-GB" altLang="en-US" sz="1600" dirty="0"/>
              <a:t>Trends in System Development Methodologies</a:t>
            </a:r>
          </a:p>
          <a:p>
            <a:pPr eaLnBrk="1" hangingPunct="1"/>
            <a:r>
              <a:rPr lang="en-GB" altLang="en-US" sz="1600" dirty="0"/>
              <a:t>Trends in Technology Infrastructure</a:t>
            </a:r>
          </a:p>
          <a:p>
            <a:pPr eaLnBrk="1" hangingPunct="1"/>
            <a:r>
              <a:rPr lang="en-GB" altLang="en-US" sz="1600" dirty="0"/>
              <a:t>Trends in Application Software Availability</a:t>
            </a:r>
          </a:p>
          <a:p>
            <a:pPr eaLnBrk="1" hangingPunct="1"/>
            <a:r>
              <a:rPr lang="en-GB" altLang="en-US" sz="1600" dirty="0"/>
              <a:t>The Web as an Application Platform</a:t>
            </a:r>
          </a:p>
        </p:txBody>
      </p:sp>
      <p:pic>
        <p:nvPicPr>
          <p:cNvPr id="5" name="Picture 4" descr="Computer script on a screen">
            <a:extLst>
              <a:ext uri="{FF2B5EF4-FFF2-40B4-BE49-F238E27FC236}">
                <a16:creationId xmlns:a16="http://schemas.microsoft.com/office/drawing/2014/main" id="{C23A5E86-BC10-FA9B-A7F2-A327FE93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4" r="40186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379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32A552-E668-7B5E-7965-3EFFA2298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Three Current Methodologies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50A97-1550-4BD0-DED3-6871B6205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There are many specific system development methodologies used in practice, and this chapter covers three influential ones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The Unified Process (UP)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Extreme Programming (XP)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en-US" sz="2200" dirty="0"/>
              <a:t>Scrum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These methodologies all use an iterative SDLC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The Unified Process uses UML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Extreme Programming and Scrum are based on agile principles, but the Unified Process can also be used in an agile fashion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600" dirty="0"/>
              <a:t>Many organizations mix and match features of each of these when creating their own methodology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8743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0F8D5F-73B8-C257-BED3-428EEBEC9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Unified Process (UP)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46862-1E3F-DF17-5B2B-AA4B82EF82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Originally developed by Booch, Rumbaugh, and Jacobson, who previously developed UML at Rational Software (now part of IBM) 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 UP is now widely recognized as a highly influential innovation in software development methodologies for object-oriented development using an adaptive approach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The original version of UP defined an elaborate set of activities and deliverables for every step of the development process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More recent versions are streamlined, with fewer activities and deliverables, simplifying the methodology</a:t>
            </a:r>
          </a:p>
          <a:p>
            <a:pPr eaLnBrk="1" hangingPunct="1">
              <a:lnSpc>
                <a:spcPct val="80000"/>
              </a:lnSpc>
            </a:pPr>
            <a:r>
              <a:rPr lang="en-US" altLang="en-US" sz="2800" dirty="0"/>
              <a:t>Much of the book’s methodology is loosely based on the Unified Process (in an agile form)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020277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5F605-B6AA-2E66-DB92-A1D4AC921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Unified Process</a:t>
            </a:r>
            <a:br>
              <a:rPr lang="en-US" altLang="en-US" sz="4400" dirty="0"/>
            </a:br>
            <a:r>
              <a:rPr lang="en-US" altLang="en-US" sz="3600" dirty="0"/>
              <a:t>Life Cycle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18431-F3AD-F42D-EC8E-6CE6F81F7D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The Unified Process Life Cycle model includes iterations and phases (the SDLC in this text is very similar, but left out the UP phases for simplicity)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Each UP phase is made up of iterations. The phases are Inception, Elaboration, Construction, and Transition</a:t>
            </a:r>
          </a:p>
          <a:p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7070AA2-697F-AE01-1E2D-B41B707C4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3887" y="4141536"/>
            <a:ext cx="9144793" cy="217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2829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A1AFD-F3D9-3F96-2E80-9232AFF24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Unified Process</a:t>
            </a:r>
            <a:br>
              <a:rPr lang="en-US" altLang="en-US" sz="4400" dirty="0"/>
            </a:br>
            <a:r>
              <a:rPr lang="en-US" altLang="en-US" sz="3600" dirty="0"/>
              <a:t>Disciplines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4915E3-F873-CBA0-943B-A41F6F8A54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400" dirty="0"/>
              <a:t>UP Disciplines – a set of functionally related activities that combine to enable the development process in a UP project (each like a core development process):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Business modeling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Requirements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Design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Implementation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Testing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Deployment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Configuration and change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Project management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200" dirty="0"/>
              <a:t>Environment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241502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ECB35-2862-42A6-C810-93EFD5D80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6000" dirty="0"/>
              <a:t>The Unified Process</a:t>
            </a:r>
            <a:br>
              <a:rPr lang="en-US" altLang="en-US" sz="6000" dirty="0"/>
            </a:br>
            <a:r>
              <a:rPr lang="en-US" altLang="en-US" sz="4400" dirty="0"/>
              <a:t>Disciplines in Each Iteration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D4869A7-293A-9D54-5556-C7F3B96029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976" y="1690688"/>
            <a:ext cx="5418008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5175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D1C7F-20EB-0B50-E26D-CA9BD85BD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5400" dirty="0"/>
              <a:t>The Unified Process</a:t>
            </a:r>
            <a:br>
              <a:rPr lang="en-US" altLang="en-US" sz="5400" dirty="0"/>
            </a:br>
            <a:r>
              <a:rPr lang="en-US" altLang="en-US" sz="4400" dirty="0"/>
              <a:t>Complete UP SDLC Model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86BF7E0-2234-0964-2E2A-75E0A271FDA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4234" y="1840373"/>
            <a:ext cx="5418008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9467301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BEC66-D4B4-0A0D-2F88-B5FC6344B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5400" dirty="0"/>
              <a:t>The Unified Process</a:t>
            </a:r>
            <a:br>
              <a:rPr lang="en-US" altLang="en-US" sz="5400" dirty="0"/>
            </a:br>
            <a:r>
              <a:rPr lang="en-US" altLang="en-US" sz="4400" dirty="0"/>
              <a:t>Philosophies/Practices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01813-585C-2C8E-30DF-7FE3426C2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Focuses early and often on users</a:t>
            </a:r>
          </a:p>
          <a:p>
            <a:pPr eaLnBrk="1" hangingPunct="1"/>
            <a:r>
              <a:rPr lang="en-US" altLang="en-US" dirty="0"/>
              <a:t>Use case driven</a:t>
            </a:r>
          </a:p>
          <a:p>
            <a:pPr eaLnBrk="1" hangingPunct="1"/>
            <a:r>
              <a:rPr lang="en-US" altLang="en-US" dirty="0"/>
              <a:t>Model driven – uses UML exclusively</a:t>
            </a:r>
          </a:p>
          <a:p>
            <a:pPr eaLnBrk="1" hangingPunct="1"/>
            <a:r>
              <a:rPr lang="en-US" altLang="en-US" dirty="0"/>
              <a:t>Iterative, but provides management structure by defining phases</a:t>
            </a:r>
          </a:p>
          <a:p>
            <a:pPr eaLnBrk="1" hangingPunct="1"/>
            <a:r>
              <a:rPr lang="en-US" altLang="en-US" dirty="0"/>
              <a:t>Focuses on defining an architecture</a:t>
            </a:r>
          </a:p>
          <a:p>
            <a:pPr eaLnBrk="1" hangingPunct="1"/>
            <a:r>
              <a:rPr lang="en-US" altLang="en-US" dirty="0"/>
              <a:t>Adaptable to needs of a specific project </a:t>
            </a:r>
          </a:p>
          <a:p>
            <a:pPr eaLnBrk="1" hangingPunct="1"/>
            <a:r>
              <a:rPr lang="en-US" altLang="en-US" dirty="0"/>
              <a:t>Can be made highly agile, but originally had heavy ceremony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549477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4C435-0B4B-B7E3-FC95-E05F183BB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74F73-C6CB-2053-8862-ECF8E36968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One of the original agile development methodologies (perhaps a reaction to the original UP) from Kent Beck</a:t>
            </a:r>
          </a:p>
          <a:p>
            <a:pPr eaLnBrk="1" hangingPunct="1"/>
            <a:r>
              <a:rPr lang="en-US" altLang="en-US" sz="2600" dirty="0"/>
              <a:t>“Extreme” often thought to be radical, but really just focuses intently on industry best practices and combines best practices in new ways</a:t>
            </a:r>
          </a:p>
          <a:p>
            <a:pPr eaLnBrk="1" hangingPunct="1"/>
            <a:r>
              <a:rPr lang="en-US" altLang="en-US" sz="2600" dirty="0"/>
              <a:t>XP is based on core values</a:t>
            </a:r>
          </a:p>
          <a:p>
            <a:pPr lvl="1" eaLnBrk="1" hangingPunct="1"/>
            <a:r>
              <a:rPr lang="en-US" altLang="en-US" sz="2000" dirty="0"/>
              <a:t>Communication</a:t>
            </a:r>
          </a:p>
          <a:p>
            <a:pPr lvl="1" eaLnBrk="1" hangingPunct="1"/>
            <a:r>
              <a:rPr lang="en-US" altLang="en-US" sz="2000" dirty="0"/>
              <a:t>Simplicity</a:t>
            </a:r>
          </a:p>
          <a:p>
            <a:pPr lvl="1" eaLnBrk="1" hangingPunct="1"/>
            <a:r>
              <a:rPr lang="en-US" altLang="en-US" sz="2000" dirty="0"/>
              <a:t>Feedback</a:t>
            </a:r>
          </a:p>
          <a:p>
            <a:pPr lvl="1" eaLnBrk="1" hangingPunct="1"/>
            <a:r>
              <a:rPr lang="en-US" altLang="en-US" sz="2000" dirty="0"/>
              <a:t>Courage</a:t>
            </a:r>
          </a:p>
          <a:p>
            <a:pPr eaLnBrk="1" hangingPunct="1"/>
            <a:r>
              <a:rPr lang="en-US" altLang="en-US" sz="2400" dirty="0"/>
              <a:t>XP also defines a set of XP practices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7979926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C31E9-6CC7-3C79-FA69-EDF1260BA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br>
              <a:rPr lang="en-US" altLang="en-US" sz="4400" dirty="0"/>
            </a:br>
            <a:r>
              <a:rPr lang="en-US" altLang="en-US" sz="3600" dirty="0"/>
              <a:t>Core Values and Practices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048866-63AB-50D5-327B-7C9D660A8C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2596" y="2068694"/>
            <a:ext cx="8766808" cy="386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97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2C4B1A-B375-A45E-12AA-FBA319CC82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br>
              <a:rPr lang="en-US" altLang="en-US" sz="4400" dirty="0"/>
            </a:br>
            <a:r>
              <a:rPr lang="en-US" altLang="en-US" sz="3600" dirty="0"/>
              <a:t>Core Values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D75036-DF99-D877-4FD3-D9F52ECD92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Communication—one of the major causes of project failure is a lack of open communication among the right players at the right time and at the right level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Simplicity—XP includes techniques to reinforce keeping things simple to make it a standard way of developing systems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Feedback—as with simplicity, getting frequent, meaningful feedback is recognized as a best practice of software development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Courage—developers always need courage to face the harsh choice of doing things right or throwing away bad code and starting over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366365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58291B-FFE9-2F37-BEC6-B802CE76F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br>
              <a:rPr lang="en-US" altLang="en-US" sz="4400" dirty="0"/>
            </a:br>
            <a:r>
              <a:rPr lang="en-US" altLang="en-US" sz="3600" dirty="0"/>
              <a:t>XP Practices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23D3EB-BE67-E1A6-9D38-487631535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Planning—XP planning focuses on making a rough plan quickly and then refining it as things become clearer. This reflects the Agile development philosophical dictum that change is more important than detailed plans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Testing—XP intensifies testing by requiring that the tests for each use case (story) be written first—before the solution is programmed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 Programming—XP practice in which two programmers work together on designing, coding, and testing software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Simple Designs—XP conforms to the principles of Agile Modeling. It  accomplishes the desired result with as few classes and methods as possible and that doesn’t duplicate code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115981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65DEE-0155-5C0A-2DEF-C1A7D982B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br>
              <a:rPr lang="en-US" altLang="en-US" sz="4400" dirty="0"/>
            </a:br>
            <a:r>
              <a:rPr lang="en-US" altLang="en-US" sz="3600" dirty="0"/>
              <a:t>XP Practices (continued)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7A71A-2467-ADFB-DD97-1F8575FB8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Refactoring the Code— refactoring is the technique of improving the code without changing what it does. XP programmers continually refactor their code to achieve a simpler design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Owning the Code Collectively —in XP, everyone is responsible for the code. Collective ownership allows anyone to modify any piece of code.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Continuous Integration —this practice embodies XP’s idea of “growing” the software. Small pieces of code—which have passed the unit tests—are integrated into the system daily or even more often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On-Site Customer —as with all adaptive approaches, XP projects require continual involvement of users who can make business decisions about functionality and scope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19450529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2CE82-0B1F-37BA-C76F-22C5BC81B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Extreme Programming (XP)</a:t>
            </a:r>
            <a:br>
              <a:rPr lang="en-US" altLang="en-US" sz="4400" dirty="0"/>
            </a:br>
            <a:r>
              <a:rPr lang="en-US" altLang="en-US" sz="3600" dirty="0"/>
              <a:t>XP Practices (continued)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1052BD-D4AF-A9E9-D9B6-E1BA7ADD54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System Metaphor —a system metaphor should be easily understood and well known to the members of the development team. It can guide members toward a vision and help them understand the system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Small Releases —consistent with the entire philosophy of growing the software, small and frequent releases provide upgraded solutions to the users and keep them involved in the project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Forty-Hour Week — the exact number of hours a developer works isn’t the issue. The issue is that the project shouldn’t be a death march that burns out every member of the team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Coding Standards —developers should follow standards for coding and documentation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5260438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C0FC8-99A9-6A47-22E5-7947A7F23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XP Activities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7907D2-8E6E-3E51-7F1D-16FDA517A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dirty="0"/>
              <a:t>Project Activities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Release Activities</a:t>
            </a:r>
            <a:br>
              <a:rPr lang="en-US" altLang="en-US" sz="2800" dirty="0"/>
            </a:br>
            <a:br>
              <a:rPr lang="en-US" altLang="en-US" sz="2800" dirty="0"/>
            </a:br>
            <a:r>
              <a:rPr lang="en-US" altLang="en-US" sz="2800" dirty="0"/>
              <a:t>Iteration Activities</a:t>
            </a:r>
            <a:endParaRPr lang="en-ZA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AE739-C6CD-2564-79E2-8BBE89D869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1903" y="681037"/>
            <a:ext cx="6248942" cy="578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0904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7ECEBF-FE94-C11C-4B2A-D93C4D978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Scrum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62D2C-99DB-ECCE-E945-B0962C908E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Another influential agile, iterative development methodology based on ideas from Rugby </a:t>
            </a:r>
          </a:p>
          <a:p>
            <a:pPr eaLnBrk="1" hangingPunct="1"/>
            <a:r>
              <a:rPr lang="en-US" altLang="en-US" sz="2800" dirty="0"/>
              <a:t>A Scrum is used to get a ball back into play after a penalty--it begins quickly, is a very intense effort, involves the entire team, and usually only lasts for a short duration</a:t>
            </a:r>
          </a:p>
          <a:p>
            <a:pPr eaLnBrk="1" hangingPunct="1"/>
            <a:r>
              <a:rPr lang="en-US" altLang="en-US" sz="2800" dirty="0"/>
              <a:t>Scrum philosophy is the complete control a team exerts over its own organization and its work processes. Software is developed incrementally, and controls are imposed empirically—by focusing on things that can be accomplished.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335155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4A04FE-23BE-7A83-B468-E82B79874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Scrum Organization 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86E61-ABB5-46FE-90C9-33D7EBB28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Product backlog – a prioritized list of user requirements used to choose work to be done in a Scrum project</a:t>
            </a:r>
          </a:p>
          <a:p>
            <a:pPr lvl="1" eaLnBrk="1" hangingPunct="1"/>
            <a:r>
              <a:rPr lang="en-US" altLang="en-US" sz="2200" dirty="0"/>
              <a:t>Only a few of the high-priority items are worked on at a time</a:t>
            </a:r>
          </a:p>
          <a:p>
            <a:pPr eaLnBrk="1" hangingPunct="1"/>
            <a:r>
              <a:rPr lang="en-US" altLang="en-US" sz="2600" dirty="0"/>
              <a:t>Product owner – the client stakeholder for whom the system is being built</a:t>
            </a:r>
          </a:p>
          <a:p>
            <a:pPr lvl="1" eaLnBrk="1" hangingPunct="1"/>
            <a:r>
              <a:rPr lang="en-US" altLang="en-US" sz="2200" dirty="0"/>
              <a:t>Responsible for project backlog and priorities</a:t>
            </a:r>
          </a:p>
          <a:p>
            <a:pPr eaLnBrk="1" hangingPunct="1"/>
            <a:r>
              <a:rPr lang="en-US" altLang="en-US" sz="2600" dirty="0"/>
              <a:t>Scrum master – the person in charge of a Scrum project—similar to a project manager</a:t>
            </a:r>
          </a:p>
          <a:p>
            <a:pPr eaLnBrk="1" hangingPunct="1"/>
            <a:r>
              <a:rPr lang="en-US" altLang="en-US" sz="2600" dirty="0"/>
              <a:t>Scrum team is usually 5 to 9 people</a:t>
            </a:r>
          </a:p>
          <a:p>
            <a:pPr eaLnBrk="1" hangingPunct="1"/>
            <a:r>
              <a:rPr lang="en-US" altLang="en-US" sz="2600" dirty="0"/>
              <a:t>Scrum team sets own goals, organizes self, makes decisions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502602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D0C16-DDB0-2053-41E6-A407FB13C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Scrum Practices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867A7B-5641-59D9-81B3-474FCF379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Sprint – a time-controlled mini-project that implements a specific portion of a system</a:t>
            </a:r>
          </a:p>
          <a:p>
            <a:pPr lvl="1" eaLnBrk="1" hangingPunct="1"/>
            <a:r>
              <a:rPr lang="en-US" altLang="en-US" sz="2200" dirty="0"/>
              <a:t>Firm 30 day time box with specific goal or deliverable</a:t>
            </a:r>
          </a:p>
          <a:p>
            <a:pPr lvl="1" eaLnBrk="1" hangingPunct="1"/>
            <a:r>
              <a:rPr lang="en-US" altLang="en-US" sz="2200" dirty="0"/>
              <a:t>The scope of that sprint is then frozen, and no one can change it—neither the product owner nor any other users</a:t>
            </a:r>
          </a:p>
          <a:p>
            <a:pPr lvl="2" eaLnBrk="1" hangingPunct="1"/>
            <a:r>
              <a:rPr lang="en-US" altLang="en-US" sz="2100" dirty="0"/>
              <a:t>Sprint backlog defines the scope</a:t>
            </a:r>
          </a:p>
          <a:p>
            <a:pPr eaLnBrk="1" hangingPunct="1"/>
            <a:r>
              <a:rPr lang="en-US" altLang="en-US" sz="2600" dirty="0"/>
              <a:t>Daily Scrum – a daily meeting of all members of the team to report progress (15 minutes max)</a:t>
            </a:r>
          </a:p>
          <a:p>
            <a:pPr eaLnBrk="1" hangingPunct="1"/>
            <a:r>
              <a:rPr lang="en-US" altLang="en-US" sz="2600" dirty="0"/>
              <a:t>Sprint final half-day review meeting – scheduled to review and identify changes needed for the following sprints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7341010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E2DDFA-56C6-2C08-DC45-55188BFB7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Scrum Development Process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53E5735B-C0CA-4ACD-D84B-02709DCD1A2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2225" y="2054298"/>
            <a:ext cx="11327549" cy="42761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0948424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CCE4AB-6457-0E3B-A1AA-A140D46B2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Trends in Technology </a:t>
            </a:r>
            <a:br>
              <a:rPr lang="en-US" altLang="en-US" sz="4400" dirty="0"/>
            </a:br>
            <a:r>
              <a:rPr lang="en-US" altLang="en-US" sz="4400" dirty="0"/>
              <a:t>Infrastructure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DC9B2-EB48-34CB-728C-C3DAEF0E5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New Client Computing Devices and Applications –Small, mobile, connected</a:t>
            </a:r>
          </a:p>
          <a:p>
            <a:pPr lvl="1" eaLnBrk="1" hangingPunct="1"/>
            <a:r>
              <a:rPr lang="en-US" altLang="en-US" dirty="0"/>
              <a:t>Device-top application – a computer application that is built to execute on a local device without requiring a client/server connection</a:t>
            </a:r>
          </a:p>
          <a:p>
            <a:pPr lvl="1" eaLnBrk="1" hangingPunct="1"/>
            <a:r>
              <a:rPr lang="en-US" altLang="en-US" dirty="0"/>
              <a:t>Free-standing Internet application –a client/server application that is self-contained and doesn’t require the use of a Web browser</a:t>
            </a:r>
          </a:p>
          <a:p>
            <a:pPr lvl="1" eaLnBrk="1" hangingPunct="1"/>
            <a:r>
              <a:rPr lang="en-US" altLang="en-US" dirty="0"/>
              <a:t>Browser-based application –a client/server application that executes locally within the control of a Web browser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4886824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F07DF-64BA-AA3D-F427-9FFB80F58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Trends in Technology </a:t>
            </a:r>
            <a:br>
              <a:rPr lang="en-US" altLang="en-US" sz="4400" dirty="0"/>
            </a:br>
            <a:r>
              <a:rPr lang="en-US" altLang="en-US" sz="4400" dirty="0"/>
              <a:t>Infrastructure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A204E-029C-5CA5-F7A1-300A6E099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Internet and Telephone Communications</a:t>
            </a:r>
          </a:p>
          <a:p>
            <a:pPr lvl="1" eaLnBrk="1" hangingPunct="1"/>
            <a:r>
              <a:rPr lang="en-US" altLang="en-US" dirty="0"/>
              <a:t>Internet, the telephone, and television are merging</a:t>
            </a:r>
          </a:p>
          <a:p>
            <a:pPr lvl="1" eaLnBrk="1" hangingPunct="1"/>
            <a:r>
              <a:rPr lang="en-US" altLang="en-US" dirty="0"/>
              <a:t>Long-distance telephone communication and long-distance Internet communication have very similar requirements and capability</a:t>
            </a:r>
          </a:p>
          <a:p>
            <a:pPr lvl="1" eaLnBrk="1" hangingPunct="1"/>
            <a:r>
              <a:rPr lang="en-US" altLang="en-US" dirty="0"/>
              <a:t>Internet backbone – the primary data routes between large, strategically interconnected networks and routers on the Internet</a:t>
            </a:r>
          </a:p>
          <a:p>
            <a:pPr lvl="1" eaLnBrk="1" hangingPunct="1"/>
            <a:r>
              <a:rPr lang="en-US" altLang="en-US" dirty="0"/>
              <a:t>Last mile – the final leg that delivers connectivity from the Internet network to the customer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996811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05910-EC80-A4E1-0F47-376183A7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Trends in Technology </a:t>
            </a:r>
            <a:br>
              <a:rPr lang="en-US" altLang="en-US" sz="4400" dirty="0"/>
            </a:br>
            <a:r>
              <a:rPr lang="en-US" altLang="en-US" sz="4400" dirty="0"/>
              <a:t>Infrastructure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B0ACF-2080-9071-42D4-7784A92DC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600" dirty="0"/>
              <a:t>Back-End Computing –the server computers that provide the content—dynamic and static—for all applications that access servers through the Internet</a:t>
            </a:r>
          </a:p>
          <a:p>
            <a:pPr lvl="1" eaLnBrk="1" hangingPunct="1"/>
            <a:r>
              <a:rPr lang="en-US" altLang="en-US" sz="2200" dirty="0"/>
              <a:t>As more and more client computers try to access a particular application, the workloads on the servers becomes incredibly heavy</a:t>
            </a:r>
          </a:p>
          <a:p>
            <a:pPr lvl="1" eaLnBrk="1" hangingPunct="1"/>
            <a:r>
              <a:rPr lang="en-US" altLang="en-US" sz="2200" dirty="0"/>
              <a:t>Several factors are driving the need for large back-end computing services</a:t>
            </a:r>
          </a:p>
          <a:p>
            <a:pPr lvl="2" eaLnBrk="1" hangingPunct="1"/>
            <a:r>
              <a:rPr lang="en-US" altLang="en-US" dirty="0"/>
              <a:t>Trend toward continuous connectivity to the Internet</a:t>
            </a:r>
          </a:p>
          <a:p>
            <a:pPr lvl="2" eaLnBrk="1" hangingPunct="1"/>
            <a:r>
              <a:rPr lang="en-US" altLang="en-US" dirty="0"/>
              <a:t>Massive amount of data stored—many applications in the world of commerce keep a history of all the transactions that occur</a:t>
            </a:r>
          </a:p>
          <a:p>
            <a:pPr lvl="2" eaLnBrk="1" hangingPunct="1"/>
            <a:r>
              <a:rPr lang="en-US" altLang="en-US" dirty="0"/>
              <a:t>The consolidation of processing in central locations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953967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561798-0812-104E-F049-12B2D49E97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4800" dirty="0"/>
              <a:t>D</a:t>
            </a:r>
            <a:r>
              <a:rPr lang="en-US" altLang="en-US" sz="4400" dirty="0"/>
              <a:t>ata and programs are off the PC and back in massive data centers</a:t>
            </a:r>
            <a:endParaRPr lang="en-ZA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333B16B-3C7E-C5B5-DAFB-A0919CBD1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77232" y="1825625"/>
            <a:ext cx="6637536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103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88DDD-1382-6FB6-62AA-8B040D9B2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Trends in Application Software </a:t>
            </a:r>
            <a:br>
              <a:rPr lang="en-US" altLang="en-US" sz="4400" dirty="0"/>
            </a:br>
            <a:r>
              <a:rPr lang="en-US" altLang="en-US" sz="4400" dirty="0"/>
              <a:t>Availability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31B2C-E5B1-1AE2-F319-14DECC98F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Software as a service (SAAS) – a software delivery model similar to a utility, in which the application and its associated data are accessed via the Internet without locally installed programs</a:t>
            </a:r>
          </a:p>
          <a:p>
            <a:pPr eaLnBrk="1" hangingPunct="1"/>
            <a:r>
              <a:rPr lang="en-US" altLang="en-US" dirty="0"/>
              <a:t>Open-source software – a method of developing, delivering, and licensing software that makes the application source code freely available to any interested developer or client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645889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C1D48F-DB6C-F03D-633F-25EDCFB01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7063721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Owning Software vs. SAAS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EDBB4771-F835-0DDF-CD6F-52667915C06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638736" y="1966293"/>
            <a:ext cx="6914527" cy="44521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025547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6E242C-44C9-7C33-FE1C-BCD22B3D7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40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Open Source Software Applications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67C4EE4-542A-B75A-5EEA-17DB6088EA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8622" y="467208"/>
            <a:ext cx="5553360" cy="592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37492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143906-0082-BA5B-9158-068845FC63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Web as an Application Platform – The Evolution</a:t>
            </a:r>
            <a:endParaRPr lang="en-ZA" dirty="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AC67429-3343-BA2E-1D5E-EC90E7E281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2225" y="1825625"/>
            <a:ext cx="5967549" cy="4351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25767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8342C-1539-F211-A3E1-56ADD0E75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Web as an Application Platform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B90F9D-B62E-A7C0-5628-91E5E0D91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Web 2.0 – a loosely defined, nonstandard term used to refer to Web sites that permit user-generated content and user interaction, such as social networking sites</a:t>
            </a:r>
          </a:p>
          <a:p>
            <a:pPr eaLnBrk="1" hangingPunct="1"/>
            <a:r>
              <a:rPr lang="en-US" altLang="en-US" sz="2800" dirty="0"/>
              <a:t>Plug-ins – a software component that adds specific capabilities to a larger software application</a:t>
            </a:r>
          </a:p>
          <a:p>
            <a:pPr eaLnBrk="1" hangingPunct="1"/>
            <a:r>
              <a:rPr lang="en-US" altLang="en-US" sz="2800" dirty="0"/>
              <a:t>Widget – a type of plug-in that focuses on enhancing the user interface with additional capability (also called gadget)</a:t>
            </a:r>
          </a:p>
          <a:p>
            <a:pPr eaLnBrk="1" hangingPunct="1"/>
            <a:r>
              <a:rPr lang="en-US" altLang="en-US" sz="2800" dirty="0"/>
              <a:t>Theme – a type of add-on to an application that allows the look and feel, such as colors and layout, to be changed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333258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25BBC-78C8-433A-E94D-E80BBD83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Plug-ins </a:t>
            </a:r>
            <a:b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for WordPress Blog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9C54C48-3DA7-7447-1A2E-CBE8D66F13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1107728"/>
            <a:ext cx="7225748" cy="4642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5068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665715-DE67-4B4E-EA56-72088E5265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41" y="2767106"/>
            <a:ext cx="2880828" cy="307190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alt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Sample Google Web Page Gadgets</a:t>
            </a:r>
            <a:endParaRPr lang="en-US" sz="4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E2525C0-1B33-2DC7-245B-D5D7446899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2428" y="963214"/>
            <a:ext cx="7225748" cy="493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2774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1C36A-5EC4-D730-F31B-EE21367B5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The Web as an Application Platform </a:t>
            </a:r>
            <a:r>
              <a:rPr lang="en-US" altLang="en-US" sz="3200" dirty="0"/>
              <a:t>(continued)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B214B-6619-C4B5-6E9B-D67BF2D18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Toolbar – a type of add-on usually comprised of iconic menu items that access the capabilities of the application or plug-ins in a user-friendly fashion</a:t>
            </a:r>
          </a:p>
          <a:p>
            <a:pPr eaLnBrk="1" hangingPunct="1"/>
            <a:r>
              <a:rPr lang="en-US" altLang="en-US" sz="2800" dirty="0"/>
              <a:t>Web mini-app – a software application that provides a complete set of functions but that must be executed within the confines of another application</a:t>
            </a:r>
          </a:p>
          <a:p>
            <a:pPr eaLnBrk="1" hangingPunct="1"/>
            <a:r>
              <a:rPr lang="en-US" altLang="en-US" sz="2800" dirty="0"/>
              <a:t>Mashup – a type of Web site that combines the functionality of several other Web sites through the use of predefined APIs</a:t>
            </a:r>
          </a:p>
          <a:p>
            <a:pPr eaLnBrk="1" hangingPunct="1"/>
            <a:r>
              <a:rPr lang="en-US" altLang="en-US" sz="2800" dirty="0"/>
              <a:t>Rich Internet Applications (RIAs) –a type of Web site that provides active user interaction as well as delivers rich multimedia</a:t>
            </a:r>
          </a:p>
          <a:p>
            <a:endParaRPr lang="en-ZA" dirty="0"/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034088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E5384A55-D87D-CB3E-6158-B916939D41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6245" r="1" b="1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B01FAA-3246-99CC-B4AC-55A83F73BC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</a:rPr>
              <a:t>Mashup of Several APIs to Create a Dashboard Page</a:t>
            </a: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753249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697B5D1-8169-5FCE-FCDA-79E27AA83A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9508" r="2" b="2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2BDE7D-D53E-C384-3E4F-FFA18E1A9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</a:rPr>
              <a:t>Rich Internet Application (RIA)</a:t>
            </a: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539011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203DE33-2CD4-4CA8-9AF3-37C3B6513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AF57B88-1D4C-41FA-A761-EC1DD10C3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11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2548F45-5164-4ABB-8212-7F293FDED8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9565" y="2659404"/>
            <a:ext cx="4355594" cy="404074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41A955B-3B31-037B-D6CC-924BD4D4B9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4908" r="10536" b="1"/>
          <a:stretch/>
        </p:blipFill>
        <p:spPr>
          <a:xfrm>
            <a:off x="4038599" y="10"/>
            <a:ext cx="8160026" cy="6875809"/>
          </a:xfrm>
          <a:prstGeom prst="rect">
            <a:avLst/>
          </a:prstGeom>
        </p:spPr>
      </p:pic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E81CCFB-7BEF-4186-86FB-D09450B4D0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C7D4A-B200-C3E5-5119-896342C9C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473" y="2950387"/>
            <a:ext cx="3052293" cy="3531403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en-US" altLang="en-US" sz="4000">
                <a:solidFill>
                  <a:srgbClr val="FFFFFF"/>
                </a:solidFill>
              </a:rPr>
              <a:t>Rich Internet Application (RIA)</a:t>
            </a:r>
            <a:endParaRPr lang="en-US" sz="4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646196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A4AE7-C904-250C-1D9C-7836E921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Rich Internet Applications (RIAs)</a:t>
            </a:r>
            <a:endParaRPr lang="en-ZA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36772-8D42-9C03-6B36-042F49AC5F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JavaScript and Ajax Libraries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 facto standard for adding desktop-like computing within browsers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ICEFaces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and JavaFX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Open-source framework that provides Java language APIs to build and deploy server-based RIAs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Adobe Flash Platform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Best known as a multimedia platform for animation and interactivity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 Silverlight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Microsoft’s Windows Communication Foundation (WCF) .NET RIA Services to support the development and deployment of RIAs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HTML5 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New HTML specification that standardizes RIA specifications for built-in browser delivery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0050765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1872</Words>
  <Application>Microsoft Office PowerPoint</Application>
  <PresentationFormat>Widescreen</PresentationFormat>
  <Paragraphs>152</Paragraphs>
  <Slides>36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36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2_Office Theme</vt:lpstr>
      <vt:lpstr>INFORMATION SYSTEMS 3A  Current Trends in System Development</vt:lpstr>
      <vt:lpstr>Contents</vt:lpstr>
      <vt:lpstr>Three Current Methodologies</vt:lpstr>
      <vt:lpstr>The Unified Process (UP)</vt:lpstr>
      <vt:lpstr>The Unified Process Life Cycle</vt:lpstr>
      <vt:lpstr>The Unified Process Disciplines</vt:lpstr>
      <vt:lpstr>The Unified Process Disciplines in Each Iteration</vt:lpstr>
      <vt:lpstr>The Unified Process Complete UP SDLC Model</vt:lpstr>
      <vt:lpstr>The Unified Process Philosophies/Practices</vt:lpstr>
      <vt:lpstr>Extreme Programming (XP)</vt:lpstr>
      <vt:lpstr>Extreme Programming (XP) Core Values and Practices</vt:lpstr>
      <vt:lpstr>Extreme Programming (XP) Core Values</vt:lpstr>
      <vt:lpstr>Extreme Programming (XP) XP Practices</vt:lpstr>
      <vt:lpstr>Extreme Programming (XP) XP Practices (continued)</vt:lpstr>
      <vt:lpstr>Extreme Programming (XP) XP Practices (continued)</vt:lpstr>
      <vt:lpstr>XP Activities</vt:lpstr>
      <vt:lpstr>Scrum</vt:lpstr>
      <vt:lpstr>Scrum Organization </vt:lpstr>
      <vt:lpstr>Scrum Practices</vt:lpstr>
      <vt:lpstr>Scrum Development Process</vt:lpstr>
      <vt:lpstr>Trends in Technology  Infrastructure</vt:lpstr>
      <vt:lpstr>Trends in Technology  Infrastructure</vt:lpstr>
      <vt:lpstr>Trends in Technology  Infrastructure</vt:lpstr>
      <vt:lpstr>Data and programs are off the PC and back in massive data centers</vt:lpstr>
      <vt:lpstr>Trends in Application Software  Availability</vt:lpstr>
      <vt:lpstr>Owning Software vs. SAAS</vt:lpstr>
      <vt:lpstr>Open Source Software Applications</vt:lpstr>
      <vt:lpstr>The Web as an Application Platform – The Evolution</vt:lpstr>
      <vt:lpstr>The Web as an Application Platform</vt:lpstr>
      <vt:lpstr>Sample Plug-ins  for WordPress Blog</vt:lpstr>
      <vt:lpstr>Sample Google Web Page Gadgets</vt:lpstr>
      <vt:lpstr>The Web as an Application Platform (continued)</vt:lpstr>
      <vt:lpstr>Mashup of Several APIs to Create a Dashboard Page</vt:lpstr>
      <vt:lpstr>Rich Internet Application (RIA)</vt:lpstr>
      <vt:lpstr>Rich Internet Application (RIA)</vt:lpstr>
      <vt:lpstr>Rich Internet Applications (RIAs)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Noxolo Pretty Cele</dc:creator>
  <cp:lastModifiedBy>Noxolo Pretty Cele</cp:lastModifiedBy>
  <cp:revision>1</cp:revision>
  <dcterms:created xsi:type="dcterms:W3CDTF">2025-04-21T05:47:43Z</dcterms:created>
  <dcterms:modified xsi:type="dcterms:W3CDTF">2026-04-13T19:09:20Z</dcterms:modified>
</cp:coreProperties>
</file>