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21"/>
  </p:notesMasterIdLst>
  <p:sldIdLst>
    <p:sldId id="321" r:id="rId3"/>
    <p:sldId id="257" r:id="rId4"/>
    <p:sldId id="322" r:id="rId5"/>
    <p:sldId id="323" r:id="rId6"/>
    <p:sldId id="324" r:id="rId7"/>
    <p:sldId id="325" r:id="rId8"/>
    <p:sldId id="339" r:id="rId9"/>
    <p:sldId id="326" r:id="rId10"/>
    <p:sldId id="334" r:id="rId11"/>
    <p:sldId id="327" r:id="rId12"/>
    <p:sldId id="328" r:id="rId13"/>
    <p:sldId id="329" r:id="rId14"/>
    <p:sldId id="335" r:id="rId15"/>
    <p:sldId id="337" r:id="rId16"/>
    <p:sldId id="338" r:id="rId17"/>
    <p:sldId id="330" r:id="rId18"/>
    <p:sldId id="331" r:id="rId19"/>
    <p:sldId id="33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756F73-7A6C-4ECB-A436-374C610BD983}" v="2" dt="2026-02-18T04:35:14.8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xolo Pretty Cele" userId="c0214832-da79-4e77-9892-7642ead81f7d" providerId="ADAL" clId="{38C75C36-08D6-456C-B4B9-DF9254900FEF}"/>
    <pc:docChg chg="custSel modSld sldOrd">
      <pc:chgData name="Noxolo Pretty Cele" userId="c0214832-da79-4e77-9892-7642ead81f7d" providerId="ADAL" clId="{38C75C36-08D6-456C-B4B9-DF9254900FEF}" dt="2026-02-18T04:36:25.695" v="21"/>
      <pc:docMkLst>
        <pc:docMk/>
      </pc:docMkLst>
      <pc:sldChg chg="modSp mod">
        <pc:chgData name="Noxolo Pretty Cele" userId="c0214832-da79-4e77-9892-7642ead81f7d" providerId="ADAL" clId="{38C75C36-08D6-456C-B4B9-DF9254900FEF}" dt="2026-02-18T04:35:28.452" v="19" actId="14100"/>
        <pc:sldMkLst>
          <pc:docMk/>
          <pc:sldMk cId="2902379180" sldId="257"/>
        </pc:sldMkLst>
        <pc:spChg chg="mod">
          <ac:chgData name="Noxolo Pretty Cele" userId="c0214832-da79-4e77-9892-7642ead81f7d" providerId="ADAL" clId="{38C75C36-08D6-456C-B4B9-DF9254900FEF}" dt="2026-02-18T04:35:28.452" v="19" actId="14100"/>
          <ac:spMkLst>
            <pc:docMk/>
            <pc:sldMk cId="2902379180" sldId="257"/>
            <ac:spMk id="2" creationId="{94F73674-1EAB-876C-09C2-1B7861DE1AD0}"/>
          </ac:spMkLst>
        </pc:spChg>
        <pc:spChg chg="mod">
          <ac:chgData name="Noxolo Pretty Cele" userId="c0214832-da79-4e77-9892-7642ead81f7d" providerId="ADAL" clId="{38C75C36-08D6-456C-B4B9-DF9254900FEF}" dt="2026-02-18T04:35:21.827" v="18" actId="108"/>
          <ac:spMkLst>
            <pc:docMk/>
            <pc:sldMk cId="2902379180" sldId="257"/>
            <ac:spMk id="3" creationId="{8ED26504-BA5D-5A9E-E9F5-844097D0BEFE}"/>
          </ac:spMkLst>
        </pc:spChg>
      </pc:sldChg>
      <pc:sldChg chg="delSp modSp mod">
        <pc:chgData name="Noxolo Pretty Cele" userId="c0214832-da79-4e77-9892-7642ead81f7d" providerId="ADAL" clId="{38C75C36-08D6-456C-B4B9-DF9254900FEF}" dt="2026-02-18T04:13:41.857" v="6" actId="20577"/>
        <pc:sldMkLst>
          <pc:docMk/>
          <pc:sldMk cId="75954246" sldId="321"/>
        </pc:sldMkLst>
        <pc:spChg chg="mod">
          <ac:chgData name="Noxolo Pretty Cele" userId="c0214832-da79-4e77-9892-7642ead81f7d" providerId="ADAL" clId="{38C75C36-08D6-456C-B4B9-DF9254900FEF}" dt="2026-02-18T04:13:41.857" v="6" actId="20577"/>
          <ac:spMkLst>
            <pc:docMk/>
            <pc:sldMk cId="75954246" sldId="321"/>
            <ac:spMk id="2" creationId="{00000000-0000-0000-0000-000000000000}"/>
          </ac:spMkLst>
        </pc:spChg>
        <pc:spChg chg="del mod">
          <ac:chgData name="Noxolo Pretty Cele" userId="c0214832-da79-4e77-9892-7642ead81f7d" providerId="ADAL" clId="{38C75C36-08D6-456C-B4B9-DF9254900FEF}" dt="2026-02-18T04:13:35.106" v="1" actId="21"/>
          <ac:spMkLst>
            <pc:docMk/>
            <pc:sldMk cId="75954246" sldId="321"/>
            <ac:spMk id="3" creationId="{00000000-0000-0000-0000-000000000000}"/>
          </ac:spMkLst>
        </pc:spChg>
      </pc:sldChg>
      <pc:sldChg chg="ord">
        <pc:chgData name="Noxolo Pretty Cele" userId="c0214832-da79-4e77-9892-7642ead81f7d" providerId="ADAL" clId="{38C75C36-08D6-456C-B4B9-DF9254900FEF}" dt="2026-02-18T04:34:50.512" v="10"/>
        <pc:sldMkLst>
          <pc:docMk/>
          <pc:sldMk cId="926675175" sldId="330"/>
        </pc:sldMkLst>
      </pc:sldChg>
      <pc:sldChg chg="ord">
        <pc:chgData name="Noxolo Pretty Cele" userId="c0214832-da79-4e77-9892-7642ead81f7d" providerId="ADAL" clId="{38C75C36-08D6-456C-B4B9-DF9254900FEF}" dt="2026-02-18T04:34:52.491" v="12"/>
        <pc:sldMkLst>
          <pc:docMk/>
          <pc:sldMk cId="2470731619" sldId="331"/>
        </pc:sldMkLst>
      </pc:sldChg>
      <pc:sldChg chg="modSp mod ord">
        <pc:chgData name="Noxolo Pretty Cele" userId="c0214832-da79-4e77-9892-7642ead81f7d" providerId="ADAL" clId="{38C75C36-08D6-456C-B4B9-DF9254900FEF}" dt="2026-02-18T04:36:25.695" v="21"/>
        <pc:sldMkLst>
          <pc:docMk/>
          <pc:sldMk cId="2946084705" sldId="339"/>
        </pc:sldMkLst>
        <pc:spChg chg="mod">
          <ac:chgData name="Noxolo Pretty Cele" userId="c0214832-da79-4e77-9892-7642ead81f7d" providerId="ADAL" clId="{38C75C36-08D6-456C-B4B9-DF9254900FEF}" dt="2026-02-18T04:34:31.112" v="8" actId="27636"/>
          <ac:spMkLst>
            <pc:docMk/>
            <pc:sldMk cId="2946084705" sldId="339"/>
            <ac:spMk id="3" creationId="{60297204-095D-2C2F-65EE-F773C6574F0E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264236-A953-433D-B1B8-C376A23006D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B16673F-C64E-462A-97B3-911E3F8E63F8}">
      <dgm:prSet/>
      <dgm:spPr/>
      <dgm:t>
        <a:bodyPr/>
        <a:lstStyle/>
        <a:p>
          <a:r>
            <a:rPr lang="en-US" b="0" i="0"/>
            <a:t>The software is collection of Integrated programs </a:t>
          </a:r>
          <a:endParaRPr lang="en-US"/>
        </a:p>
      </dgm:t>
    </dgm:pt>
    <dgm:pt modelId="{D1EFED57-ABC9-4F91-B8D5-33B59B33CA4A}" type="parTrans" cxnId="{BD025832-EDEF-4D58-8C81-92578EBEF3B9}">
      <dgm:prSet/>
      <dgm:spPr/>
      <dgm:t>
        <a:bodyPr/>
        <a:lstStyle/>
        <a:p>
          <a:endParaRPr lang="en-US"/>
        </a:p>
      </dgm:t>
    </dgm:pt>
    <dgm:pt modelId="{FD2A84D0-163D-4445-9A44-8DC193DAC405}" type="sibTrans" cxnId="{BD025832-EDEF-4D58-8C81-92578EBEF3B9}">
      <dgm:prSet/>
      <dgm:spPr/>
      <dgm:t>
        <a:bodyPr/>
        <a:lstStyle/>
        <a:p>
          <a:endParaRPr lang="en-US"/>
        </a:p>
      </dgm:t>
    </dgm:pt>
    <dgm:pt modelId="{D1BA9E8C-6912-46A7-A95E-BA07638B158F}">
      <dgm:prSet/>
      <dgm:spPr/>
      <dgm:t>
        <a:bodyPr/>
        <a:lstStyle/>
        <a:p>
          <a:r>
            <a:rPr lang="en-US" b="0" i="0"/>
            <a:t>Software consists of carefully organized instructions and code written by programmers in any of various special computer languages. </a:t>
          </a:r>
          <a:endParaRPr lang="en-US"/>
        </a:p>
      </dgm:t>
    </dgm:pt>
    <dgm:pt modelId="{7B138442-7312-4AC9-B834-2C97BEA7507E}" type="parTrans" cxnId="{89954D81-88F0-4AF3-8755-8C87298A199B}">
      <dgm:prSet/>
      <dgm:spPr/>
      <dgm:t>
        <a:bodyPr/>
        <a:lstStyle/>
        <a:p>
          <a:endParaRPr lang="en-US"/>
        </a:p>
      </dgm:t>
    </dgm:pt>
    <dgm:pt modelId="{78542BAE-C68C-465D-8F63-FB7E607CAE7B}" type="sibTrans" cxnId="{89954D81-88F0-4AF3-8755-8C87298A199B}">
      <dgm:prSet/>
      <dgm:spPr/>
      <dgm:t>
        <a:bodyPr/>
        <a:lstStyle/>
        <a:p>
          <a:endParaRPr lang="en-US"/>
        </a:p>
      </dgm:t>
    </dgm:pt>
    <dgm:pt modelId="{51BCA275-F53D-4E0D-B377-86CF12AAFCC1}">
      <dgm:prSet/>
      <dgm:spPr/>
      <dgm:t>
        <a:bodyPr/>
        <a:lstStyle/>
        <a:p>
          <a:r>
            <a:rPr lang="en-US" b="0" i="0"/>
            <a:t>Computer programs and associated documentation such as requirements, design models and user manuals.</a:t>
          </a:r>
          <a:endParaRPr lang="en-US"/>
        </a:p>
      </dgm:t>
    </dgm:pt>
    <dgm:pt modelId="{FD3FDB73-308F-4E2A-85CB-58B10007FCD9}" type="parTrans" cxnId="{1C8AF58E-6490-4400-A176-463DFDC4D320}">
      <dgm:prSet/>
      <dgm:spPr/>
      <dgm:t>
        <a:bodyPr/>
        <a:lstStyle/>
        <a:p>
          <a:endParaRPr lang="en-US"/>
        </a:p>
      </dgm:t>
    </dgm:pt>
    <dgm:pt modelId="{BFEF129D-2E39-4A15-AFBC-854DB96EBF16}" type="sibTrans" cxnId="{1C8AF58E-6490-4400-A176-463DFDC4D320}">
      <dgm:prSet/>
      <dgm:spPr/>
      <dgm:t>
        <a:bodyPr/>
        <a:lstStyle/>
        <a:p>
          <a:endParaRPr lang="en-US"/>
        </a:p>
      </dgm:t>
    </dgm:pt>
    <dgm:pt modelId="{C33B72D6-A383-4D93-9632-C26CE0F7DC82}" type="pres">
      <dgm:prSet presAssocID="{AA264236-A953-433D-B1B8-C376A23006DB}" presName="root" presStyleCnt="0">
        <dgm:presLayoutVars>
          <dgm:dir/>
          <dgm:resizeHandles val="exact"/>
        </dgm:presLayoutVars>
      </dgm:prSet>
      <dgm:spPr/>
    </dgm:pt>
    <dgm:pt modelId="{9662ADD3-A79E-4756-B0A5-72900EF23F2C}" type="pres">
      <dgm:prSet presAssocID="{5B16673F-C64E-462A-97B3-911E3F8E63F8}" presName="compNode" presStyleCnt="0"/>
      <dgm:spPr/>
    </dgm:pt>
    <dgm:pt modelId="{A5B336F8-7632-415B-A9F1-633F2B9502C0}" type="pres">
      <dgm:prSet presAssocID="{5B16673F-C64E-462A-97B3-911E3F8E63F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AFE7E9BB-6195-4947-A6BF-E0EDE66459F5}" type="pres">
      <dgm:prSet presAssocID="{5B16673F-C64E-462A-97B3-911E3F8E63F8}" presName="spaceRect" presStyleCnt="0"/>
      <dgm:spPr/>
    </dgm:pt>
    <dgm:pt modelId="{A0AA2430-16CA-4D1A-833E-E78961B35FD9}" type="pres">
      <dgm:prSet presAssocID="{5B16673F-C64E-462A-97B3-911E3F8E63F8}" presName="textRect" presStyleLbl="revTx" presStyleIdx="0" presStyleCnt="3">
        <dgm:presLayoutVars>
          <dgm:chMax val="1"/>
          <dgm:chPref val="1"/>
        </dgm:presLayoutVars>
      </dgm:prSet>
      <dgm:spPr/>
    </dgm:pt>
    <dgm:pt modelId="{D9634A45-78E3-4BE2-B170-F714F229002F}" type="pres">
      <dgm:prSet presAssocID="{FD2A84D0-163D-4445-9A44-8DC193DAC405}" presName="sibTrans" presStyleCnt="0"/>
      <dgm:spPr/>
    </dgm:pt>
    <dgm:pt modelId="{0D8DB803-2492-48B6-9168-6FFE3163FB72}" type="pres">
      <dgm:prSet presAssocID="{D1BA9E8C-6912-46A7-A95E-BA07638B158F}" presName="compNode" presStyleCnt="0"/>
      <dgm:spPr/>
    </dgm:pt>
    <dgm:pt modelId="{42D78050-8524-4A9D-8E63-E87F2FAFC054}" type="pres">
      <dgm:prSet presAssocID="{D1BA9E8C-6912-46A7-A95E-BA07638B158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4658388F-1F91-490F-A2DC-8872B90989A6}" type="pres">
      <dgm:prSet presAssocID="{D1BA9E8C-6912-46A7-A95E-BA07638B158F}" presName="spaceRect" presStyleCnt="0"/>
      <dgm:spPr/>
    </dgm:pt>
    <dgm:pt modelId="{AF9A32CE-D8FB-4A39-BC22-19D4DD970CEF}" type="pres">
      <dgm:prSet presAssocID="{D1BA9E8C-6912-46A7-A95E-BA07638B158F}" presName="textRect" presStyleLbl="revTx" presStyleIdx="1" presStyleCnt="3">
        <dgm:presLayoutVars>
          <dgm:chMax val="1"/>
          <dgm:chPref val="1"/>
        </dgm:presLayoutVars>
      </dgm:prSet>
      <dgm:spPr/>
    </dgm:pt>
    <dgm:pt modelId="{E459DDC1-35FF-49E6-939A-DA541200D83F}" type="pres">
      <dgm:prSet presAssocID="{78542BAE-C68C-465D-8F63-FB7E607CAE7B}" presName="sibTrans" presStyleCnt="0"/>
      <dgm:spPr/>
    </dgm:pt>
    <dgm:pt modelId="{080582F7-25DB-46DA-9DEF-1C2C0B0A6517}" type="pres">
      <dgm:prSet presAssocID="{51BCA275-F53D-4E0D-B377-86CF12AAFCC1}" presName="compNode" presStyleCnt="0"/>
      <dgm:spPr/>
    </dgm:pt>
    <dgm:pt modelId="{1876D8C1-3C78-41E8-94CD-19BCAE5C237B}" type="pres">
      <dgm:prSet presAssocID="{51BCA275-F53D-4E0D-B377-86CF12AAFCC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437A236C-C5E3-489F-BAD0-1DC8FA1DA4D9}" type="pres">
      <dgm:prSet presAssocID="{51BCA275-F53D-4E0D-B377-86CF12AAFCC1}" presName="spaceRect" presStyleCnt="0"/>
      <dgm:spPr/>
    </dgm:pt>
    <dgm:pt modelId="{D1BF5831-4DEA-468E-ACBE-D67270CE8F75}" type="pres">
      <dgm:prSet presAssocID="{51BCA275-F53D-4E0D-B377-86CF12AAFCC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7444B23-82CC-4A16-99AC-613BF6153F01}" type="presOf" srcId="{D1BA9E8C-6912-46A7-A95E-BA07638B158F}" destId="{AF9A32CE-D8FB-4A39-BC22-19D4DD970CEF}" srcOrd="0" destOrd="0" presId="urn:microsoft.com/office/officeart/2018/2/layout/IconLabelList"/>
    <dgm:cxn modelId="{BD025832-EDEF-4D58-8C81-92578EBEF3B9}" srcId="{AA264236-A953-433D-B1B8-C376A23006DB}" destId="{5B16673F-C64E-462A-97B3-911E3F8E63F8}" srcOrd="0" destOrd="0" parTransId="{D1EFED57-ABC9-4F91-B8D5-33B59B33CA4A}" sibTransId="{FD2A84D0-163D-4445-9A44-8DC193DAC405}"/>
    <dgm:cxn modelId="{89954D81-88F0-4AF3-8755-8C87298A199B}" srcId="{AA264236-A953-433D-B1B8-C376A23006DB}" destId="{D1BA9E8C-6912-46A7-A95E-BA07638B158F}" srcOrd="1" destOrd="0" parTransId="{7B138442-7312-4AC9-B834-2C97BEA7507E}" sibTransId="{78542BAE-C68C-465D-8F63-FB7E607CAE7B}"/>
    <dgm:cxn modelId="{1C8AF58E-6490-4400-A176-463DFDC4D320}" srcId="{AA264236-A953-433D-B1B8-C376A23006DB}" destId="{51BCA275-F53D-4E0D-B377-86CF12AAFCC1}" srcOrd="2" destOrd="0" parTransId="{FD3FDB73-308F-4E2A-85CB-58B10007FCD9}" sibTransId="{BFEF129D-2E39-4A15-AFBC-854DB96EBF16}"/>
    <dgm:cxn modelId="{3227D591-DB20-49D2-A8D6-7B519F439688}" type="presOf" srcId="{51BCA275-F53D-4E0D-B377-86CF12AAFCC1}" destId="{D1BF5831-4DEA-468E-ACBE-D67270CE8F75}" srcOrd="0" destOrd="0" presId="urn:microsoft.com/office/officeart/2018/2/layout/IconLabelList"/>
    <dgm:cxn modelId="{94879CAF-43DE-4F67-8999-4A390C984937}" type="presOf" srcId="{AA264236-A953-433D-B1B8-C376A23006DB}" destId="{C33B72D6-A383-4D93-9632-C26CE0F7DC82}" srcOrd="0" destOrd="0" presId="urn:microsoft.com/office/officeart/2018/2/layout/IconLabelList"/>
    <dgm:cxn modelId="{F292A1CF-9D87-41EE-B511-3A40CD9554E7}" type="presOf" srcId="{5B16673F-C64E-462A-97B3-911E3F8E63F8}" destId="{A0AA2430-16CA-4D1A-833E-E78961B35FD9}" srcOrd="0" destOrd="0" presId="urn:microsoft.com/office/officeart/2018/2/layout/IconLabelList"/>
    <dgm:cxn modelId="{3E9BD75A-B121-4D80-981F-BB49CA79142B}" type="presParOf" srcId="{C33B72D6-A383-4D93-9632-C26CE0F7DC82}" destId="{9662ADD3-A79E-4756-B0A5-72900EF23F2C}" srcOrd="0" destOrd="0" presId="urn:microsoft.com/office/officeart/2018/2/layout/IconLabelList"/>
    <dgm:cxn modelId="{81E9C815-EF3E-4999-9F52-C37C378940DC}" type="presParOf" srcId="{9662ADD3-A79E-4756-B0A5-72900EF23F2C}" destId="{A5B336F8-7632-415B-A9F1-633F2B9502C0}" srcOrd="0" destOrd="0" presId="urn:microsoft.com/office/officeart/2018/2/layout/IconLabelList"/>
    <dgm:cxn modelId="{49463869-7BCE-4CA9-9A9C-E90AAB0D707D}" type="presParOf" srcId="{9662ADD3-A79E-4756-B0A5-72900EF23F2C}" destId="{AFE7E9BB-6195-4947-A6BF-E0EDE66459F5}" srcOrd="1" destOrd="0" presId="urn:microsoft.com/office/officeart/2018/2/layout/IconLabelList"/>
    <dgm:cxn modelId="{E976C636-EB72-42B8-8EE4-2C282274C2CA}" type="presParOf" srcId="{9662ADD3-A79E-4756-B0A5-72900EF23F2C}" destId="{A0AA2430-16CA-4D1A-833E-E78961B35FD9}" srcOrd="2" destOrd="0" presId="urn:microsoft.com/office/officeart/2018/2/layout/IconLabelList"/>
    <dgm:cxn modelId="{33D1D79B-C4D8-4451-A37C-83CCC1054D4B}" type="presParOf" srcId="{C33B72D6-A383-4D93-9632-C26CE0F7DC82}" destId="{D9634A45-78E3-4BE2-B170-F714F229002F}" srcOrd="1" destOrd="0" presId="urn:microsoft.com/office/officeart/2018/2/layout/IconLabelList"/>
    <dgm:cxn modelId="{8001712C-6028-4F3C-87E2-014DA37B1DB0}" type="presParOf" srcId="{C33B72D6-A383-4D93-9632-C26CE0F7DC82}" destId="{0D8DB803-2492-48B6-9168-6FFE3163FB72}" srcOrd="2" destOrd="0" presId="urn:microsoft.com/office/officeart/2018/2/layout/IconLabelList"/>
    <dgm:cxn modelId="{0F44D392-D7B8-4711-B010-8DBA74FC4BC8}" type="presParOf" srcId="{0D8DB803-2492-48B6-9168-6FFE3163FB72}" destId="{42D78050-8524-4A9D-8E63-E87F2FAFC054}" srcOrd="0" destOrd="0" presId="urn:microsoft.com/office/officeart/2018/2/layout/IconLabelList"/>
    <dgm:cxn modelId="{899FFEC2-81A6-40A5-AD28-AE621359DC76}" type="presParOf" srcId="{0D8DB803-2492-48B6-9168-6FFE3163FB72}" destId="{4658388F-1F91-490F-A2DC-8872B90989A6}" srcOrd="1" destOrd="0" presId="urn:microsoft.com/office/officeart/2018/2/layout/IconLabelList"/>
    <dgm:cxn modelId="{A6E2DECB-C695-4BED-B5DF-0FED480092D8}" type="presParOf" srcId="{0D8DB803-2492-48B6-9168-6FFE3163FB72}" destId="{AF9A32CE-D8FB-4A39-BC22-19D4DD970CEF}" srcOrd="2" destOrd="0" presId="urn:microsoft.com/office/officeart/2018/2/layout/IconLabelList"/>
    <dgm:cxn modelId="{4CC19995-AAF1-4E6A-A2D9-C6503B174AB1}" type="presParOf" srcId="{C33B72D6-A383-4D93-9632-C26CE0F7DC82}" destId="{E459DDC1-35FF-49E6-939A-DA541200D83F}" srcOrd="3" destOrd="0" presId="urn:microsoft.com/office/officeart/2018/2/layout/IconLabelList"/>
    <dgm:cxn modelId="{D0420DE2-34CF-45C8-A43B-99B844A33832}" type="presParOf" srcId="{C33B72D6-A383-4D93-9632-C26CE0F7DC82}" destId="{080582F7-25DB-46DA-9DEF-1C2C0B0A6517}" srcOrd="4" destOrd="0" presId="urn:microsoft.com/office/officeart/2018/2/layout/IconLabelList"/>
    <dgm:cxn modelId="{5D085A7D-B55A-44CE-946D-B88F3E969F2B}" type="presParOf" srcId="{080582F7-25DB-46DA-9DEF-1C2C0B0A6517}" destId="{1876D8C1-3C78-41E8-94CD-19BCAE5C237B}" srcOrd="0" destOrd="0" presId="urn:microsoft.com/office/officeart/2018/2/layout/IconLabelList"/>
    <dgm:cxn modelId="{64C98DFC-F0F8-4057-BE46-0A582D1F7535}" type="presParOf" srcId="{080582F7-25DB-46DA-9DEF-1C2C0B0A6517}" destId="{437A236C-C5E3-489F-BAD0-1DC8FA1DA4D9}" srcOrd="1" destOrd="0" presId="urn:microsoft.com/office/officeart/2018/2/layout/IconLabelList"/>
    <dgm:cxn modelId="{BAFAEC00-0CE1-4E88-9B7E-5EE254A849F1}" type="presParOf" srcId="{080582F7-25DB-46DA-9DEF-1C2C0B0A6517}" destId="{D1BF5831-4DEA-468E-ACBE-D67270CE8F7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B336F8-7632-415B-A9F1-633F2B9502C0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AA2430-16CA-4D1A-833E-E78961B35FD9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The software is collection of Integrated programs </a:t>
          </a:r>
          <a:endParaRPr lang="en-US" sz="1200" kern="1200"/>
        </a:p>
      </dsp:txBody>
      <dsp:txXfrm>
        <a:off x="59990" y="2654049"/>
        <a:ext cx="3226223" cy="720000"/>
      </dsp:txXfrm>
    </dsp:sp>
    <dsp:sp modelId="{42D78050-8524-4A9D-8E63-E87F2FAFC054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9A32CE-D8FB-4A39-BC22-19D4DD970CEF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Software consists of carefully organized instructions and code written by programmers in any of various special computer languages. </a:t>
          </a:r>
          <a:endParaRPr lang="en-US" sz="1200" kern="1200"/>
        </a:p>
      </dsp:txBody>
      <dsp:txXfrm>
        <a:off x="3850802" y="2654049"/>
        <a:ext cx="3226223" cy="720000"/>
      </dsp:txXfrm>
    </dsp:sp>
    <dsp:sp modelId="{1876D8C1-3C78-41E8-94CD-19BCAE5C237B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BF5831-4DEA-468E-ACBE-D67270CE8F75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/>
            <a:t>Computer programs and associated documentation such as requirements, design models and user manuals.</a:t>
          </a:r>
          <a:endParaRPr lang="en-US" sz="1200" kern="1200"/>
        </a:p>
      </dsp:txBody>
      <dsp:txXfrm>
        <a:off x="7641615" y="2654049"/>
        <a:ext cx="3226223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4AEB3-8B87-45F5-8C0E-CC9F1077A594}" type="datetimeFigureOut">
              <a:rPr lang="en-ZA" smtClean="0"/>
              <a:t>2026/02/18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4D2DDE-B3FB-42DF-85B1-BCD0722725D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07128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 Madamshetty Department of IS</a:t>
            </a:r>
          </a:p>
        </p:txBody>
      </p:sp>
    </p:spTree>
    <p:extLst>
      <p:ext uri="{BB962C8B-B14F-4D97-AF65-F5344CB8AC3E}">
        <p14:creationId xmlns:p14="http://schemas.microsoft.com/office/powerpoint/2010/main" val="1779760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92015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7657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09791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1802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42393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35221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61245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0119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48386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08805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341521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435100" y="2484800"/>
            <a:ext cx="6616800" cy="188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-404500" y="2889207"/>
            <a:ext cx="1888400" cy="1079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00" y="0"/>
            <a:ext cx="4035902" cy="1341236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5750" y="64475"/>
            <a:ext cx="3826904" cy="198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034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>
            <a:off x="11582400" y="6233133"/>
            <a:ext cx="624800" cy="6248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" name="Google Shape;30;p6"/>
          <p:cNvSpPr/>
          <p:nvPr/>
        </p:nvSpPr>
        <p:spPr>
          <a:xfrm rot="5400000">
            <a:off x="-133800" y="965980"/>
            <a:ext cx="624800" cy="3572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609600" y="807467"/>
            <a:ext cx="7521200" cy="144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609600" y="2661000"/>
            <a:ext cx="3576800" cy="357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>
              <a:spcBef>
                <a:spcPts val="800"/>
              </a:spcBef>
              <a:spcAft>
                <a:spcPts val="0"/>
              </a:spcAft>
              <a:buSzPts val="1800"/>
              <a:buChar char="▸"/>
              <a:defRPr sz="2400"/>
            </a:lvl1pPr>
            <a:lvl2pPr marL="1219170" lvl="1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2pPr>
            <a:lvl3pPr marL="1828754" lvl="2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3pPr>
            <a:lvl4pPr marL="2438339" lvl="3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4pPr>
            <a:lvl5pPr marL="3047924" lvl="4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5pPr>
            <a:lvl6pPr marL="3657509" lvl="5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6pPr>
            <a:lvl7pPr marL="4267093" lvl="6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7pPr>
            <a:lvl8pPr marL="4876678" lvl="7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8pPr>
            <a:lvl9pPr marL="5486263" lvl="8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2"/>
          </p:nvPr>
        </p:nvSpPr>
        <p:spPr>
          <a:xfrm>
            <a:off x="4554104" y="2661000"/>
            <a:ext cx="3576800" cy="357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>
              <a:spcBef>
                <a:spcPts val="800"/>
              </a:spcBef>
              <a:spcAft>
                <a:spcPts val="0"/>
              </a:spcAft>
              <a:buSzPts val="1800"/>
              <a:buChar char="▸"/>
              <a:defRPr sz="2400"/>
            </a:lvl1pPr>
            <a:lvl2pPr marL="1219170" lvl="1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2pPr>
            <a:lvl3pPr marL="1828754" lvl="2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3pPr>
            <a:lvl4pPr marL="2438339" lvl="3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4pPr>
            <a:lvl5pPr marL="3047924" lvl="4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5pPr>
            <a:lvl6pPr marL="3657509" lvl="5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6pPr>
            <a:lvl7pPr marL="4267093" lvl="6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7pPr>
            <a:lvl8pPr marL="4876678" lvl="7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8pPr>
            <a:lvl9pPr marL="5486263" lvl="8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11532033" y="6182333"/>
            <a:ext cx="609200" cy="62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30800" y="-1"/>
            <a:ext cx="4010433" cy="207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912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8F31D-1C17-E95B-B778-E062E4EC9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F5340B-711B-776E-A971-2695A3416B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E07C6-8A13-F20B-0045-9554B71B3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2153-F511-4A1E-9E49-93E84FE062B7}" type="datetimeFigureOut">
              <a:rPr lang="en-ZA" smtClean="0"/>
              <a:t>2026/02/18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2A6F3-37DD-6A09-E035-F9484F11A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A4305-F6BA-8F13-364B-A552BAA3F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827770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BBDCE-942B-1797-1EF1-F46DA71D4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27962-4550-29D9-07EF-4BBC18CE0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B9254-4FF5-9EBC-3342-732182457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2153-F511-4A1E-9E49-93E84FE062B7}" type="datetimeFigureOut">
              <a:rPr lang="en-ZA" smtClean="0"/>
              <a:t>2026/02/18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98E8B-AF08-236E-443A-01EB89226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A08CC-3399-E5D2-65CE-6C313A5D0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7791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2C087-45FA-31EE-5117-3F2275F4A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4E010-3F88-58AF-618F-8A9975571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7DDCD-5E15-6987-706D-E3AA4A2D8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2153-F511-4A1E-9E49-93E84FE062B7}" type="datetimeFigureOut">
              <a:rPr lang="en-ZA" smtClean="0"/>
              <a:t>2026/02/18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715D7-25B7-844E-B88A-59ADC1F90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8DDEA-27C6-69E7-6C8F-5270359E9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006040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FA130-C46D-1E48-04C9-327A49A1D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6CA45-8DF8-8A8F-64B9-981BDC0C56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66FFF6-AD6F-E0BA-A850-3A1F537F9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F648FB-58B0-8339-DB6A-0D5B25F5B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2153-F511-4A1E-9E49-93E84FE062B7}" type="datetimeFigureOut">
              <a:rPr lang="en-ZA" smtClean="0"/>
              <a:t>2026/02/18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8F4605-D08C-8C5C-8FEA-1BD91B69B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28C9F-50DD-E5FE-7559-FC2DA0FA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587749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A1A7A-84C9-1730-DD9C-C29AD778A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1D7DE-4B05-CFB2-966A-7FA8B2630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ED2CB2-8092-134A-F2A4-6CFC2ED8E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B14D9A-5606-BE39-7868-2583AF09AA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6B5A47-BB2C-EAF6-2605-99B7B4B6F0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5E7A8-2ABD-A61C-E42E-133D1F1C6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2153-F511-4A1E-9E49-93E84FE062B7}" type="datetimeFigureOut">
              <a:rPr lang="en-ZA" smtClean="0"/>
              <a:t>2026/02/18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EB4CC3-9578-4963-4FA3-D832E9B71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67D8DE-E2E1-CF75-A2E6-B8D1C9BF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360098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56FD9-C794-49C9-DEC4-9EA23D749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B5A623-43A5-0A4B-2003-CEA16E971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2153-F511-4A1E-9E49-93E84FE062B7}" type="datetimeFigureOut">
              <a:rPr lang="en-ZA" smtClean="0"/>
              <a:t>2026/02/18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4A34A-0725-99A8-C0CD-5FF054C33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89871F-1794-32EA-4D42-347B51664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318631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04D626-8B51-0D68-51CD-86B7BB519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2153-F511-4A1E-9E49-93E84FE062B7}" type="datetimeFigureOut">
              <a:rPr lang="en-ZA" smtClean="0"/>
              <a:t>2026/02/18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E95998-FF32-62E5-94F0-9E2908F08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B1C5D-552A-B0BC-7D9A-FE8D62650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165985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79772-2EEE-5F60-05BE-E8A00E920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9E23D-C65F-5FCE-4F4D-1A4054974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41FFD4-9EDB-71AE-00BD-53F7560C0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7717C4-DB89-AA03-BC85-0DB0F9B52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2153-F511-4A1E-9E49-93E84FE062B7}" type="datetimeFigureOut">
              <a:rPr lang="en-ZA" smtClean="0"/>
              <a:t>2026/02/18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5E399-592F-5F4D-E7DD-E6A3A04A7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BC539-E5E5-2929-2548-6225140B2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562356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1C584-7EFB-86AF-5466-FA2A33698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F38817-752A-8EB1-E9C4-1654F1404E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1BB71C-90FA-5AED-9258-292C371964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BF64E-517E-703F-AF08-7FCD0B7E8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2153-F511-4A1E-9E49-93E84FE062B7}" type="datetimeFigureOut">
              <a:rPr lang="en-ZA" smtClean="0"/>
              <a:t>2026/02/18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D600D-E40D-836D-39F5-2AD070FA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AEFC89-B111-4A7F-17B6-595D933E8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294488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4BB5A-13E0-6AAC-3ECA-B8EDD121B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D98DC8-CF97-46CF-7D96-5FF4BA7BF5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2BD35-0A26-FCFE-4B48-9B3C14E6B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2153-F511-4A1E-9E49-93E84FE062B7}" type="datetimeFigureOut">
              <a:rPr lang="en-ZA" smtClean="0"/>
              <a:t>2026/02/18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E60AF-BF3D-60A1-0D57-FC08A0E70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9F56A-C0C0-E3A8-BD38-02DE7D23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351453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BD3F59-8BB8-B695-A411-28A2C50BE9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14C83D-BB17-AA03-5556-D20FD4E80B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457C8-FDE0-D0F8-D9E6-2ABFD11F9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2153-F511-4A1E-9E49-93E84FE062B7}" type="datetimeFigureOut">
              <a:rPr lang="en-ZA" smtClean="0"/>
              <a:t>2026/02/18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2381F-768F-998B-8690-D074355CF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44BA6-77AC-CC0A-F768-BA2B2D8EF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300453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435100" y="2484800"/>
            <a:ext cx="6616800" cy="188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-404500" y="2889207"/>
            <a:ext cx="1888400" cy="1079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98" y="-1"/>
            <a:ext cx="4035902" cy="1906073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31595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ZA"/>
              <a:t>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 Madamshetty Department Of IS</a:t>
            </a:r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153400" y="0"/>
            <a:ext cx="3828620" cy="182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243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151DE2-F462-34F4-9C6C-8FCBF3845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7F2F9-6732-1190-82CB-4A03F8BF2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251C9-91A1-71DB-2B8E-2E67F6F738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972153-F511-4A1E-9E49-93E84FE062B7}" type="datetimeFigureOut">
              <a:rPr lang="en-ZA" smtClean="0"/>
              <a:t>2026/02/18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4787C-E5A3-0A30-E448-FE3EC80633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22E16-A899-F607-45B0-B9ECE5C80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13630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2"/>
          <p:cNvSpPr txBox="1">
            <a:spLocks noGrp="1"/>
          </p:cNvSpPr>
          <p:nvPr>
            <p:ph type="ctrTitle"/>
          </p:nvPr>
        </p:nvSpPr>
        <p:spPr>
          <a:xfrm>
            <a:off x="1994490" y="2197806"/>
            <a:ext cx="8524820" cy="3314719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pPr lvl="0" algn="ctr"/>
            <a:r>
              <a:rPr lang="en-US" sz="5400" dirty="0">
                <a:latin typeface="+mn-lt"/>
              </a:rPr>
              <a:t>INFORMATION SYSTEMS 3A</a:t>
            </a:r>
            <a:br>
              <a:rPr lang="en-US" sz="5400" dirty="0">
                <a:latin typeface="+mn-lt"/>
              </a:rPr>
            </a:br>
            <a:br>
              <a:rPr lang="en-US" sz="5400" dirty="0">
                <a:latin typeface="+mn-lt"/>
              </a:rPr>
            </a:br>
            <a:r>
              <a:rPr lang="en-US" sz="5400" dirty="0">
                <a:latin typeface="+mn-lt"/>
              </a:rPr>
              <a:t>INTRODUCTION TO SOFTWARE ENGINEERING</a:t>
            </a:r>
            <a:endParaRPr sz="5400" dirty="0">
              <a:latin typeface="+mn-lt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03D7A9-CDA1-4732-8CA0-2A470E848275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954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73674-1EAB-876C-09C2-1B7861DE1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949517"/>
          </a:xfrm>
        </p:spPr>
        <p:txBody>
          <a:bodyPr anchor="ctr">
            <a:normAutofit/>
          </a:bodyPr>
          <a:lstStyle/>
          <a:p>
            <a:r>
              <a:rPr lang="en-ZA" sz="4000" b="0" i="0" dirty="0">
                <a:effectLst/>
                <a:latin typeface="Arial" panose="020B0604020202020204" pitchFamily="34" charset="0"/>
              </a:rPr>
              <a:t>Contents</a:t>
            </a:r>
            <a:endParaRPr lang="en-ZA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26504-BA5D-5A9E-E9F5-844097D0B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686" y="1504336"/>
            <a:ext cx="5632314" cy="2923946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Introduction of Software Engineering </a:t>
            </a:r>
          </a:p>
          <a:p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Need of Software Engineering </a:t>
            </a:r>
          </a:p>
          <a:p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Characteristics of Good Software </a:t>
            </a:r>
          </a:p>
          <a:p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General issues that affect software</a:t>
            </a:r>
          </a:p>
          <a:p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Nature of Software Engineering</a:t>
            </a:r>
          </a:p>
          <a:p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Software engineering fundamentals</a:t>
            </a:r>
          </a:p>
          <a:p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Changing Nature of Software</a:t>
            </a:r>
          </a:p>
          <a:p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Software Process Activities</a:t>
            </a:r>
          </a:p>
          <a:p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SDLC Models</a:t>
            </a:r>
          </a:p>
          <a:p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Software engineering ethics</a:t>
            </a:r>
          </a:p>
          <a:p>
            <a:endParaRPr lang="en-ZA" sz="2000" dirty="0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C23A5E86-BC10-FA9B-A7F2-A327FE937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4" r="40186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379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D21C6D-7B06-50B4-1692-3E8B9FA7B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0" i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What Is Software?</a:t>
            </a:r>
            <a:endParaRPr lang="en-ZA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E502AB-EFF1-92D2-CDDB-0BE1A425B7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300291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712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15D58E-B6E5-1608-0BFB-173AC6EEA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0" i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What Is Engineering?</a:t>
            </a:r>
            <a:endParaRPr lang="en-ZA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06E53-B75C-AF1D-F608-6B6C3A7FB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370" y="103803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b="0" i="0" dirty="0">
                <a:effectLst/>
                <a:latin typeface="Arial" panose="020B0604020202020204" pitchFamily="34" charset="0"/>
              </a:rPr>
              <a:t>Engineering is the application of scientific and practical knowledge in order to invent, design, build, maintain, and improve systems, processes, etc.</a:t>
            </a:r>
            <a:endParaRPr lang="en-ZA" sz="2000" dirty="0"/>
          </a:p>
        </p:txBody>
      </p:sp>
    </p:spTree>
    <p:extLst>
      <p:ext uri="{BB962C8B-B14F-4D97-AF65-F5344CB8AC3E}">
        <p14:creationId xmlns:p14="http://schemas.microsoft.com/office/powerpoint/2010/main" val="3277194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BCFBD4-43B0-F150-6F32-EC8D4101B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Arial" panose="020B0604020202020204" pitchFamily="34" charset="0"/>
              </a:rPr>
              <a:t>W</a:t>
            </a:r>
            <a:r>
              <a:rPr lang="en-US" sz="4000" b="0" i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hat is software Engineering?</a:t>
            </a:r>
            <a:endParaRPr lang="en-ZA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98E11-EC29-5F41-50EB-621A18473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982" y="1464230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b="0" i="0">
                <a:effectLst/>
                <a:latin typeface="Arial" panose="020B0604020202020204" pitchFamily="34" charset="0"/>
              </a:rPr>
              <a:t>Software engineering is an engineering discipline that is concerned with all aspects of software production. </a:t>
            </a:r>
          </a:p>
          <a:p>
            <a:r>
              <a:rPr lang="en-US" sz="2000" b="0" i="0">
                <a:effectLst/>
                <a:latin typeface="Arial" panose="020B0604020202020204" pitchFamily="34" charset="0"/>
              </a:rPr>
              <a:t>According to IEEE's definition software engineering can be defined as the application of a systematic, disciplined, quantifiable approach to the development, operation, and maintenance of software, and the study of these approaches; that is, the application of engineering to software.</a:t>
            </a:r>
            <a:endParaRPr lang="en-ZA" sz="2000"/>
          </a:p>
        </p:txBody>
      </p:sp>
    </p:spTree>
    <p:extLst>
      <p:ext uri="{BB962C8B-B14F-4D97-AF65-F5344CB8AC3E}">
        <p14:creationId xmlns:p14="http://schemas.microsoft.com/office/powerpoint/2010/main" val="1208571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AD7A71-5219-AD7F-6217-63A3A07B1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0" i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Need of Software Engineering</a:t>
            </a:r>
            <a:endParaRPr lang="en-ZA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12324-5968-E633-A250-6B0620D02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b="0" i="0">
                <a:effectLst/>
                <a:latin typeface="Arial" panose="020B0604020202020204" pitchFamily="34" charset="0"/>
              </a:rPr>
              <a:t> </a:t>
            </a:r>
            <a:r>
              <a:rPr lang="en-US" sz="2000" b="1" i="0">
                <a:effectLst/>
                <a:latin typeface="Arial" panose="020B0604020202020204" pitchFamily="34" charset="0"/>
              </a:rPr>
              <a:t>Handling Big Projects</a:t>
            </a:r>
            <a:r>
              <a:rPr lang="en-US" sz="2000" b="0" i="0">
                <a:effectLst/>
                <a:latin typeface="Arial" panose="020B0604020202020204" pitchFamily="34" charset="0"/>
              </a:rPr>
              <a:t>: Corporation must use SE to handle large projects without any issues. </a:t>
            </a:r>
          </a:p>
          <a:p>
            <a:r>
              <a:rPr lang="en-US" sz="2000" b="0" i="0">
                <a:effectLst/>
                <a:latin typeface="Arial" panose="020B0604020202020204" pitchFamily="34" charset="0"/>
              </a:rPr>
              <a:t> </a:t>
            </a:r>
            <a:r>
              <a:rPr lang="en-US" sz="2000" b="1" i="0">
                <a:effectLst/>
                <a:latin typeface="Arial" panose="020B0604020202020204" pitchFamily="34" charset="0"/>
              </a:rPr>
              <a:t>To manage the cost</a:t>
            </a:r>
            <a:r>
              <a:rPr lang="en-US" sz="2000" b="0" i="0">
                <a:effectLst/>
                <a:latin typeface="Arial" panose="020B0604020202020204" pitchFamily="34" charset="0"/>
              </a:rPr>
              <a:t>: Software engineering programmers plan everything and reduce all those things that are not required. </a:t>
            </a:r>
          </a:p>
          <a:p>
            <a:r>
              <a:rPr lang="en-US" sz="2000" b="0" i="0">
                <a:effectLst/>
                <a:latin typeface="Arial" panose="020B0604020202020204" pitchFamily="34" charset="0"/>
              </a:rPr>
              <a:t> </a:t>
            </a:r>
            <a:r>
              <a:rPr lang="en-US" sz="2000" b="1" i="0">
                <a:effectLst/>
                <a:latin typeface="Arial" panose="020B0604020202020204" pitchFamily="34" charset="0"/>
              </a:rPr>
              <a:t>To decrease time</a:t>
            </a:r>
            <a:r>
              <a:rPr lang="en-US" sz="2000" b="0" i="0">
                <a:effectLst/>
                <a:latin typeface="Arial" panose="020B0604020202020204" pitchFamily="34" charset="0"/>
              </a:rPr>
              <a:t>: It will save a lot of time if you are developing software using a software engineering technique. </a:t>
            </a:r>
          </a:p>
          <a:p>
            <a:r>
              <a:rPr lang="en-US" sz="2000" b="0" i="0">
                <a:effectLst/>
                <a:latin typeface="Arial" panose="020B0604020202020204" pitchFamily="34" charset="0"/>
              </a:rPr>
              <a:t> </a:t>
            </a:r>
            <a:r>
              <a:rPr lang="en-US" sz="2000" b="1" i="0">
                <a:effectLst/>
                <a:latin typeface="Arial" panose="020B0604020202020204" pitchFamily="34" charset="0"/>
              </a:rPr>
              <a:t>Reliable software</a:t>
            </a:r>
            <a:r>
              <a:rPr lang="en-US" sz="2000" b="0" i="0">
                <a:effectLst/>
                <a:latin typeface="Arial" panose="020B0604020202020204" pitchFamily="34" charset="0"/>
              </a:rPr>
              <a:t>: It is the company's responsibility to deliver software products on schedule and to address any defects that may exist.</a:t>
            </a:r>
          </a:p>
          <a:p>
            <a:r>
              <a:rPr lang="en-US" sz="2000" b="0" i="0">
                <a:effectLst/>
                <a:latin typeface="Arial" panose="020B0604020202020204" pitchFamily="34" charset="0"/>
              </a:rPr>
              <a:t> </a:t>
            </a:r>
            <a:r>
              <a:rPr lang="en-US" sz="2000" b="1" i="0">
                <a:effectLst/>
                <a:latin typeface="Arial" panose="020B0604020202020204" pitchFamily="34" charset="0"/>
              </a:rPr>
              <a:t>Effectiveness</a:t>
            </a:r>
            <a:r>
              <a:rPr lang="en-US" sz="2000" b="0" i="0">
                <a:effectLst/>
                <a:latin typeface="Arial" panose="020B0604020202020204" pitchFamily="34" charset="0"/>
              </a:rPr>
              <a:t>: Effectiveness results from things being created in accordance with the software standards.</a:t>
            </a:r>
            <a:endParaRPr lang="en-ZA" sz="2000"/>
          </a:p>
        </p:txBody>
      </p:sp>
    </p:spTree>
    <p:extLst>
      <p:ext uri="{BB962C8B-B14F-4D97-AF65-F5344CB8AC3E}">
        <p14:creationId xmlns:p14="http://schemas.microsoft.com/office/powerpoint/2010/main" val="260149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A6FBC9-E7A0-F9A8-F3C3-18C1CC0F4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Software products</a:t>
            </a:r>
            <a:endParaRPr lang="en-ZA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97204-095D-2C2F-65EE-F773C6574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 fontScale="92500" lnSpcReduction="10000"/>
          </a:bodyPr>
          <a:lstStyle/>
          <a:p>
            <a:r>
              <a:rPr lang="en-US" b="1" dirty="0"/>
              <a:t>Generic products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Stand-alone systems</a:t>
            </a:r>
            <a:r>
              <a:rPr lang="en-US" dirty="0"/>
              <a:t> that are marketed and sold to </a:t>
            </a:r>
            <a:r>
              <a:rPr lang="en-US" dirty="0">
                <a:solidFill>
                  <a:srgbClr val="FF0000"/>
                </a:solidFill>
              </a:rPr>
              <a:t>any customer</a:t>
            </a:r>
            <a:r>
              <a:rPr lang="en-US" dirty="0"/>
              <a:t> who wishes to buy them.</a:t>
            </a:r>
          </a:p>
          <a:p>
            <a:pPr lvl="1"/>
            <a:r>
              <a:rPr lang="en-US" dirty="0"/>
              <a:t>Examples – PC software such as graphics programs, project management tools; CAD software; software for specific markets such as appointments systems for dentists.</a:t>
            </a:r>
          </a:p>
          <a:p>
            <a:r>
              <a:rPr lang="en-US" b="1" dirty="0"/>
              <a:t>Customized products</a:t>
            </a:r>
          </a:p>
          <a:p>
            <a:pPr lvl="1"/>
            <a:r>
              <a:rPr lang="en-US" dirty="0"/>
              <a:t>Software that is </a:t>
            </a:r>
            <a:r>
              <a:rPr lang="en-US" dirty="0">
                <a:solidFill>
                  <a:srgbClr val="FF0000"/>
                </a:solidFill>
              </a:rPr>
              <a:t>commissioned by a specific customer </a:t>
            </a:r>
            <a:r>
              <a:rPr lang="en-US" dirty="0"/>
              <a:t>to meet their </a:t>
            </a:r>
            <a:r>
              <a:rPr lang="en-US" dirty="0">
                <a:solidFill>
                  <a:srgbClr val="FF0000"/>
                </a:solidFill>
              </a:rPr>
              <a:t>own needs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Examples – embedded control systems, air traffic control software, traffic monitoring systems.</a:t>
            </a:r>
          </a:p>
          <a:p>
            <a:endParaRPr lang="en-ZA" sz="2000" dirty="0"/>
          </a:p>
        </p:txBody>
      </p:sp>
    </p:spTree>
    <p:extLst>
      <p:ext uri="{BB962C8B-B14F-4D97-AF65-F5344CB8AC3E}">
        <p14:creationId xmlns:p14="http://schemas.microsoft.com/office/powerpoint/2010/main" val="2946084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0E9314-C6B2-31F9-6CCD-BDB32372F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 b="0" i="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Characteristics of Good Software </a:t>
            </a:r>
            <a:br>
              <a:rPr lang="en-US" sz="3400" b="0" i="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34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2905A4-87EA-36CF-9B09-0B6D4EB194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478" t="10888" r="976" b="729"/>
          <a:stretch/>
        </p:blipFill>
        <p:spPr>
          <a:xfrm>
            <a:off x="4502428" y="1360362"/>
            <a:ext cx="7225748" cy="413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446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C5EE38-C7DA-FA72-F70B-F02494CC4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General issues that affect software</a:t>
            </a:r>
            <a:endParaRPr lang="en-ZA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929D5-0625-AFE8-8334-97C8824C6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759" y="1597432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Heterogeneity</a:t>
            </a:r>
          </a:p>
          <a:p>
            <a:r>
              <a:rPr lang="en-US" sz="2000" dirty="0"/>
              <a:t>Business and social change </a:t>
            </a:r>
          </a:p>
          <a:p>
            <a:r>
              <a:rPr lang="en-US" sz="2000" dirty="0"/>
              <a:t>Security and trust </a:t>
            </a:r>
          </a:p>
          <a:p>
            <a:r>
              <a:rPr lang="en-US" sz="2000" dirty="0"/>
              <a:t>Scale </a:t>
            </a:r>
          </a:p>
          <a:p>
            <a:endParaRPr lang="en-ZA" sz="2000" dirty="0"/>
          </a:p>
        </p:txBody>
      </p:sp>
    </p:spTree>
    <p:extLst>
      <p:ext uri="{BB962C8B-B14F-4D97-AF65-F5344CB8AC3E}">
        <p14:creationId xmlns:p14="http://schemas.microsoft.com/office/powerpoint/2010/main" val="3017294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9FD22B-4AC4-3269-C1B5-F352E3126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0" i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Nature of Software </a:t>
            </a:r>
            <a:endParaRPr lang="en-ZA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A2F27-8850-CABB-0A39-DF0D34103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514350" indent="-514350">
              <a:buAutoNum type="arabicPeriod"/>
            </a:pPr>
            <a:r>
              <a:rPr lang="en-ZA" sz="2000" b="0" i="0">
                <a:effectLst/>
                <a:latin typeface="Arial" panose="020B0604020202020204" pitchFamily="34" charset="0"/>
              </a:rPr>
              <a:t>System Software: System software is software designed to provide a platform for other software’s. </a:t>
            </a:r>
          </a:p>
          <a:p>
            <a:pPr marL="457200" lvl="1" indent="0">
              <a:buNone/>
            </a:pPr>
            <a:r>
              <a:rPr lang="en-ZA" sz="2000" b="0" i="0">
                <a:effectLst/>
                <a:latin typeface="Arial" panose="020B0604020202020204" pitchFamily="34" charset="0"/>
              </a:rPr>
              <a:t>• It is a interaction between hardware &amp; application software. </a:t>
            </a:r>
          </a:p>
          <a:p>
            <a:pPr marL="457200" lvl="1" indent="0">
              <a:buNone/>
            </a:pPr>
            <a:r>
              <a:rPr lang="en-ZA" sz="2000" b="0" i="0">
                <a:effectLst/>
                <a:latin typeface="Arial" panose="020B0604020202020204" pitchFamily="34" charset="0"/>
              </a:rPr>
              <a:t>• Examples: Operating Systems like macOS, Linux, Android and Microsoft Windows. </a:t>
            </a:r>
          </a:p>
          <a:p>
            <a:pPr marL="514350" indent="-514350">
              <a:buAutoNum type="arabicPeriod"/>
            </a:pPr>
            <a:r>
              <a:rPr lang="en-ZA" sz="2000" b="0" i="0">
                <a:effectLst/>
                <a:latin typeface="Arial" panose="020B0604020202020204" pitchFamily="34" charset="0"/>
              </a:rPr>
              <a:t>Application Software: Application Software is a computer program designed to carry out a specific task as per user &amp; business need. </a:t>
            </a:r>
          </a:p>
          <a:p>
            <a:pPr marL="457200" lvl="1" indent="0">
              <a:buNone/>
            </a:pPr>
            <a:r>
              <a:rPr lang="en-ZA" sz="2000" b="0" i="0">
                <a:effectLst/>
                <a:latin typeface="Arial" panose="020B0604020202020204" pitchFamily="34" charset="0"/>
              </a:rPr>
              <a:t>• Examples: Social medias apps, Gaming apps, Word processing apps, Multimedia apps, Banking apps, Shopping apps, Booking apps etc</a:t>
            </a:r>
            <a:endParaRPr lang="en-ZA" sz="2000"/>
          </a:p>
        </p:txBody>
      </p:sp>
    </p:spTree>
    <p:extLst>
      <p:ext uri="{BB962C8B-B14F-4D97-AF65-F5344CB8AC3E}">
        <p14:creationId xmlns:p14="http://schemas.microsoft.com/office/powerpoint/2010/main" val="2265863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0713F3-985B-6E3C-8F72-C9326485D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0" i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Nature of Software </a:t>
            </a:r>
            <a:endParaRPr lang="en-ZA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01908-E0F4-1654-97EF-3B1FF3406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0" i="0">
                <a:effectLst/>
                <a:latin typeface="Arial" panose="020B0604020202020204" pitchFamily="34" charset="0"/>
              </a:rPr>
              <a:t>3. Engineering and Scientific Software: This software is used to facilitate the engineering function and task take real time. </a:t>
            </a:r>
          </a:p>
          <a:p>
            <a:pPr marL="457200" lvl="1" indent="0">
              <a:buNone/>
            </a:pPr>
            <a:r>
              <a:rPr lang="en-US" sz="2000" b="0" i="0">
                <a:effectLst/>
                <a:latin typeface="Arial" panose="020B0604020202020204" pitchFamily="34" charset="0"/>
              </a:rPr>
              <a:t>• It has very high accuracy, complex formula evolution &amp; data analysis. </a:t>
            </a:r>
          </a:p>
          <a:p>
            <a:pPr marL="457200" lvl="1" indent="0">
              <a:buNone/>
            </a:pPr>
            <a:r>
              <a:rPr lang="en-US" sz="2000" b="0" i="0">
                <a:effectLst/>
                <a:latin typeface="Arial" panose="020B0604020202020204" pitchFamily="34" charset="0"/>
              </a:rPr>
              <a:t>• Examples: Weather prediction apps, Stock Market apps, Stress Analysis, Body measurement apps </a:t>
            </a:r>
          </a:p>
          <a:p>
            <a:pPr marL="0" indent="0">
              <a:buNone/>
            </a:pPr>
            <a:r>
              <a:rPr lang="en-US" sz="2000" b="0" i="0">
                <a:effectLst/>
                <a:latin typeface="Arial" panose="020B0604020202020204" pitchFamily="34" charset="0"/>
              </a:rPr>
              <a:t>4. Embedded Software: Embedded software resides within the system or product and is used to implement and control feature and function for the end-user and for the system itself. </a:t>
            </a:r>
          </a:p>
          <a:p>
            <a:pPr marL="457200" lvl="1" indent="0">
              <a:buNone/>
            </a:pPr>
            <a:r>
              <a:rPr lang="en-US" sz="2000" b="0" i="0">
                <a:effectLst/>
                <a:latin typeface="Arial" panose="020B0604020202020204" pitchFamily="34" charset="0"/>
              </a:rPr>
              <a:t>• Example: Switches, Routers, Digital camera, Washing machine functionalities, Traffic control</a:t>
            </a:r>
            <a:endParaRPr lang="en-ZA" sz="2000"/>
          </a:p>
        </p:txBody>
      </p:sp>
    </p:spTree>
    <p:extLst>
      <p:ext uri="{BB962C8B-B14F-4D97-AF65-F5344CB8AC3E}">
        <p14:creationId xmlns:p14="http://schemas.microsoft.com/office/powerpoint/2010/main" val="3281565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73C39-4165-FD0F-9D2E-4179D7482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0" i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Nature of Software </a:t>
            </a:r>
            <a:endParaRPr lang="en-ZA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9EF19-A366-D033-17B2-8C9CA12DC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0" i="0">
                <a:effectLst/>
                <a:latin typeface="Arial" panose="020B0604020202020204" pitchFamily="34" charset="0"/>
              </a:rPr>
              <a:t>5. Web Applications: It is a client-server computer program which the client runs on the web browser. </a:t>
            </a:r>
          </a:p>
          <a:p>
            <a:pPr marL="457200" lvl="1" indent="0">
              <a:buNone/>
            </a:pPr>
            <a:r>
              <a:rPr lang="en-US" sz="2000" b="0" i="0">
                <a:effectLst/>
                <a:latin typeface="Arial" panose="020B0604020202020204" pitchFamily="34" charset="0"/>
              </a:rPr>
              <a:t>• Web apps can be little more than a set of linked hypertext files that present information using text and limited graphics.</a:t>
            </a:r>
          </a:p>
          <a:p>
            <a:pPr marL="457200" lvl="1" indent="0">
              <a:buNone/>
            </a:pPr>
            <a:r>
              <a:rPr lang="en-US" sz="2000" b="0" i="0">
                <a:effectLst/>
                <a:latin typeface="Arial" panose="020B0604020202020204" pitchFamily="34" charset="0"/>
              </a:rPr>
              <a:t>• Examples: Online forms, Shopping carts, Gmail, Yahoo, Photo editing, File conversion etc. </a:t>
            </a:r>
          </a:p>
          <a:p>
            <a:pPr marL="0" indent="0">
              <a:buNone/>
            </a:pPr>
            <a:r>
              <a:rPr lang="en-US" sz="2000" b="0" i="0">
                <a:effectLst/>
                <a:latin typeface="Arial" panose="020B0604020202020204" pitchFamily="34" charset="0"/>
              </a:rPr>
              <a:t>6. Artificial Intelligence Software: It makes use of a nonnumerical algorithm to solve a complex problem. </a:t>
            </a:r>
          </a:p>
          <a:p>
            <a:pPr marL="457200" lvl="1" indent="0">
              <a:buNone/>
            </a:pPr>
            <a:r>
              <a:rPr lang="en-US" sz="2000" b="0" i="0">
                <a:effectLst/>
                <a:latin typeface="Arial" panose="020B0604020202020204" pitchFamily="34" charset="0"/>
              </a:rPr>
              <a:t>• Application within this area includes robotics, expert system, pattern recognition, artificial neural network, theorem proving and game playing. </a:t>
            </a:r>
          </a:p>
          <a:p>
            <a:pPr marL="457200" lvl="1" indent="0">
              <a:buNone/>
            </a:pPr>
            <a:r>
              <a:rPr lang="en-US" sz="2000" b="0" i="0">
                <a:effectLst/>
                <a:latin typeface="Arial" panose="020B0604020202020204" pitchFamily="34" charset="0"/>
              </a:rPr>
              <a:t>• Examples: Google Cloud, Azure studio, Tensor Flow, Salesforce etc.</a:t>
            </a:r>
            <a:endParaRPr lang="en-ZA" sz="2000"/>
          </a:p>
        </p:txBody>
      </p:sp>
    </p:spTree>
    <p:extLst>
      <p:ext uri="{BB962C8B-B14F-4D97-AF65-F5344CB8AC3E}">
        <p14:creationId xmlns:p14="http://schemas.microsoft.com/office/powerpoint/2010/main" val="2812702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1D5A47-D63F-526F-C799-331D7B6F9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Software engineering fundamentals</a:t>
            </a:r>
            <a:endParaRPr lang="en-ZA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2493F-0CF4-90DD-AFD4-A203A6261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982" y="1622745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Planed and managed development process</a:t>
            </a:r>
          </a:p>
          <a:p>
            <a:r>
              <a:rPr lang="en-US" sz="2000" dirty="0"/>
              <a:t>Software must behave as expected, always available and work without failure (dependable).</a:t>
            </a:r>
          </a:p>
          <a:p>
            <a:r>
              <a:rPr lang="en-US" sz="2000" dirty="0"/>
              <a:t>Efficient use of resources (performance).</a:t>
            </a:r>
          </a:p>
          <a:p>
            <a:r>
              <a:rPr lang="en-US" sz="2000" dirty="0"/>
              <a:t>Manage stakeholder expectations (requirements)</a:t>
            </a:r>
          </a:p>
          <a:p>
            <a:r>
              <a:rPr lang="en-US" sz="2000" dirty="0"/>
              <a:t>Manage software reuse</a:t>
            </a:r>
          </a:p>
          <a:p>
            <a:endParaRPr lang="en-ZA" sz="2000" dirty="0"/>
          </a:p>
          <a:p>
            <a:pPr marL="0" indent="0">
              <a:buNone/>
            </a:pPr>
            <a:endParaRPr lang="en-ZA" sz="2000" dirty="0"/>
          </a:p>
        </p:txBody>
      </p:sp>
    </p:spTree>
    <p:extLst>
      <p:ext uri="{BB962C8B-B14F-4D97-AF65-F5344CB8AC3E}">
        <p14:creationId xmlns:p14="http://schemas.microsoft.com/office/powerpoint/2010/main" val="3987810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034B93-FC8B-1D84-D4E8-F114B9031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Changing Nature of Software</a:t>
            </a:r>
            <a:endParaRPr lang="en-ZA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BA631-F200-2197-FFAF-08ED7A535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/>
              <a:t>WebApps</a:t>
            </a:r>
          </a:p>
          <a:p>
            <a:r>
              <a:rPr lang="en-US" sz="2000"/>
              <a:t>Semantic web technologies(Web3.0)</a:t>
            </a:r>
          </a:p>
          <a:p>
            <a:r>
              <a:rPr lang="en-US" sz="2000"/>
              <a:t>Semantic databases; web linking; flexible data representation; and application programmer interfaces(API’s)</a:t>
            </a:r>
          </a:p>
          <a:p>
            <a:pPr marL="0" indent="0">
              <a:buNone/>
            </a:pPr>
            <a:r>
              <a:rPr lang="en-US" sz="2000"/>
              <a:t>Mobile Apps</a:t>
            </a:r>
          </a:p>
          <a:p>
            <a:r>
              <a:rPr lang="en-US" sz="2000"/>
              <a:t>Can gain direct access to the hardware found on the device to provide local processing and storage capabilities</a:t>
            </a:r>
          </a:p>
          <a:p>
            <a:pPr marL="0" indent="0">
              <a:buNone/>
            </a:pPr>
            <a:r>
              <a:rPr lang="en-US" sz="2000"/>
              <a:t>Cloud Computing</a:t>
            </a:r>
          </a:p>
          <a:p>
            <a:r>
              <a:rPr lang="en-US" sz="2000"/>
              <a:t>Cloud computing provides distributed data storage and processing resources to networked computing devices</a:t>
            </a:r>
          </a:p>
          <a:p>
            <a:endParaRPr lang="en-ZA" sz="2000"/>
          </a:p>
        </p:txBody>
      </p:sp>
    </p:spTree>
    <p:extLst>
      <p:ext uri="{BB962C8B-B14F-4D97-AF65-F5344CB8AC3E}">
        <p14:creationId xmlns:p14="http://schemas.microsoft.com/office/powerpoint/2010/main" val="1206458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15394-FDED-611E-1DE2-76032AA12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Changing Nature of Software</a:t>
            </a:r>
            <a:endParaRPr lang="en-ZA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B5D60-6962-3480-2D3D-952B15D62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/>
              <a:t>Product Line Software</a:t>
            </a:r>
          </a:p>
          <a:p>
            <a:r>
              <a:rPr lang="en-US" sz="2000"/>
              <a:t>A software product line shares a set of assets that include requirements, architecture, design patterns, reusable components, test cases and other work products</a:t>
            </a:r>
          </a:p>
          <a:p>
            <a:pPr marL="0" indent="0">
              <a:buNone/>
            </a:pPr>
            <a:r>
              <a:rPr lang="en-US" sz="2000"/>
              <a:t>Service orientated software</a:t>
            </a:r>
          </a:p>
          <a:p>
            <a:r>
              <a:rPr lang="en-US" sz="2000"/>
              <a:t>Software system is composed of standalone web-services</a:t>
            </a:r>
          </a:p>
          <a:p>
            <a:pPr marL="0" indent="0">
              <a:buNone/>
            </a:pPr>
            <a:r>
              <a:rPr lang="en-US" sz="2000"/>
              <a:t>Rich internet interfaces</a:t>
            </a:r>
          </a:p>
          <a:p>
            <a:r>
              <a:rPr lang="en-US" sz="2000"/>
              <a:t>AJAX and HTML5</a:t>
            </a:r>
          </a:p>
          <a:p>
            <a:endParaRPr lang="en-ZA" sz="2000"/>
          </a:p>
        </p:txBody>
      </p:sp>
    </p:spTree>
    <p:extLst>
      <p:ext uri="{BB962C8B-B14F-4D97-AF65-F5344CB8AC3E}">
        <p14:creationId xmlns:p14="http://schemas.microsoft.com/office/powerpoint/2010/main" val="1648988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BBEFD5-C606-BD52-8171-8E9412809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b="0" i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Software Process Activities </a:t>
            </a:r>
            <a:endParaRPr lang="en-ZA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2E0D2-CA01-7CE2-8C3F-4E4AA4E56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b="0" i="0">
                <a:effectLst/>
                <a:latin typeface="Arial" panose="020B0604020202020204" pitchFamily="34" charset="0"/>
              </a:rPr>
              <a:t>A software process is the set of activities and associated outcome that produce a software product. </a:t>
            </a:r>
          </a:p>
          <a:p>
            <a:r>
              <a:rPr lang="en-US" sz="2000" b="0" i="0">
                <a:effectLst/>
                <a:latin typeface="Arial" panose="020B0604020202020204" pitchFamily="34" charset="0"/>
              </a:rPr>
              <a:t>Software engineers mostly carry out these activities. </a:t>
            </a:r>
          </a:p>
          <a:p>
            <a:pPr marL="0" indent="0">
              <a:buNone/>
            </a:pPr>
            <a:r>
              <a:rPr lang="en-US" sz="2000" b="0" i="0">
                <a:effectLst/>
                <a:latin typeface="Arial" panose="020B0604020202020204" pitchFamily="34" charset="0"/>
              </a:rPr>
              <a:t>1. </a:t>
            </a:r>
            <a:r>
              <a:rPr lang="en-US" sz="2000" b="1" i="0">
                <a:effectLst/>
                <a:latin typeface="Arial" panose="020B0604020202020204" pitchFamily="34" charset="0"/>
              </a:rPr>
              <a:t>Software Specifications</a:t>
            </a:r>
            <a:r>
              <a:rPr lang="en-US" sz="2000" b="0" i="0">
                <a:effectLst/>
                <a:latin typeface="Arial" panose="020B0604020202020204" pitchFamily="34" charset="0"/>
              </a:rPr>
              <a:t>: The functionality of the software and constraints on its operation must be defined </a:t>
            </a:r>
          </a:p>
          <a:p>
            <a:pPr marL="0" indent="0">
              <a:buNone/>
            </a:pPr>
            <a:r>
              <a:rPr lang="en-US" sz="2000" b="0" i="0">
                <a:effectLst/>
                <a:latin typeface="Arial" panose="020B0604020202020204" pitchFamily="34" charset="0"/>
              </a:rPr>
              <a:t>2. </a:t>
            </a:r>
            <a:r>
              <a:rPr lang="en-US" sz="2000" b="1" i="0">
                <a:effectLst/>
                <a:latin typeface="Arial" panose="020B0604020202020204" pitchFamily="34" charset="0"/>
              </a:rPr>
              <a:t>Software Development</a:t>
            </a:r>
            <a:r>
              <a:rPr lang="en-US" sz="2000" b="0" i="0">
                <a:effectLst/>
                <a:latin typeface="Arial" panose="020B0604020202020204" pitchFamily="34" charset="0"/>
              </a:rPr>
              <a:t>: The software to meet the requirement must be produced. </a:t>
            </a:r>
          </a:p>
          <a:p>
            <a:pPr marL="0" indent="0">
              <a:buNone/>
            </a:pPr>
            <a:r>
              <a:rPr lang="en-US" sz="2000" b="0" i="0">
                <a:effectLst/>
                <a:latin typeface="Arial" panose="020B0604020202020204" pitchFamily="34" charset="0"/>
              </a:rPr>
              <a:t>3. </a:t>
            </a:r>
            <a:r>
              <a:rPr lang="en-US" sz="2000" b="1" i="0">
                <a:effectLst/>
                <a:latin typeface="Arial" panose="020B0604020202020204" pitchFamily="34" charset="0"/>
              </a:rPr>
              <a:t>Software Validation</a:t>
            </a:r>
            <a:r>
              <a:rPr lang="en-US" sz="2000" b="0" i="0">
                <a:effectLst/>
                <a:latin typeface="Arial" panose="020B0604020202020204" pitchFamily="34" charset="0"/>
              </a:rPr>
              <a:t>: The software must be validated to ensure that it does what the customer wants. </a:t>
            </a:r>
          </a:p>
          <a:p>
            <a:pPr marL="0" indent="0">
              <a:buNone/>
            </a:pPr>
            <a:r>
              <a:rPr lang="en-US" sz="2000" b="0" i="0">
                <a:effectLst/>
                <a:latin typeface="Arial" panose="020B0604020202020204" pitchFamily="34" charset="0"/>
              </a:rPr>
              <a:t>4. </a:t>
            </a:r>
            <a:r>
              <a:rPr lang="en-US" sz="2000" b="1" i="0">
                <a:effectLst/>
                <a:latin typeface="Arial" panose="020B0604020202020204" pitchFamily="34" charset="0"/>
              </a:rPr>
              <a:t>Software Evolution</a:t>
            </a:r>
            <a:r>
              <a:rPr lang="en-US" sz="2000" b="0" i="0">
                <a:effectLst/>
                <a:latin typeface="Arial" panose="020B0604020202020204" pitchFamily="34" charset="0"/>
              </a:rPr>
              <a:t>: The software must evolve to meet changing client needs.</a:t>
            </a:r>
            <a:endParaRPr lang="en-ZA" sz="2000"/>
          </a:p>
        </p:txBody>
      </p:sp>
    </p:spTree>
    <p:extLst>
      <p:ext uri="{BB962C8B-B14F-4D97-AF65-F5344CB8AC3E}">
        <p14:creationId xmlns:p14="http://schemas.microsoft.com/office/powerpoint/2010/main" val="926675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0C367F-E15C-1D2D-99DC-344EB48D7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0" i="0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SDLC Models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CC6E0E-B95A-CEFD-9A39-62CDE89125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391" t="2007" r="6814" b="2676"/>
          <a:stretch/>
        </p:blipFill>
        <p:spPr>
          <a:xfrm>
            <a:off x="4502428" y="481537"/>
            <a:ext cx="7225748" cy="589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731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2ACEA8-CA39-2DA0-72B6-EBC685DAE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Software engineering ethics</a:t>
            </a:r>
            <a:endParaRPr lang="en-ZA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07C7B-A5EE-3892-19F7-8EE2436BE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400"/>
              <a:t>Software engineers must behave in an honest and ethically</a:t>
            </a:r>
          </a:p>
          <a:p>
            <a:r>
              <a:rPr lang="en-US" sz="1400"/>
              <a:t>Be respected as professionals</a:t>
            </a:r>
          </a:p>
          <a:p>
            <a:r>
              <a:rPr lang="en-US" sz="1400"/>
              <a:t>Ethical behavior is more than simply upholding the law</a:t>
            </a:r>
          </a:p>
          <a:p>
            <a:r>
              <a:rPr lang="en-US" sz="1400"/>
              <a:t>involves following a set of principles that are morally correct.</a:t>
            </a:r>
          </a:p>
          <a:p>
            <a:r>
              <a:rPr lang="en-US" sz="1400"/>
              <a:t>Respect Confidentiality of employers and clients</a:t>
            </a:r>
          </a:p>
          <a:p>
            <a:r>
              <a:rPr lang="en-US" sz="1400"/>
              <a:t>Not accept work outside your Competence </a:t>
            </a:r>
          </a:p>
          <a:p>
            <a:r>
              <a:rPr lang="en-US" sz="1400"/>
              <a:t>Protect the intellectual property of employers and clients</a:t>
            </a:r>
          </a:p>
          <a:p>
            <a:r>
              <a:rPr lang="en-US" sz="1400"/>
              <a:t>Not use technical skills to misuse other people’s computers </a:t>
            </a:r>
          </a:p>
          <a:p>
            <a:r>
              <a:rPr lang="en-US" sz="1400"/>
              <a:t>ACM/IEEE maintain code of ethics and processional practice</a:t>
            </a:r>
          </a:p>
          <a:p>
            <a:pPr marL="0" indent="0">
              <a:buNone/>
            </a:pPr>
            <a:r>
              <a:rPr lang="en-US" sz="1400" b="1"/>
              <a:t>https://www.youtube.com/watch?v=d91MTV9AlNg</a:t>
            </a:r>
          </a:p>
          <a:p>
            <a:pPr marL="0" indent="0">
              <a:buNone/>
            </a:pPr>
            <a:r>
              <a:rPr lang="en-US" sz="1400"/>
              <a:t> </a:t>
            </a:r>
          </a:p>
          <a:p>
            <a:endParaRPr lang="en-ZA" sz="1400"/>
          </a:p>
        </p:txBody>
      </p:sp>
    </p:spTree>
    <p:extLst>
      <p:ext uri="{BB962C8B-B14F-4D97-AF65-F5344CB8AC3E}">
        <p14:creationId xmlns:p14="http://schemas.microsoft.com/office/powerpoint/2010/main" val="240911291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1063</Words>
  <Application>Microsoft Office PowerPoint</Application>
  <PresentationFormat>Widescreen</PresentationFormat>
  <Paragraphs>104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Calibri Light</vt:lpstr>
      <vt:lpstr>1_Office Theme</vt:lpstr>
      <vt:lpstr>2_Office Theme</vt:lpstr>
      <vt:lpstr>INFORMATION SYSTEMS 3A  INTRODUCTION TO SOFTWARE ENGINEERING</vt:lpstr>
      <vt:lpstr>Contents</vt:lpstr>
      <vt:lpstr>What Is Software?</vt:lpstr>
      <vt:lpstr>What Is Engineering?</vt:lpstr>
      <vt:lpstr>What is software Engineering?</vt:lpstr>
      <vt:lpstr>Need of Software Engineering</vt:lpstr>
      <vt:lpstr>Software products</vt:lpstr>
      <vt:lpstr>Characteristics of Good Software  </vt:lpstr>
      <vt:lpstr>General issues that affect software</vt:lpstr>
      <vt:lpstr>Nature of Software </vt:lpstr>
      <vt:lpstr>Nature of Software </vt:lpstr>
      <vt:lpstr>Nature of Software </vt:lpstr>
      <vt:lpstr>Software engineering fundamentals</vt:lpstr>
      <vt:lpstr>Changing Nature of Software</vt:lpstr>
      <vt:lpstr>Changing Nature of Software</vt:lpstr>
      <vt:lpstr>Software Process Activities </vt:lpstr>
      <vt:lpstr>SDLC Models</vt:lpstr>
      <vt:lpstr>Software engineering ethics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Noxolo Pretty Cele</dc:creator>
  <cp:lastModifiedBy>Noxolo Pretty Cele</cp:lastModifiedBy>
  <cp:revision>2</cp:revision>
  <dcterms:created xsi:type="dcterms:W3CDTF">2025-03-07T10:24:17Z</dcterms:created>
  <dcterms:modified xsi:type="dcterms:W3CDTF">2026-02-18T04:36:36Z</dcterms:modified>
</cp:coreProperties>
</file>