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Lst>
  <p:notesMasterIdLst>
    <p:notesMasterId r:id="rId28"/>
  </p:notesMasterIdLst>
  <p:sldIdLst>
    <p:sldId id="321" r:id="rId4"/>
    <p:sldId id="322" r:id="rId5"/>
    <p:sldId id="257" r:id="rId6"/>
    <p:sldId id="355" r:id="rId7"/>
    <p:sldId id="336" r:id="rId8"/>
    <p:sldId id="337" r:id="rId9"/>
    <p:sldId id="338" r:id="rId10"/>
    <p:sldId id="339" r:id="rId11"/>
    <p:sldId id="340" r:id="rId12"/>
    <p:sldId id="341" r:id="rId13"/>
    <p:sldId id="323" r:id="rId14"/>
    <p:sldId id="326" r:id="rId15"/>
    <p:sldId id="327" r:id="rId16"/>
    <p:sldId id="328" r:id="rId17"/>
    <p:sldId id="329" r:id="rId18"/>
    <p:sldId id="330" r:id="rId19"/>
    <p:sldId id="325" r:id="rId20"/>
    <p:sldId id="344" r:id="rId21"/>
    <p:sldId id="346" r:id="rId22"/>
    <p:sldId id="348" r:id="rId23"/>
    <p:sldId id="349" r:id="rId24"/>
    <p:sldId id="352" r:id="rId25"/>
    <p:sldId id="351" r:id="rId26"/>
    <p:sldId id="35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83" d="100"/>
          <a:sy n="83" d="100"/>
        </p:scale>
        <p:origin x="43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xolo Pretty Cele" userId="c0214832-da79-4e77-9892-7642ead81f7d" providerId="ADAL" clId="{38C75C36-08D6-456C-B4B9-DF9254900FEF}"/>
    <pc:docChg chg="undo custSel addSld delSld modSld">
      <pc:chgData name="Noxolo Pretty Cele" userId="c0214832-da79-4e77-9892-7642ead81f7d" providerId="ADAL" clId="{38C75C36-08D6-456C-B4B9-DF9254900FEF}" dt="2026-04-15T18:13:19.769" v="42" actId="2696"/>
      <pc:docMkLst>
        <pc:docMk/>
      </pc:docMkLst>
      <pc:sldChg chg="modSp mod">
        <pc:chgData name="Noxolo Pretty Cele" userId="c0214832-da79-4e77-9892-7642ead81f7d" providerId="ADAL" clId="{38C75C36-08D6-456C-B4B9-DF9254900FEF}" dt="2026-04-15T09:43:36.358" v="31" actId="20577"/>
        <pc:sldMkLst>
          <pc:docMk/>
          <pc:sldMk cId="75954246" sldId="321"/>
        </pc:sldMkLst>
        <pc:spChg chg="mod">
          <ac:chgData name="Noxolo Pretty Cele" userId="c0214832-da79-4e77-9892-7642ead81f7d" providerId="ADAL" clId="{38C75C36-08D6-456C-B4B9-DF9254900FEF}" dt="2026-04-15T09:43:36.358" v="31" actId="20577"/>
          <ac:spMkLst>
            <pc:docMk/>
            <pc:sldMk cId="75954246" sldId="321"/>
            <ac:spMk id="2" creationId="{00000000-0000-0000-0000-000000000000}"/>
          </ac:spMkLst>
        </pc:spChg>
      </pc:sldChg>
      <pc:sldChg chg="addSp modSp del mod">
        <pc:chgData name="Noxolo Pretty Cele" userId="c0214832-da79-4e77-9892-7642ead81f7d" providerId="ADAL" clId="{38C75C36-08D6-456C-B4B9-DF9254900FEF}" dt="2026-04-14T17:14:05.534" v="29" actId="47"/>
        <pc:sldMkLst>
          <pc:docMk/>
          <pc:sldMk cId="641572699" sldId="331"/>
        </pc:sldMkLst>
      </pc:sldChg>
      <pc:sldChg chg="modSp mod">
        <pc:chgData name="Noxolo Pretty Cele" userId="c0214832-da79-4e77-9892-7642ead81f7d" providerId="ADAL" clId="{38C75C36-08D6-456C-B4B9-DF9254900FEF}" dt="2026-04-15T18:06:19.105" v="41" actId="20577"/>
        <pc:sldMkLst>
          <pc:docMk/>
          <pc:sldMk cId="613108385" sldId="344"/>
        </pc:sldMkLst>
        <pc:spChg chg="mod">
          <ac:chgData name="Noxolo Pretty Cele" userId="c0214832-da79-4e77-9892-7642ead81f7d" providerId="ADAL" clId="{38C75C36-08D6-456C-B4B9-DF9254900FEF}" dt="2026-04-15T18:06:19.105" v="41" actId="20577"/>
          <ac:spMkLst>
            <pc:docMk/>
            <pc:sldMk cId="613108385" sldId="344"/>
            <ac:spMk id="3" creationId="{07D19ED1-4496-7515-7222-D45C1127F10F}"/>
          </ac:spMkLst>
        </pc:spChg>
      </pc:sldChg>
      <pc:sldChg chg="del">
        <pc:chgData name="Noxolo Pretty Cele" userId="c0214832-da79-4e77-9892-7642ead81f7d" providerId="ADAL" clId="{38C75C36-08D6-456C-B4B9-DF9254900FEF}" dt="2026-04-15T18:13:19.769" v="42" actId="2696"/>
        <pc:sldMkLst>
          <pc:docMk/>
          <pc:sldMk cId="901246600" sldId="347"/>
        </pc:sldMkLst>
      </pc:sldChg>
      <pc:sldChg chg="modSp add mod">
        <pc:chgData name="Noxolo Pretty Cele" userId="c0214832-da79-4e77-9892-7642ead81f7d" providerId="ADAL" clId="{38C75C36-08D6-456C-B4B9-DF9254900FEF}" dt="2026-04-13T19:32:55.063" v="28" actId="113"/>
        <pc:sldMkLst>
          <pc:docMk/>
          <pc:sldMk cId="1129358425" sldId="355"/>
        </pc:sldMkLst>
        <pc:spChg chg="mod">
          <ac:chgData name="Noxolo Pretty Cele" userId="c0214832-da79-4e77-9892-7642ead81f7d" providerId="ADAL" clId="{38C75C36-08D6-456C-B4B9-DF9254900FEF}" dt="2026-04-13T19:32:55.063" v="28" actId="113"/>
          <ac:spMkLst>
            <pc:docMk/>
            <pc:sldMk cId="1129358425" sldId="355"/>
            <ac:spMk id="3" creationId="{62564099-CB58-E8CD-9A25-3AC9FDD71A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1AFD7-0B8C-41F7-8605-9638E1C6B09C}" type="datetimeFigureOut">
              <a:rPr lang="en-ZA" smtClean="0"/>
              <a:t>2026/04/14</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B8EDD4-AD68-4BFA-A720-79FE13DB3246}" type="slidenum">
              <a:rPr lang="en-ZA" smtClean="0"/>
              <a:t>‹#›</a:t>
            </a:fld>
            <a:endParaRPr lang="en-ZA"/>
          </a:p>
        </p:txBody>
      </p:sp>
    </p:spTree>
    <p:extLst>
      <p:ext uri="{BB962C8B-B14F-4D97-AF65-F5344CB8AC3E}">
        <p14:creationId xmlns:p14="http://schemas.microsoft.com/office/powerpoint/2010/main" val="158612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 name="Date Placeholder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2022</a:t>
            </a: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 Madamshetty Department of IS</a:t>
            </a:r>
          </a:p>
        </p:txBody>
      </p:sp>
    </p:spTree>
    <p:extLst>
      <p:ext uri="{BB962C8B-B14F-4D97-AF65-F5344CB8AC3E}">
        <p14:creationId xmlns:p14="http://schemas.microsoft.com/office/powerpoint/2010/main" val="1779760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FA16E-72DC-B951-DB03-C1D9641FFD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55F8641D-A740-B221-FCDB-263D04C06D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DA6A93E8-B3B4-2D0F-80D6-9BBDF48A9D6C}"/>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5" name="Footer Placeholder 4">
            <a:extLst>
              <a:ext uri="{FF2B5EF4-FFF2-40B4-BE49-F238E27FC236}">
                <a16:creationId xmlns:a16="http://schemas.microsoft.com/office/drawing/2014/main" id="{B706E39E-117A-79FE-FFE9-0B6811D5368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CE330D0-9EFF-8357-F935-092EEBA76558}"/>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1474592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E0A05-FD22-8E45-1177-950401EEBCC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277F6642-6A89-1644-5625-9C15FE2AA5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FD1F4B8-0F0C-4B0A-A07D-59D943E709D6}"/>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5" name="Footer Placeholder 4">
            <a:extLst>
              <a:ext uri="{FF2B5EF4-FFF2-40B4-BE49-F238E27FC236}">
                <a16:creationId xmlns:a16="http://schemas.microsoft.com/office/drawing/2014/main" id="{7938531F-9C13-BCCD-7426-E34A6A5F5C6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C2A7476-66E6-40CF-94C6-7461DD3D2822}"/>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2177103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8DD9-329B-2457-AED8-0B37340EE7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1B9E6D66-8FB1-3578-0808-69ECD3865D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EE27B0-BCB0-2F9E-8433-261E643DAC1E}"/>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5" name="Footer Placeholder 4">
            <a:extLst>
              <a:ext uri="{FF2B5EF4-FFF2-40B4-BE49-F238E27FC236}">
                <a16:creationId xmlns:a16="http://schemas.microsoft.com/office/drawing/2014/main" id="{2C606480-BEC1-249E-3B9B-297506F5DE0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E1B74E7-DD09-14A3-1561-38CD5C14EABA}"/>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5383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1FDC-7E5D-3514-385F-30AB6F87887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B210132-E6A8-7494-62B7-453AAC3ABD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E07BD47B-3536-0CE6-F530-0F3919BEDF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C76CFB63-6957-A7F6-4897-CA08C58CC0AC}"/>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6" name="Footer Placeholder 5">
            <a:extLst>
              <a:ext uri="{FF2B5EF4-FFF2-40B4-BE49-F238E27FC236}">
                <a16:creationId xmlns:a16="http://schemas.microsoft.com/office/drawing/2014/main" id="{43CC8230-95D8-1B8A-FB56-446D5099011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C2578B0-1952-E635-26B9-4D3CCEAD3DF6}"/>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2878005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E3EF-EC5B-EC8D-87FA-F9AAFA656AA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DD24B0E-364B-82BB-AD73-AC8A325B4E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873130-D061-73E7-2D93-1F759D35D2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05673EAF-B66D-E012-CD16-936A73DE5E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6EA0C5-66EC-F983-1768-2613FE6D2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56C994ED-C5DF-E343-582B-2A0CD0D36DE0}"/>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8" name="Footer Placeholder 7">
            <a:extLst>
              <a:ext uri="{FF2B5EF4-FFF2-40B4-BE49-F238E27FC236}">
                <a16:creationId xmlns:a16="http://schemas.microsoft.com/office/drawing/2014/main" id="{A040D2A8-27EF-746A-83BC-79AD0E6EF61C}"/>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31ADFB7E-0C8D-B3E9-1121-5348041C477E}"/>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3673015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7EF2-DCD6-E996-BAA6-28734EED956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41131138-27AC-B622-0222-48E8BF408114}"/>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4" name="Footer Placeholder 3">
            <a:extLst>
              <a:ext uri="{FF2B5EF4-FFF2-40B4-BE49-F238E27FC236}">
                <a16:creationId xmlns:a16="http://schemas.microsoft.com/office/drawing/2014/main" id="{EF94D87B-F87E-68E3-854E-1385EAA4DF0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F9B032A-D353-F88D-BF30-196EBB329E0B}"/>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2759988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FBB9F4-0392-C986-FB9F-B9BA4DD6CC48}"/>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3" name="Footer Placeholder 2">
            <a:extLst>
              <a:ext uri="{FF2B5EF4-FFF2-40B4-BE49-F238E27FC236}">
                <a16:creationId xmlns:a16="http://schemas.microsoft.com/office/drawing/2014/main" id="{1035A63F-7813-8029-8CBE-80F3ACC2EB7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9B61D3CB-E503-4793-EF26-C78DA0AE519B}"/>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2983429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9962-BCB1-62D2-3FFF-D8702F7766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85DAA7C-5AFE-3C9B-A0B6-22BDF46752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2BF5CAC-B729-3390-5531-E110C09A95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69CA44-47C9-CF94-BC18-0B56B85EB4D5}"/>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6" name="Footer Placeholder 5">
            <a:extLst>
              <a:ext uri="{FF2B5EF4-FFF2-40B4-BE49-F238E27FC236}">
                <a16:creationId xmlns:a16="http://schemas.microsoft.com/office/drawing/2014/main" id="{4BA698E0-5FED-11AF-355C-3FA77C7ABC5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47F793D-077A-F287-AD07-042757A901C6}"/>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682004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70A2-C1B1-99D2-B552-AD03E45679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4A5961C-374C-3B6A-E8A7-49C9C13D7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5AB01D1-D287-5F3A-0D3A-AE43420D3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79BCA9-69D3-FC09-E829-DA03B88B0148}"/>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6" name="Footer Placeholder 5">
            <a:extLst>
              <a:ext uri="{FF2B5EF4-FFF2-40B4-BE49-F238E27FC236}">
                <a16:creationId xmlns:a16="http://schemas.microsoft.com/office/drawing/2014/main" id="{CB12E04C-38DD-3A60-048E-643858E03F3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D03D9ED-6F09-01DA-F338-F210494E9FDC}"/>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2033464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62D5-58AC-A3A7-C09A-F74C3C98379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B698B5F-4A66-6154-2F08-4C59CB6DB7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018607B-FC0F-8A79-AA6C-8E056C983F81}"/>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5" name="Footer Placeholder 4">
            <a:extLst>
              <a:ext uri="{FF2B5EF4-FFF2-40B4-BE49-F238E27FC236}">
                <a16:creationId xmlns:a16="http://schemas.microsoft.com/office/drawing/2014/main" id="{2CDF5C91-3F82-7A87-DBC8-ABFB74F5BAA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DA3E93E-A792-0A25-FA15-4B98D6505C29}"/>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428040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F040DF-C680-D0DA-CADE-8CFE04AFA9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D1CCEE5-AABB-289E-0C4A-071C36141D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39C0BE3-1841-D17F-76AC-6D764D1832A0}"/>
              </a:ext>
            </a:extLst>
          </p:cNvPr>
          <p:cNvSpPr>
            <a:spLocks noGrp="1"/>
          </p:cNvSpPr>
          <p:nvPr>
            <p:ph type="dt" sz="half" idx="10"/>
          </p:nvPr>
        </p:nvSpPr>
        <p:spPr/>
        <p:txBody>
          <a:bodyPr/>
          <a:lstStyle/>
          <a:p>
            <a:fld id="{B79C491A-500F-4916-B318-40DF923BF431}" type="datetimeFigureOut">
              <a:rPr lang="en-ZA" smtClean="0"/>
              <a:t>2026/04/14</a:t>
            </a:fld>
            <a:endParaRPr lang="en-ZA"/>
          </a:p>
        </p:txBody>
      </p:sp>
      <p:sp>
        <p:nvSpPr>
          <p:cNvPr id="5" name="Footer Placeholder 4">
            <a:extLst>
              <a:ext uri="{FF2B5EF4-FFF2-40B4-BE49-F238E27FC236}">
                <a16:creationId xmlns:a16="http://schemas.microsoft.com/office/drawing/2014/main" id="{641018A0-2076-3232-E1D7-C9E563BDFFB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A793596-FD8F-7582-82AF-7A4DD4706A5C}"/>
              </a:ext>
            </a:extLst>
          </p:cNvPr>
          <p:cNvSpPr>
            <a:spLocks noGrp="1"/>
          </p:cNvSpPr>
          <p:nvPr>
            <p:ph type="sldNum" sz="quarter" idx="12"/>
          </p:nvPr>
        </p:nvSpPr>
        <p:spPr/>
        <p:txBody>
          <a:bodyPr/>
          <a:lstStyle/>
          <a:p>
            <a:fld id="{554915CC-3D2D-45B0-8459-6AFC90C8C9E2}" type="slidenum">
              <a:rPr lang="en-ZA" smtClean="0"/>
              <a:t>‹#›</a:t>
            </a:fld>
            <a:endParaRPr lang="en-ZA"/>
          </a:p>
        </p:txBody>
      </p:sp>
    </p:spTree>
    <p:extLst>
      <p:ext uri="{BB962C8B-B14F-4D97-AF65-F5344CB8AC3E}">
        <p14:creationId xmlns:p14="http://schemas.microsoft.com/office/powerpoint/2010/main" val="2270408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188059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950537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79204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003184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r>
              <a:rPr lang="en-ZA"/>
              <a:t>2022</a:t>
            </a:r>
          </a:p>
        </p:txBody>
      </p:sp>
      <p:sp>
        <p:nvSpPr>
          <p:cNvPr id="8" name="Footer Placeholder 7"/>
          <p:cNvSpPr>
            <a:spLocks noGrp="1"/>
          </p:cNvSpPr>
          <p:nvPr>
            <p:ph type="ftr" sz="quarter" idx="11"/>
          </p:nvPr>
        </p:nvSpPr>
        <p:spPr/>
        <p:txBody>
          <a:bodyPr/>
          <a:lstStyle/>
          <a:p>
            <a:r>
              <a:rPr lang="en-US"/>
              <a:t>L Madamshetty Department Of IS</a:t>
            </a:r>
            <a:endParaRPr lang="en-ZA"/>
          </a:p>
        </p:txBody>
      </p:sp>
      <p:sp>
        <p:nvSpPr>
          <p:cNvPr id="9" name="Slide Number Placeholder 8"/>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545042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r>
              <a:rPr lang="en-ZA"/>
              <a:t>2022</a:t>
            </a:r>
          </a:p>
        </p:txBody>
      </p:sp>
      <p:sp>
        <p:nvSpPr>
          <p:cNvPr id="4" name="Footer Placeholder 3"/>
          <p:cNvSpPr>
            <a:spLocks noGrp="1"/>
          </p:cNvSpPr>
          <p:nvPr>
            <p:ph type="ftr" sz="quarter" idx="11"/>
          </p:nvPr>
        </p:nvSpPr>
        <p:spPr/>
        <p:txBody>
          <a:bodyPr/>
          <a:lstStyle/>
          <a:p>
            <a:r>
              <a:rPr lang="en-US"/>
              <a:t>L Madamshetty Department Of IS</a:t>
            </a:r>
            <a:endParaRPr lang="en-ZA"/>
          </a:p>
        </p:txBody>
      </p:sp>
      <p:sp>
        <p:nvSpPr>
          <p:cNvPr id="5" name="Slide Number Placeholder 4"/>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959600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ZA"/>
              <a:t>2022</a:t>
            </a:r>
          </a:p>
        </p:txBody>
      </p:sp>
      <p:sp>
        <p:nvSpPr>
          <p:cNvPr id="3" name="Footer Placeholder 2"/>
          <p:cNvSpPr>
            <a:spLocks noGrp="1"/>
          </p:cNvSpPr>
          <p:nvPr>
            <p:ph type="ftr" sz="quarter" idx="11"/>
          </p:nvPr>
        </p:nvSpPr>
        <p:spPr/>
        <p:txBody>
          <a:bodyPr/>
          <a:lstStyle/>
          <a:p>
            <a:r>
              <a:rPr lang="en-US"/>
              <a:t>L Madamshetty Department Of IS</a:t>
            </a:r>
            <a:endParaRPr lang="en-ZA"/>
          </a:p>
        </p:txBody>
      </p:sp>
      <p:sp>
        <p:nvSpPr>
          <p:cNvPr id="4" name="Slide Number Placeholder 3"/>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516370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1876637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ZA"/>
              <a:t>2022</a:t>
            </a:r>
          </a:p>
        </p:txBody>
      </p:sp>
      <p:sp>
        <p:nvSpPr>
          <p:cNvPr id="6" name="Footer Placeholder 5"/>
          <p:cNvSpPr>
            <a:spLocks noGrp="1"/>
          </p:cNvSpPr>
          <p:nvPr>
            <p:ph type="ftr" sz="quarter" idx="11"/>
          </p:nvPr>
        </p:nvSpPr>
        <p:spPr/>
        <p:txBody>
          <a:bodyPr/>
          <a:lstStyle/>
          <a:p>
            <a:r>
              <a:rPr lang="en-US"/>
              <a:t>L Madamshetty Department Of IS</a:t>
            </a:r>
            <a:endParaRPr lang="en-ZA"/>
          </a:p>
        </p:txBody>
      </p:sp>
      <p:sp>
        <p:nvSpPr>
          <p:cNvPr id="7" name="Slide Number Placeholder 6"/>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695314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631931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r>
              <a:rPr lang="en-ZA"/>
              <a:t>2022</a:t>
            </a:r>
          </a:p>
        </p:txBody>
      </p:sp>
      <p:sp>
        <p:nvSpPr>
          <p:cNvPr id="5" name="Footer Placeholder 4"/>
          <p:cNvSpPr>
            <a:spLocks noGrp="1"/>
          </p:cNvSpPr>
          <p:nvPr>
            <p:ph type="ftr" sz="quarter" idx="11"/>
          </p:nvPr>
        </p:nvSpPr>
        <p:spPr/>
        <p:txBody>
          <a:bodyPr/>
          <a:lstStyle/>
          <a:p>
            <a:r>
              <a:rPr lang="en-US"/>
              <a:t>L Madamshetty Department Of IS</a:t>
            </a:r>
            <a:endParaRPr lang="en-ZA"/>
          </a:p>
        </p:txBody>
      </p:sp>
      <p:sp>
        <p:nvSpPr>
          <p:cNvPr id="6" name="Slide Number Placeholder 5"/>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34549970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100" y="0"/>
            <a:ext cx="4035902" cy="1341236"/>
          </a:xfrm>
          <a:prstGeom prst="rect">
            <a:avLst/>
          </a:prstGeom>
        </p:spPr>
      </p:pic>
      <p:sp>
        <p:nvSpPr>
          <p:cNvPr id="6" name="Date Placeholder 5"/>
          <p:cNvSpPr>
            <a:spLocks noGrp="1"/>
          </p:cNvSpPr>
          <p:nvPr>
            <p:ph type="dt" sz="half" idx="10"/>
          </p:nvPr>
        </p:nvSpPr>
        <p:spPr/>
        <p:txBody>
          <a:bodyPr/>
          <a:lstStyle/>
          <a:p>
            <a:r>
              <a:rPr lang="en-ZA"/>
              <a:t>2022</a:t>
            </a:r>
          </a:p>
        </p:txBody>
      </p:sp>
      <p:sp>
        <p:nvSpPr>
          <p:cNvPr id="7" name="Footer Placeholder 6"/>
          <p:cNvSpPr>
            <a:spLocks noGrp="1"/>
          </p:cNvSpPr>
          <p:nvPr>
            <p:ph type="ftr" sz="quarter" idx="11"/>
          </p:nvPr>
        </p:nvSpPr>
        <p:spPr/>
        <p:txBody>
          <a:bodyPr/>
          <a:lstStyle/>
          <a:p>
            <a:r>
              <a:rPr lang="en-US"/>
              <a:t>L Madamshetty Department Of IS</a:t>
            </a:r>
            <a:endParaRPr lang="en-ZA"/>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pic>
        <p:nvPicPr>
          <p:cNvPr id="2" name="Picture 1"/>
          <p:cNvPicPr>
            <a:picLocks noChangeAspect="1"/>
          </p:cNvPicPr>
          <p:nvPr userDrawn="1"/>
        </p:nvPicPr>
        <p:blipFill>
          <a:blip r:embed="rId3"/>
          <a:stretch>
            <a:fillRect/>
          </a:stretch>
        </p:blipFill>
        <p:spPr>
          <a:xfrm>
            <a:off x="7905750" y="64475"/>
            <a:ext cx="3826904" cy="1983266"/>
          </a:xfrm>
          <a:prstGeom prst="rect">
            <a:avLst/>
          </a:prstGeom>
        </p:spPr>
      </p:pic>
    </p:spTree>
    <p:extLst>
      <p:ext uri="{BB962C8B-B14F-4D97-AF65-F5344CB8AC3E}">
        <p14:creationId xmlns:p14="http://schemas.microsoft.com/office/powerpoint/2010/main" val="1905890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1"/>
          <p:cNvPicPr>
            <a:picLocks noChangeAspect="1"/>
          </p:cNvPicPr>
          <p:nvPr userDrawn="1"/>
        </p:nvPicPr>
        <p:blipFill>
          <a:blip r:embed="rId2"/>
          <a:stretch>
            <a:fillRect/>
          </a:stretch>
        </p:blipFill>
        <p:spPr>
          <a:xfrm>
            <a:off x="8130800" y="-1"/>
            <a:ext cx="4010433" cy="2075463"/>
          </a:xfrm>
          <a:prstGeom prst="rect">
            <a:avLst/>
          </a:prstGeom>
        </p:spPr>
      </p:pic>
    </p:spTree>
    <p:extLst>
      <p:ext uri="{BB962C8B-B14F-4D97-AF65-F5344CB8AC3E}">
        <p14:creationId xmlns:p14="http://schemas.microsoft.com/office/powerpoint/2010/main" val="10538781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F31D-1C17-E95B-B778-E062E4EC97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5F5340B-711B-776E-A971-2695A3416B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66E07C6-8A13-F20B-0045-9554B71B3EDA}"/>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5" name="Footer Placeholder 4">
            <a:extLst>
              <a:ext uri="{FF2B5EF4-FFF2-40B4-BE49-F238E27FC236}">
                <a16:creationId xmlns:a16="http://schemas.microsoft.com/office/drawing/2014/main" id="{4A62A6F3-37DD-6A09-E035-F9484F11A63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3A4305-F6BA-8F13-364B-A552BAA3FC85}"/>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41768798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BBDCE-942B-1797-1EF1-F46DA71D4A2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B627962-4550-29D9-07EF-4BBC18CE06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8FB9254-4FF5-9EBC-3342-732182457371}"/>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5" name="Footer Placeholder 4">
            <a:extLst>
              <a:ext uri="{FF2B5EF4-FFF2-40B4-BE49-F238E27FC236}">
                <a16:creationId xmlns:a16="http://schemas.microsoft.com/office/drawing/2014/main" id="{A7598E8B-AF08-236E-443A-01EB892264E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16A08CC-3399-E5D2-65CE-6C313A5D0CB6}"/>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433582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C087-45FA-31EE-5117-3F2275F4A9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7A4E010-3F88-58AF-618F-8A99755713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7DDCD-5E15-6987-706D-E3AA4A2D8955}"/>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5" name="Footer Placeholder 4">
            <a:extLst>
              <a:ext uri="{FF2B5EF4-FFF2-40B4-BE49-F238E27FC236}">
                <a16:creationId xmlns:a16="http://schemas.microsoft.com/office/drawing/2014/main" id="{FD7715D7-25B7-844E-B88A-59ADC1F9003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B28DDEA-27C6-69E7-6C8F-5270359E96C0}"/>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606866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FA130-C46D-1E48-04C9-327A49A1DE5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156CA45-8DF8-8A8F-64B9-981BDC0C56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8566FFF6-AD6F-E0BA-A850-3A1F537F9D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CEF648FB-58B0-8339-DB6A-0D5B25F5BDFB}"/>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6" name="Footer Placeholder 5">
            <a:extLst>
              <a:ext uri="{FF2B5EF4-FFF2-40B4-BE49-F238E27FC236}">
                <a16:creationId xmlns:a16="http://schemas.microsoft.com/office/drawing/2014/main" id="{3B8F4605-D08C-8C5C-8FEA-1BD91B69BD5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1928C9F-50DD-E5FE-7559-FC2DA0FAFEBD}"/>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119529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A1A7A-84C9-1730-DD9C-C29AD778A527}"/>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F81D7DE-4B05-CFB2-966A-7FA8B2630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D2CB2-8092-134A-F2A4-6CFC2ED8EC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DB14D9A-5606-BE39-7868-2583AF09AA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6B5A47-BB2C-EAF6-2605-99B7B4B6F0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4E35E7A8-2ABD-A61C-E42E-133D1F1C62B2}"/>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8" name="Footer Placeholder 7">
            <a:extLst>
              <a:ext uri="{FF2B5EF4-FFF2-40B4-BE49-F238E27FC236}">
                <a16:creationId xmlns:a16="http://schemas.microsoft.com/office/drawing/2014/main" id="{36EB4CC3-9578-4963-4FA3-D832E9B7189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967D8DE-E2E1-CF75-A2E6-B8D1C9BFE001}"/>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2404484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6FD9-C794-49C9-DEC4-9EA23D749F7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2B5A623-43A5-0A4B-2003-CEA16E97145A}"/>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4" name="Footer Placeholder 3">
            <a:extLst>
              <a:ext uri="{FF2B5EF4-FFF2-40B4-BE49-F238E27FC236}">
                <a16:creationId xmlns:a16="http://schemas.microsoft.com/office/drawing/2014/main" id="{C6D4A34A-0725-99A8-C0CD-5FF054C33A9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6A89871F-1794-32EA-4D42-347B51664A82}"/>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6943642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04D626-8B51-0D68-51CD-86B7BB519990}"/>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3" name="Footer Placeholder 2">
            <a:extLst>
              <a:ext uri="{FF2B5EF4-FFF2-40B4-BE49-F238E27FC236}">
                <a16:creationId xmlns:a16="http://schemas.microsoft.com/office/drawing/2014/main" id="{F4E95998-FF32-62E5-94F0-9E2908F08B4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315B1C5D-552A-B0BC-7D9A-FE8D62650468}"/>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6673113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9772-2EEE-5F60-05BE-E8A00E9208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1E9E23D-C65F-5FCE-4F4D-1A40549749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941FFD4-9EDB-71AE-00BD-53F7560C06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717C4-DB89-AA03-BC85-0DB0F9B52B45}"/>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6" name="Footer Placeholder 5">
            <a:extLst>
              <a:ext uri="{FF2B5EF4-FFF2-40B4-BE49-F238E27FC236}">
                <a16:creationId xmlns:a16="http://schemas.microsoft.com/office/drawing/2014/main" id="{44F5E399-592F-5F4D-E7DD-E6A3A04A7CB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BCBC539-E5E5-2929-2548-6225140B2C59}"/>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24010856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C584-7EFB-86AF-5466-FA2A33698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D4F38817-752A-8EB1-E9C4-1654F1404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A1BB71C-90FA-5AED-9258-292C37196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BF64E-517E-703F-AF08-7FCD0B7E807C}"/>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6" name="Footer Placeholder 5">
            <a:extLst>
              <a:ext uri="{FF2B5EF4-FFF2-40B4-BE49-F238E27FC236}">
                <a16:creationId xmlns:a16="http://schemas.microsoft.com/office/drawing/2014/main" id="{1FAD600D-E40D-836D-39F5-2AD070FA0FF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0AEFC89-B111-4A7F-17B6-595D933E8CB7}"/>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37841695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BB5A-13E0-6AAC-3ECA-B8EDD121BD08}"/>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5D98DC8-CF97-46CF-7D96-5FF4BA7BF5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F22BD35-0A26-FCFE-4B48-9B3C14E6BB7D}"/>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5" name="Footer Placeholder 4">
            <a:extLst>
              <a:ext uri="{FF2B5EF4-FFF2-40B4-BE49-F238E27FC236}">
                <a16:creationId xmlns:a16="http://schemas.microsoft.com/office/drawing/2014/main" id="{1F2E60AF-BF3D-60A1-0D57-FC08A0E7012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EE9F56A-C0C0-E3A8-BD38-02DE7D237F8B}"/>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7907842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D3F59-8BB8-B695-A411-28A2C50BE9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714C83D-BB17-AA03-5556-D20FD4E80B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35457C8-FDE0-D0F8-D9E6-2ABFD11F9F7B}"/>
              </a:ext>
            </a:extLst>
          </p:cNvPr>
          <p:cNvSpPr>
            <a:spLocks noGrp="1"/>
          </p:cNvSpPr>
          <p:nvPr>
            <p:ph type="dt" sz="half" idx="10"/>
          </p:nvPr>
        </p:nvSpPr>
        <p:spPr/>
        <p:txBody>
          <a:bodyPr/>
          <a:lstStyle/>
          <a:p>
            <a:fld id="{BC972153-F511-4A1E-9E49-93E84FE062B7}" type="datetimeFigureOut">
              <a:rPr lang="en-ZA" smtClean="0"/>
              <a:t>2026/04/14</a:t>
            </a:fld>
            <a:endParaRPr lang="en-ZA"/>
          </a:p>
        </p:txBody>
      </p:sp>
      <p:sp>
        <p:nvSpPr>
          <p:cNvPr id="5" name="Footer Placeholder 4">
            <a:extLst>
              <a:ext uri="{FF2B5EF4-FFF2-40B4-BE49-F238E27FC236}">
                <a16:creationId xmlns:a16="http://schemas.microsoft.com/office/drawing/2014/main" id="{5D92381F-768F-998B-8690-D074355CF44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BB44BA6-77AC-CC0A-F768-BA2B2D8EF30D}"/>
              </a:ext>
            </a:extLst>
          </p:cNvPr>
          <p:cNvSpPr>
            <a:spLocks noGrp="1"/>
          </p:cNvSpPr>
          <p:nvPr>
            <p:ph type="sldNum" sz="quarter" idx="12"/>
          </p:nvPr>
        </p:nvSpPr>
        <p:spPr/>
        <p:txBody>
          <a:bodyPr/>
          <a:lstStyle/>
          <a:p>
            <a:fld id="{BFE096D3-983E-4537-ABBF-0D56EE13D15C}" type="slidenum">
              <a:rPr lang="en-ZA" smtClean="0"/>
              <a:t>‹#›</a:t>
            </a:fld>
            <a:endParaRPr lang="en-ZA"/>
          </a:p>
        </p:txBody>
      </p:sp>
    </p:spTree>
    <p:extLst>
      <p:ext uri="{BB962C8B-B14F-4D97-AF65-F5344CB8AC3E}">
        <p14:creationId xmlns:p14="http://schemas.microsoft.com/office/powerpoint/2010/main" val="1841678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pic>
        <p:nvPicPr>
          <p:cNvPr id="5" name="Picture 4"/>
          <p:cNvPicPr>
            <a:picLocks noChangeAspect="1"/>
          </p:cNvPicPr>
          <p:nvPr userDrawn="1"/>
        </p:nvPicPr>
        <p:blipFill>
          <a:blip r:embed="rId2"/>
          <a:stretch>
            <a:fillRect/>
          </a:stretch>
        </p:blipFill>
        <p:spPr>
          <a:xfrm>
            <a:off x="2698" y="-1"/>
            <a:ext cx="4035902" cy="1906073"/>
          </a:xfrm>
          <a:prstGeom prst="rect">
            <a:avLst/>
          </a:prstGeom>
        </p:spPr>
      </p:pic>
      <p:sp>
        <p:nvSpPr>
          <p:cNvPr id="6" name="Date Placeholder 5"/>
          <p:cNvSpPr>
            <a:spLocks noGrp="1"/>
          </p:cNvSpPr>
          <p:nvPr>
            <p:ph type="dt" sz="half" idx="10"/>
          </p:nvPr>
        </p:nvSpPr>
        <p:spPr/>
        <p:txBody>
          <a:bodyPr/>
          <a:lstStyle/>
          <a:p>
            <a:r>
              <a:rPr lang="en-ZA"/>
              <a:t>2022</a:t>
            </a:r>
          </a:p>
        </p:txBody>
      </p:sp>
      <p:sp>
        <p:nvSpPr>
          <p:cNvPr id="7" name="Footer Placeholder 6"/>
          <p:cNvSpPr>
            <a:spLocks noGrp="1"/>
          </p:cNvSpPr>
          <p:nvPr>
            <p:ph type="ftr" sz="quarter" idx="11"/>
          </p:nvPr>
        </p:nvSpPr>
        <p:spPr/>
        <p:txBody>
          <a:bodyPr/>
          <a:lstStyle/>
          <a:p>
            <a:r>
              <a:rPr lang="en-US"/>
              <a:t>L Madamshetty Department Of IS</a:t>
            </a:r>
            <a:endParaRPr lang="en-ZA"/>
          </a:p>
        </p:txBody>
      </p:sp>
      <p:sp>
        <p:nvSpPr>
          <p:cNvPr id="8" name="Slide Number Placeholder 7"/>
          <p:cNvSpPr>
            <a:spLocks noGrp="1"/>
          </p:cNvSpPr>
          <p:nvPr>
            <p:ph type="sldNum" sz="quarter" idx="12"/>
          </p:nvPr>
        </p:nvSpPr>
        <p:spPr/>
        <p:txBody>
          <a:bodyPr/>
          <a:lstStyle/>
          <a:p>
            <a:fld id="{EF03D7A9-CDA1-4732-8CA0-2A470E848275}" type="slidenum">
              <a:rPr lang="en-ZA" smtClean="0"/>
              <a:t>‹#›</a:t>
            </a:fld>
            <a:endParaRPr lang="en-ZA"/>
          </a:p>
        </p:txBody>
      </p:sp>
    </p:spTree>
    <p:extLst>
      <p:ext uri="{BB962C8B-B14F-4D97-AF65-F5344CB8AC3E}">
        <p14:creationId xmlns:p14="http://schemas.microsoft.com/office/powerpoint/2010/main" val="2148040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E131C2-4719-BF95-5FEA-8CDA92AAFF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9758984-D839-BC33-7970-56544753B9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71DBBB7-51B4-B9F1-5358-DEBCCE980A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9C491A-500F-4916-B318-40DF923BF431}" type="datetimeFigureOut">
              <a:rPr lang="en-ZA" smtClean="0"/>
              <a:t>2026/04/14</a:t>
            </a:fld>
            <a:endParaRPr lang="en-ZA"/>
          </a:p>
        </p:txBody>
      </p:sp>
      <p:sp>
        <p:nvSpPr>
          <p:cNvPr id="5" name="Footer Placeholder 4">
            <a:extLst>
              <a:ext uri="{FF2B5EF4-FFF2-40B4-BE49-F238E27FC236}">
                <a16:creationId xmlns:a16="http://schemas.microsoft.com/office/drawing/2014/main" id="{8CABFDCC-C7C2-6966-779F-82AC3A0C11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5B181779-9BD6-3661-7E31-3A19C429F3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4915CC-3D2D-45B0-8459-6AFC90C8C9E2}" type="slidenum">
              <a:rPr lang="en-ZA" smtClean="0"/>
              <a:t>‹#›</a:t>
            </a:fld>
            <a:endParaRPr lang="en-ZA"/>
          </a:p>
        </p:txBody>
      </p:sp>
    </p:spTree>
    <p:extLst>
      <p:ext uri="{BB962C8B-B14F-4D97-AF65-F5344CB8AC3E}">
        <p14:creationId xmlns:p14="http://schemas.microsoft.com/office/powerpoint/2010/main" val="1592784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ZA"/>
              <a:t>2022</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 Madamshetty Department Of IS</a:t>
            </a:r>
            <a:endParaRPr lang="en-ZA"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3D7A9-CDA1-4732-8CA0-2A470E848275}" type="slidenum">
              <a:rPr lang="en-ZA" smtClean="0"/>
              <a:t>‹#›</a:t>
            </a:fld>
            <a:endParaRPr lang="en-ZA"/>
          </a:p>
        </p:txBody>
      </p:sp>
      <p:pic>
        <p:nvPicPr>
          <p:cNvPr id="8" name="Picture 7"/>
          <p:cNvPicPr>
            <a:picLocks noChangeAspect="1"/>
          </p:cNvPicPr>
          <p:nvPr userDrawn="1"/>
        </p:nvPicPr>
        <p:blipFill>
          <a:blip r:embed="rId15"/>
          <a:stretch>
            <a:fillRect/>
          </a:stretch>
        </p:blipFill>
        <p:spPr>
          <a:xfrm>
            <a:off x="8153400" y="0"/>
            <a:ext cx="3828620" cy="1825625"/>
          </a:xfrm>
          <a:prstGeom prst="rect">
            <a:avLst/>
          </a:prstGeom>
        </p:spPr>
      </p:pic>
    </p:spTree>
    <p:extLst>
      <p:ext uri="{BB962C8B-B14F-4D97-AF65-F5344CB8AC3E}">
        <p14:creationId xmlns:p14="http://schemas.microsoft.com/office/powerpoint/2010/main" val="96068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151DE2-F462-34F4-9C6C-8FCBF3845B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7F7F2F9-6732-1190-82CB-4A03F8BF2D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2E251C9-91A1-71DB-2B8E-2E67F6F738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972153-F511-4A1E-9E49-93E84FE062B7}" type="datetimeFigureOut">
              <a:rPr lang="en-ZA" smtClean="0"/>
              <a:t>2026/04/14</a:t>
            </a:fld>
            <a:endParaRPr lang="en-ZA"/>
          </a:p>
        </p:txBody>
      </p:sp>
      <p:sp>
        <p:nvSpPr>
          <p:cNvPr id="5" name="Footer Placeholder 4">
            <a:extLst>
              <a:ext uri="{FF2B5EF4-FFF2-40B4-BE49-F238E27FC236}">
                <a16:creationId xmlns:a16="http://schemas.microsoft.com/office/drawing/2014/main" id="{6554787C-E5A3-0A30-E448-FE3EC8063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A3022E16-A899-F607-45B0-B9ECE5C80C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E096D3-983E-4537-ABBF-0D56EE13D15C}" type="slidenum">
              <a:rPr lang="en-ZA" smtClean="0"/>
              <a:t>‹#›</a:t>
            </a:fld>
            <a:endParaRPr lang="en-ZA"/>
          </a:p>
        </p:txBody>
      </p:sp>
    </p:spTree>
    <p:extLst>
      <p:ext uri="{BB962C8B-B14F-4D97-AF65-F5344CB8AC3E}">
        <p14:creationId xmlns:p14="http://schemas.microsoft.com/office/powerpoint/2010/main" val="170403311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338" name="Google Shape;338;p12"/>
          <p:cNvSpPr txBox="1">
            <a:spLocks noGrp="1"/>
          </p:cNvSpPr>
          <p:nvPr>
            <p:ph type="ctrTitle"/>
          </p:nvPr>
        </p:nvSpPr>
        <p:spPr>
          <a:xfrm>
            <a:off x="1994490" y="2197806"/>
            <a:ext cx="8524820" cy="3314719"/>
          </a:xfrm>
          <a:prstGeom prst="rect">
            <a:avLst/>
          </a:prstGeom>
        </p:spPr>
        <p:txBody>
          <a:bodyPr spcFirstLastPara="1" vert="horz" wrap="square" lIns="0" tIns="0" rIns="0" bIns="0" rtlCol="0" anchor="ctr" anchorCtr="0">
            <a:noAutofit/>
          </a:bodyPr>
          <a:lstStyle/>
          <a:p>
            <a:pPr lvl="0" algn="ctr"/>
            <a:r>
              <a:rPr lang="en-US" sz="5400" dirty="0">
                <a:latin typeface="+mn-lt"/>
              </a:rPr>
              <a:t>INFORMATION SYSTEMS 3A</a:t>
            </a:r>
            <a:br>
              <a:rPr lang="en-US" sz="5400" dirty="0">
                <a:latin typeface="+mn-lt"/>
              </a:rPr>
            </a:br>
            <a:br>
              <a:rPr lang="en-US" sz="5400" dirty="0">
                <a:latin typeface="+mn-lt"/>
              </a:rPr>
            </a:br>
            <a:r>
              <a:rPr lang="en-US" sz="5400" dirty="0">
                <a:latin typeface="+mn-lt"/>
              </a:rPr>
              <a:t>Software Quality Management</a:t>
            </a:r>
            <a:endParaRPr sz="5400" dirty="0">
              <a:latin typeface="+mn-lt"/>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2026</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03D7A9-CDA1-4732-8CA0-2A470E848275}"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95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3674-1EAB-876C-09C2-1B7861DE1AD0}"/>
              </a:ext>
            </a:extLst>
          </p:cNvPr>
          <p:cNvSpPr>
            <a:spLocks noGrp="1"/>
          </p:cNvSpPr>
          <p:nvPr>
            <p:ph type="title"/>
          </p:nvPr>
        </p:nvSpPr>
        <p:spPr>
          <a:xfrm>
            <a:off x="761803" y="350196"/>
            <a:ext cx="4646904" cy="1624520"/>
          </a:xfrm>
        </p:spPr>
        <p:txBody>
          <a:bodyPr anchor="ctr">
            <a:normAutofit/>
          </a:bodyPr>
          <a:lstStyle/>
          <a:p>
            <a:r>
              <a:rPr lang="en-ZA" sz="4000" b="0" i="0" dirty="0">
                <a:effectLst/>
                <a:latin typeface="Arial" panose="020B0604020202020204" pitchFamily="34" charset="0"/>
              </a:rPr>
              <a:t>Contents</a:t>
            </a:r>
            <a:endParaRPr lang="en-ZA" sz="4000" dirty="0"/>
          </a:p>
        </p:txBody>
      </p:sp>
      <p:sp>
        <p:nvSpPr>
          <p:cNvPr id="3" name="Content Placeholder 2">
            <a:extLst>
              <a:ext uri="{FF2B5EF4-FFF2-40B4-BE49-F238E27FC236}">
                <a16:creationId xmlns:a16="http://schemas.microsoft.com/office/drawing/2014/main" id="{8ED26504-BA5D-5A9E-E9F5-844097D0BEFE}"/>
              </a:ext>
            </a:extLst>
          </p:cNvPr>
          <p:cNvSpPr>
            <a:spLocks noGrp="1"/>
          </p:cNvSpPr>
          <p:nvPr>
            <p:ph idx="1"/>
          </p:nvPr>
        </p:nvSpPr>
        <p:spPr>
          <a:xfrm>
            <a:off x="269098" y="1533832"/>
            <a:ext cx="5632314" cy="5324168"/>
          </a:xfrm>
        </p:spPr>
        <p:txBody>
          <a:bodyPr anchor="ctr">
            <a:normAutofit/>
          </a:bodyPr>
          <a:lstStyle/>
          <a:p>
            <a:r>
              <a:rPr lang="en-ZA" sz="1800" b="0" i="0" dirty="0">
                <a:solidFill>
                  <a:srgbClr val="222222"/>
                </a:solidFill>
                <a:effectLst/>
                <a:latin typeface="Arial" panose="020B0604020202020204" pitchFamily="34" charset="0"/>
              </a:rPr>
              <a:t>Software Quality</a:t>
            </a:r>
          </a:p>
          <a:p>
            <a:r>
              <a:rPr lang="en-ZA" sz="1800" b="0" i="0" dirty="0">
                <a:solidFill>
                  <a:srgbClr val="222222"/>
                </a:solidFill>
                <a:effectLst/>
                <a:latin typeface="Arial" panose="020B0604020202020204" pitchFamily="34" charset="0"/>
              </a:rPr>
              <a:t>Principles concerns of software quality</a:t>
            </a:r>
          </a:p>
          <a:p>
            <a:r>
              <a:rPr lang="en-ZA" sz="1800" dirty="0">
                <a:solidFill>
                  <a:srgbClr val="222222"/>
                </a:solidFill>
                <a:latin typeface="Arial" panose="020B0604020202020204" pitchFamily="34" charset="0"/>
              </a:rPr>
              <a:t>Quality Plans</a:t>
            </a:r>
          </a:p>
          <a:p>
            <a:r>
              <a:rPr lang="en-ZA" sz="1800" b="0" i="0" dirty="0">
                <a:solidFill>
                  <a:srgbClr val="222222"/>
                </a:solidFill>
                <a:effectLst/>
                <a:latin typeface="Arial" panose="020B0604020202020204" pitchFamily="34" charset="0"/>
              </a:rPr>
              <a:t> Non-functional</a:t>
            </a:r>
            <a:r>
              <a:rPr lang="en-ZA" sz="1800" dirty="0">
                <a:solidFill>
                  <a:srgbClr val="222222"/>
                </a:solidFill>
                <a:latin typeface="Arial" panose="020B0604020202020204" pitchFamily="34" charset="0"/>
              </a:rPr>
              <a:t> requirements to assess the quality of software</a:t>
            </a:r>
            <a:endParaRPr lang="en-ZA" sz="1800" b="0" i="0" dirty="0">
              <a:solidFill>
                <a:srgbClr val="222222"/>
              </a:solidFill>
              <a:effectLst/>
              <a:latin typeface="Arial" panose="020B0604020202020204" pitchFamily="34" charset="0"/>
            </a:endParaRPr>
          </a:p>
          <a:p>
            <a:r>
              <a:rPr lang="en-ZA" sz="1800" b="0" i="0" dirty="0">
                <a:solidFill>
                  <a:srgbClr val="222222"/>
                </a:solidFill>
                <a:effectLst/>
                <a:latin typeface="Arial" panose="020B0604020202020204" pitchFamily="34" charset="0"/>
              </a:rPr>
              <a:t>Factors Affecting Software Quality</a:t>
            </a:r>
          </a:p>
          <a:p>
            <a:r>
              <a:rPr lang="en-ZA" sz="1800" b="0" i="0" dirty="0">
                <a:solidFill>
                  <a:srgbClr val="222222"/>
                </a:solidFill>
                <a:effectLst/>
                <a:latin typeface="Arial" panose="020B0604020202020204" pitchFamily="34" charset="0"/>
              </a:rPr>
              <a:t>Software Quality Metrics</a:t>
            </a:r>
          </a:p>
          <a:p>
            <a:r>
              <a:rPr lang="en-ZA" sz="1800" b="0" i="0" dirty="0">
                <a:solidFill>
                  <a:srgbClr val="222222"/>
                </a:solidFill>
                <a:effectLst/>
                <a:latin typeface="Arial" panose="020B0604020202020204" pitchFamily="34" charset="0"/>
              </a:rPr>
              <a:t>Software Quality Management</a:t>
            </a:r>
          </a:p>
          <a:p>
            <a:r>
              <a:rPr lang="en-ZA" sz="1800" b="0" i="0" dirty="0">
                <a:solidFill>
                  <a:srgbClr val="222222"/>
                </a:solidFill>
                <a:effectLst/>
                <a:latin typeface="Arial" panose="020B0604020202020204" pitchFamily="34" charset="0"/>
              </a:rPr>
              <a:t>How to Achieve Software Quality?</a:t>
            </a:r>
          </a:p>
          <a:p>
            <a:r>
              <a:rPr lang="en-ZA" sz="1800" dirty="0">
                <a:solidFill>
                  <a:srgbClr val="222222"/>
                </a:solidFill>
                <a:latin typeface="Arial" panose="020B0604020202020204" pitchFamily="34" charset="0"/>
              </a:rPr>
              <a:t>Quality Assurance Vs Quality Control</a:t>
            </a:r>
            <a:endParaRPr lang="en-ZA" sz="1800" b="0" i="0" dirty="0">
              <a:solidFill>
                <a:srgbClr val="222222"/>
              </a:solidFill>
              <a:effectLst/>
              <a:latin typeface="Arial" panose="020B0604020202020204" pitchFamily="34" charset="0"/>
            </a:endParaRPr>
          </a:p>
          <a:p>
            <a:pPr marL="0" indent="0">
              <a:buNone/>
            </a:pPr>
            <a:br>
              <a:rPr lang="en-ZA" sz="1400" dirty="0"/>
            </a:br>
            <a:br>
              <a:rPr lang="en-ZA" sz="1400" dirty="0"/>
            </a:br>
            <a:br>
              <a:rPr lang="en-ZA" sz="1400" dirty="0"/>
            </a:br>
            <a:br>
              <a:rPr lang="en-ZA" sz="1400" dirty="0"/>
            </a:br>
            <a:br>
              <a:rPr lang="en-ZA" sz="1400" dirty="0"/>
            </a:br>
            <a:endParaRPr lang="en-GB" sz="2000" dirty="0"/>
          </a:p>
        </p:txBody>
      </p:sp>
      <p:pic>
        <p:nvPicPr>
          <p:cNvPr id="5" name="Picture 4" descr="Computer script on a screen">
            <a:extLst>
              <a:ext uri="{FF2B5EF4-FFF2-40B4-BE49-F238E27FC236}">
                <a16:creationId xmlns:a16="http://schemas.microsoft.com/office/drawing/2014/main" id="{C23A5E86-BC10-FA9B-A7F2-A327FE937DE1}"/>
              </a:ext>
            </a:extLst>
          </p:cNvPr>
          <p:cNvPicPr>
            <a:picLocks noChangeAspect="1"/>
          </p:cNvPicPr>
          <p:nvPr/>
        </p:nvPicPr>
        <p:blipFill>
          <a:blip r:embed="rId2"/>
          <a:srcRect l="414" r="40186" b="-2"/>
          <a:stretch/>
        </p:blipFill>
        <p:spPr>
          <a:xfrm>
            <a:off x="6096000" y="1"/>
            <a:ext cx="6102825" cy="6858000"/>
          </a:xfrm>
          <a:prstGeom prst="rect">
            <a:avLst/>
          </a:prstGeom>
        </p:spPr>
      </p:pic>
    </p:spTree>
    <p:extLst>
      <p:ext uri="{BB962C8B-B14F-4D97-AF65-F5344CB8AC3E}">
        <p14:creationId xmlns:p14="http://schemas.microsoft.com/office/powerpoint/2010/main" val="290237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9E575-2700-D6AC-276F-62951EA461E8}"/>
              </a:ext>
            </a:extLst>
          </p:cNvPr>
          <p:cNvSpPr>
            <a:spLocks noGrp="1"/>
          </p:cNvSpPr>
          <p:nvPr>
            <p:ph type="title"/>
          </p:nvPr>
        </p:nvSpPr>
        <p:spPr/>
        <p:txBody>
          <a:bodyPr/>
          <a:lstStyle/>
          <a:p>
            <a:r>
              <a:rPr lang="en-GB" dirty="0"/>
              <a:t>Software Quality</a:t>
            </a:r>
            <a:endParaRPr lang="en-ZA" dirty="0"/>
          </a:p>
        </p:txBody>
      </p:sp>
      <p:sp>
        <p:nvSpPr>
          <p:cNvPr id="3" name="Content Placeholder 2">
            <a:extLst>
              <a:ext uri="{FF2B5EF4-FFF2-40B4-BE49-F238E27FC236}">
                <a16:creationId xmlns:a16="http://schemas.microsoft.com/office/drawing/2014/main" id="{0AA46F07-AD8A-C98E-4820-AF243A86A567}"/>
              </a:ext>
            </a:extLst>
          </p:cNvPr>
          <p:cNvSpPr>
            <a:spLocks noGrp="1"/>
          </p:cNvSpPr>
          <p:nvPr>
            <p:ph idx="1"/>
          </p:nvPr>
        </p:nvSpPr>
        <p:spPr>
          <a:xfrm>
            <a:off x="675968" y="1486413"/>
            <a:ext cx="10515600" cy="4351338"/>
          </a:xfrm>
        </p:spPr>
        <p:txBody>
          <a:bodyPr>
            <a:normAutofit fontScale="25000" lnSpcReduction="20000"/>
          </a:bodyPr>
          <a:lstStyle/>
          <a:p>
            <a:pPr marL="0" indent="0">
              <a:lnSpc>
                <a:spcPct val="170000"/>
              </a:lnSpc>
              <a:buNone/>
            </a:pPr>
            <a:br>
              <a:rPr lang="en-US" dirty="0"/>
            </a:br>
            <a:r>
              <a:rPr lang="en-US" sz="8000" b="0" i="0" dirty="0">
                <a:solidFill>
                  <a:srgbClr val="222222"/>
                </a:solidFill>
                <a:effectLst/>
                <a:latin typeface="Arial" panose="020B0604020202020204" pitchFamily="34" charset="0"/>
                <a:cs typeface="Arial" panose="020B0604020202020204" pitchFamily="34" charset="0"/>
              </a:rPr>
              <a:t>• The quality of software can be defined as the ability of the software to function as per user requirements.</a:t>
            </a:r>
            <a:br>
              <a:rPr lang="en-US" sz="8000" dirty="0">
                <a:latin typeface="Arial" panose="020B0604020202020204" pitchFamily="34" charset="0"/>
                <a:cs typeface="Arial" panose="020B0604020202020204" pitchFamily="34" charset="0"/>
              </a:rPr>
            </a:br>
            <a:r>
              <a:rPr lang="en-US" sz="8000" b="0" i="0" dirty="0">
                <a:solidFill>
                  <a:srgbClr val="222222"/>
                </a:solidFill>
                <a:effectLst/>
                <a:latin typeface="Arial" panose="020B0604020202020204" pitchFamily="34" charset="0"/>
                <a:cs typeface="Arial" panose="020B0604020202020204" pitchFamily="34" charset="0"/>
              </a:rPr>
              <a:t>• When it comes to software products, they must satisfy all the functionalities written down in the SRS document.</a:t>
            </a:r>
            <a:br>
              <a:rPr lang="en-US" sz="8000" dirty="0">
                <a:latin typeface="Arial" panose="020B0604020202020204" pitchFamily="34" charset="0"/>
                <a:cs typeface="Arial" panose="020B0604020202020204" pitchFamily="34" charset="0"/>
              </a:rPr>
            </a:br>
            <a:r>
              <a:rPr lang="en-US" sz="8000" b="1" i="0" dirty="0">
                <a:solidFill>
                  <a:srgbClr val="222222"/>
                </a:solidFill>
                <a:effectLst/>
                <a:latin typeface="Arial" panose="020B0604020202020204" pitchFamily="34" charset="0"/>
                <a:cs typeface="Arial" panose="020B0604020202020204" pitchFamily="34" charset="0"/>
              </a:rPr>
              <a:t>Software Quality includes:</a:t>
            </a:r>
            <a:br>
              <a:rPr lang="en-US" sz="8000" dirty="0">
                <a:latin typeface="Arial" panose="020B0604020202020204" pitchFamily="34" charset="0"/>
                <a:cs typeface="Arial" panose="020B0604020202020204" pitchFamily="34" charset="0"/>
              </a:rPr>
            </a:br>
            <a:r>
              <a:rPr lang="en-US" sz="8000" dirty="0">
                <a:latin typeface="Arial" panose="020B0604020202020204" pitchFamily="34" charset="0"/>
                <a:cs typeface="Arial" panose="020B0604020202020204" pitchFamily="34" charset="0"/>
              </a:rPr>
              <a:t>-</a:t>
            </a:r>
            <a:r>
              <a:rPr lang="en-US" sz="8000" b="1" i="0" dirty="0">
                <a:solidFill>
                  <a:srgbClr val="222222"/>
                </a:solidFill>
                <a:effectLst/>
                <a:latin typeface="Arial" panose="020B0604020202020204" pitchFamily="34" charset="0"/>
                <a:cs typeface="Arial" panose="020B0604020202020204" pitchFamily="34" charset="0"/>
              </a:rPr>
              <a:t>Good Design: </a:t>
            </a:r>
            <a:r>
              <a:rPr lang="en-US" sz="8000" b="0" i="0" dirty="0">
                <a:solidFill>
                  <a:srgbClr val="222222"/>
                </a:solidFill>
                <a:effectLst/>
                <a:latin typeface="Arial" panose="020B0604020202020204" pitchFamily="34" charset="0"/>
                <a:cs typeface="Arial" panose="020B0604020202020204" pitchFamily="34" charset="0"/>
              </a:rPr>
              <a:t>Good visualization design to attract users.</a:t>
            </a:r>
            <a:br>
              <a:rPr lang="en-US" sz="8000" dirty="0">
                <a:latin typeface="Arial" panose="020B0604020202020204" pitchFamily="34" charset="0"/>
                <a:cs typeface="Arial" panose="020B0604020202020204" pitchFamily="34" charset="0"/>
              </a:rPr>
            </a:br>
            <a:r>
              <a:rPr lang="en-US" sz="8000" dirty="0">
                <a:latin typeface="Arial" panose="020B0604020202020204" pitchFamily="34" charset="0"/>
                <a:cs typeface="Arial" panose="020B0604020202020204" pitchFamily="34" charset="0"/>
              </a:rPr>
              <a:t>-</a:t>
            </a:r>
            <a:r>
              <a:rPr lang="en-US" sz="8000" b="1" i="0" dirty="0">
                <a:solidFill>
                  <a:srgbClr val="222222"/>
                </a:solidFill>
                <a:effectLst/>
                <a:latin typeface="Arial" panose="020B0604020202020204" pitchFamily="34" charset="0"/>
                <a:cs typeface="Arial" panose="020B0604020202020204" pitchFamily="34" charset="0"/>
              </a:rPr>
              <a:t>Durability: </a:t>
            </a:r>
            <a:r>
              <a:rPr lang="en-US" sz="8000" b="0" i="0" dirty="0">
                <a:solidFill>
                  <a:srgbClr val="222222"/>
                </a:solidFill>
                <a:effectLst/>
                <a:latin typeface="Arial" panose="020B0604020202020204" pitchFamily="34" charset="0"/>
                <a:cs typeface="Arial" panose="020B0604020202020204" pitchFamily="34" charset="0"/>
              </a:rPr>
              <a:t>The software works without any issue for a long period of time.</a:t>
            </a:r>
            <a:br>
              <a:rPr lang="en-US" sz="8000" dirty="0">
                <a:latin typeface="Arial" panose="020B0604020202020204" pitchFamily="34" charset="0"/>
                <a:cs typeface="Arial" panose="020B0604020202020204" pitchFamily="34" charset="0"/>
              </a:rPr>
            </a:br>
            <a:r>
              <a:rPr lang="en-US" sz="8000" dirty="0">
                <a:latin typeface="Arial" panose="020B0604020202020204" pitchFamily="34" charset="0"/>
                <a:cs typeface="Arial" panose="020B0604020202020204" pitchFamily="34" charset="0"/>
              </a:rPr>
              <a:t>-</a:t>
            </a:r>
            <a:r>
              <a:rPr lang="en-US" sz="8000" b="1" i="0" dirty="0">
                <a:solidFill>
                  <a:srgbClr val="222222"/>
                </a:solidFill>
                <a:effectLst/>
                <a:latin typeface="Arial" panose="020B0604020202020204" pitchFamily="34" charset="0"/>
                <a:cs typeface="Arial" panose="020B0604020202020204" pitchFamily="34" charset="0"/>
              </a:rPr>
              <a:t>Consistency: </a:t>
            </a:r>
            <a:r>
              <a:rPr lang="en-US" sz="8000" b="0" i="0" dirty="0">
                <a:solidFill>
                  <a:srgbClr val="222222"/>
                </a:solidFill>
                <a:effectLst/>
                <a:latin typeface="Arial" panose="020B0604020202020204" pitchFamily="34" charset="0"/>
                <a:cs typeface="Arial" panose="020B0604020202020204" pitchFamily="34" charset="0"/>
              </a:rPr>
              <a:t>Software performs consistently on different platforms and other devices.</a:t>
            </a:r>
            <a:br>
              <a:rPr lang="en-US" sz="8000" dirty="0">
                <a:latin typeface="Arial" panose="020B0604020202020204" pitchFamily="34" charset="0"/>
                <a:cs typeface="Arial" panose="020B0604020202020204" pitchFamily="34" charset="0"/>
              </a:rPr>
            </a:br>
            <a:r>
              <a:rPr lang="en-US" sz="8000" dirty="0">
                <a:latin typeface="Arial" panose="020B0604020202020204" pitchFamily="34" charset="0"/>
                <a:cs typeface="Arial" panose="020B0604020202020204" pitchFamily="34" charset="0"/>
              </a:rPr>
              <a:t>-</a:t>
            </a:r>
            <a:r>
              <a:rPr lang="en-US" sz="8000" b="1" i="0" dirty="0">
                <a:solidFill>
                  <a:srgbClr val="222222"/>
                </a:solidFill>
                <a:effectLst/>
                <a:latin typeface="Arial" panose="020B0604020202020204" pitchFamily="34" charset="0"/>
                <a:cs typeface="Arial" panose="020B0604020202020204" pitchFamily="34" charset="0"/>
              </a:rPr>
              <a:t>Maintainability: </a:t>
            </a:r>
            <a:r>
              <a:rPr lang="en-US" sz="8000" b="0" i="0" dirty="0">
                <a:solidFill>
                  <a:srgbClr val="222222"/>
                </a:solidFill>
                <a:effectLst/>
                <a:latin typeface="Arial" panose="020B0604020202020204" pitchFamily="34" charset="0"/>
                <a:cs typeface="Arial" panose="020B0604020202020204" pitchFamily="34" charset="0"/>
              </a:rPr>
              <a:t>Capture and fix bugs quickly. New features are added easily.</a:t>
            </a:r>
            <a:br>
              <a:rPr lang="en-US" sz="8000" dirty="0">
                <a:latin typeface="Arial" panose="020B0604020202020204" pitchFamily="34" charset="0"/>
                <a:cs typeface="Arial" panose="020B0604020202020204" pitchFamily="34" charset="0"/>
              </a:rPr>
            </a:br>
            <a:r>
              <a:rPr lang="en-US" sz="8000" dirty="0">
                <a:latin typeface="Arial" panose="020B0604020202020204" pitchFamily="34" charset="0"/>
                <a:cs typeface="Arial" panose="020B0604020202020204" pitchFamily="34" charset="0"/>
              </a:rPr>
              <a:t>-</a:t>
            </a:r>
            <a:r>
              <a:rPr lang="en-US" sz="8000" b="1" i="0" dirty="0">
                <a:solidFill>
                  <a:srgbClr val="222222"/>
                </a:solidFill>
                <a:effectLst/>
                <a:latin typeface="Arial" panose="020B0604020202020204" pitchFamily="34" charset="0"/>
                <a:cs typeface="Arial" panose="020B0604020202020204" pitchFamily="34" charset="0"/>
              </a:rPr>
              <a:t>Value for money: </a:t>
            </a:r>
            <a:r>
              <a:rPr lang="en-US" sz="8000" b="0" i="0" dirty="0">
                <a:solidFill>
                  <a:srgbClr val="222222"/>
                </a:solidFill>
                <a:effectLst/>
                <a:latin typeface="Arial" panose="020B0604020202020204" pitchFamily="34" charset="0"/>
                <a:cs typeface="Arial" panose="020B0604020202020204" pitchFamily="34" charset="0"/>
              </a:rPr>
              <a:t>Customers &amp; companies who make this app should feel that the money spent on this app was not wasted.</a:t>
            </a:r>
            <a:endParaRPr lang="en-ZA" sz="8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309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1F5D-1F87-75C1-AB44-8A725CA9F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11C77-1A15-7141-5581-98DE013E6147}"/>
              </a:ext>
            </a:extLst>
          </p:cNvPr>
          <p:cNvSpPr>
            <a:spLocks noGrp="1"/>
          </p:cNvSpPr>
          <p:nvPr>
            <p:ph type="title"/>
          </p:nvPr>
        </p:nvSpPr>
        <p:spPr/>
        <p:txBody>
          <a:bodyPr/>
          <a:lstStyle/>
          <a:p>
            <a:r>
              <a:rPr lang="en-GB" dirty="0"/>
              <a:t>Three principles concerns(Levels) of software quality</a:t>
            </a:r>
            <a:endParaRPr lang="en-ZA" dirty="0"/>
          </a:p>
        </p:txBody>
      </p:sp>
      <p:sp>
        <p:nvSpPr>
          <p:cNvPr id="3" name="Content Placeholder 2">
            <a:extLst>
              <a:ext uri="{FF2B5EF4-FFF2-40B4-BE49-F238E27FC236}">
                <a16:creationId xmlns:a16="http://schemas.microsoft.com/office/drawing/2014/main" id="{62564099-CB58-E8CD-9A25-3AC9FDD71A01}"/>
              </a:ext>
            </a:extLst>
          </p:cNvPr>
          <p:cNvSpPr>
            <a:spLocks noGrp="1"/>
          </p:cNvSpPr>
          <p:nvPr>
            <p:ph idx="1"/>
          </p:nvPr>
        </p:nvSpPr>
        <p:spPr/>
        <p:txBody>
          <a:bodyPr/>
          <a:lstStyle/>
          <a:p>
            <a:pPr lvl="1"/>
            <a:r>
              <a:rPr lang="en-US" b="1" dirty="0"/>
              <a:t>Organizational Level: </a:t>
            </a:r>
            <a:r>
              <a:rPr lang="en-US" dirty="0"/>
              <a:t>Quality management is concerned with establishing a framework of organizational processes and standards that will lead to high-quality software.</a:t>
            </a:r>
          </a:p>
          <a:p>
            <a:pPr lvl="1"/>
            <a:r>
              <a:rPr lang="en-US" b="1" dirty="0"/>
              <a:t>Project Level: </a:t>
            </a:r>
            <a:r>
              <a:rPr lang="en-US" dirty="0"/>
              <a:t>Quality management involves the application of specific quality processes, checking that these planned processes have been followed, and establishing a quality plan. The quality plan sets out the quality goals for the project and defines the processes and standards to be used.</a:t>
            </a:r>
          </a:p>
          <a:p>
            <a:pPr lvl="1"/>
            <a:r>
              <a:rPr lang="en-US" b="1" dirty="0"/>
              <a:t>Product Level: </a:t>
            </a:r>
            <a:r>
              <a:rPr lang="en-US" dirty="0"/>
              <a:t>Quality management is concerned with ensuring that the final software product meets required quality standards, such as reliability, usability, performance, and security.</a:t>
            </a:r>
            <a:endParaRPr lang="en-GB" dirty="0"/>
          </a:p>
          <a:p>
            <a:endParaRPr lang="en-ZA" dirty="0"/>
          </a:p>
        </p:txBody>
      </p:sp>
    </p:spTree>
    <p:extLst>
      <p:ext uri="{BB962C8B-B14F-4D97-AF65-F5344CB8AC3E}">
        <p14:creationId xmlns:p14="http://schemas.microsoft.com/office/powerpoint/2010/main" val="1129358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4FF9-05EB-428D-2B0C-27ED418CAD69}"/>
              </a:ext>
            </a:extLst>
          </p:cNvPr>
          <p:cNvSpPr>
            <a:spLocks noGrp="1"/>
          </p:cNvSpPr>
          <p:nvPr>
            <p:ph type="title"/>
          </p:nvPr>
        </p:nvSpPr>
        <p:spPr/>
        <p:txBody>
          <a:bodyPr/>
          <a:lstStyle/>
          <a:p>
            <a:r>
              <a:rPr lang="en-GB" dirty="0"/>
              <a:t>Quality plans</a:t>
            </a:r>
            <a:endParaRPr lang="en-ZA" dirty="0"/>
          </a:p>
        </p:txBody>
      </p:sp>
      <p:sp>
        <p:nvSpPr>
          <p:cNvPr id="3" name="Content Placeholder 2">
            <a:extLst>
              <a:ext uri="{FF2B5EF4-FFF2-40B4-BE49-F238E27FC236}">
                <a16:creationId xmlns:a16="http://schemas.microsoft.com/office/drawing/2014/main" id="{4532B72C-32FA-B889-E394-B3ED0EDB693A}"/>
              </a:ext>
            </a:extLst>
          </p:cNvPr>
          <p:cNvSpPr>
            <a:spLocks noGrp="1"/>
          </p:cNvSpPr>
          <p:nvPr>
            <p:ph idx="1"/>
          </p:nvPr>
        </p:nvSpPr>
        <p:spPr/>
        <p:txBody>
          <a:bodyPr>
            <a:normAutofit fontScale="70000" lnSpcReduction="20000"/>
          </a:bodyPr>
          <a:lstStyle/>
          <a:p>
            <a:pPr>
              <a:buFont typeface="Wingdings" panose="05000000000000000000" pitchFamily="2" charset="2"/>
              <a:buChar char="Ø"/>
            </a:pPr>
            <a:r>
              <a:rPr lang="en-US" sz="3000" dirty="0"/>
              <a:t> </a:t>
            </a:r>
            <a:r>
              <a:rPr lang="en-US" sz="3300" dirty="0"/>
              <a:t>A </a:t>
            </a:r>
            <a:r>
              <a:rPr lang="en-US" sz="3300" b="1" dirty="0"/>
              <a:t>quality plan </a:t>
            </a:r>
            <a:r>
              <a:rPr lang="en-US" sz="3300" dirty="0"/>
              <a:t>is a document that outlines the strategy, scope, processes, resources, and goals for ensuring that software products meet the required quality standards. It acts as a roadmap for the entire software development and testing process to ensure that the software delivered to customers meets both functional and non-functional requirements, is reliable and secure, and performs as expected.</a:t>
            </a:r>
          </a:p>
          <a:p>
            <a:pPr>
              <a:buFont typeface="Wingdings" panose="05000000000000000000" pitchFamily="2" charset="2"/>
              <a:buChar char="Ø"/>
            </a:pPr>
            <a:r>
              <a:rPr lang="en-GB" sz="3200" dirty="0"/>
              <a:t>Quality plan structure</a:t>
            </a:r>
          </a:p>
          <a:p>
            <a:pPr lvl="1"/>
            <a:r>
              <a:rPr lang="en-GB" sz="2800" dirty="0"/>
              <a:t>Product introduction</a:t>
            </a:r>
          </a:p>
          <a:p>
            <a:pPr lvl="1"/>
            <a:r>
              <a:rPr lang="en-GB" sz="2800" dirty="0"/>
              <a:t>Product plans</a:t>
            </a:r>
          </a:p>
          <a:p>
            <a:pPr lvl="1"/>
            <a:r>
              <a:rPr lang="en-GB" sz="2800" dirty="0"/>
              <a:t>Process descriptions</a:t>
            </a:r>
          </a:p>
          <a:p>
            <a:pPr lvl="1"/>
            <a:r>
              <a:rPr lang="en-GB" sz="2800" dirty="0"/>
              <a:t>Quality goals</a:t>
            </a:r>
          </a:p>
          <a:p>
            <a:pPr lvl="1"/>
            <a:r>
              <a:rPr lang="en-GB" sz="2800" dirty="0"/>
              <a:t>Risks and risk management</a:t>
            </a:r>
          </a:p>
          <a:p>
            <a:pPr>
              <a:buFont typeface="Wingdings" panose="05000000000000000000" pitchFamily="2" charset="2"/>
              <a:buChar char="Ø"/>
            </a:pPr>
            <a:r>
              <a:rPr lang="en-GB" sz="3200" dirty="0"/>
              <a:t>Quality plans should be short, succinct(Compact and Precise) documents</a:t>
            </a:r>
          </a:p>
          <a:p>
            <a:pPr lvl="1"/>
            <a:r>
              <a:rPr lang="en-GB" sz="2800" dirty="0"/>
              <a:t>If they are too long, no one will read them.</a:t>
            </a:r>
          </a:p>
          <a:p>
            <a:endParaRPr lang="en-ZA" dirty="0"/>
          </a:p>
        </p:txBody>
      </p:sp>
    </p:spTree>
    <p:extLst>
      <p:ext uri="{BB962C8B-B14F-4D97-AF65-F5344CB8AC3E}">
        <p14:creationId xmlns:p14="http://schemas.microsoft.com/office/powerpoint/2010/main" val="813876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F8788-0793-8E9B-D040-2CF1B6D8AC99}"/>
              </a:ext>
            </a:extLst>
          </p:cNvPr>
          <p:cNvSpPr>
            <a:spLocks noGrp="1"/>
          </p:cNvSpPr>
          <p:nvPr>
            <p:ph type="title"/>
          </p:nvPr>
        </p:nvSpPr>
        <p:spPr/>
        <p:txBody>
          <a:bodyPr/>
          <a:lstStyle/>
          <a:p>
            <a:r>
              <a:rPr lang="en-GB" sz="4400" dirty="0"/>
              <a:t>Product introduction</a:t>
            </a:r>
            <a:endParaRPr lang="en-ZA" dirty="0"/>
          </a:p>
        </p:txBody>
      </p:sp>
      <p:sp>
        <p:nvSpPr>
          <p:cNvPr id="3" name="Content Placeholder 2">
            <a:extLst>
              <a:ext uri="{FF2B5EF4-FFF2-40B4-BE49-F238E27FC236}">
                <a16:creationId xmlns:a16="http://schemas.microsoft.com/office/drawing/2014/main" id="{916D25C4-3945-BAE1-BD68-C80060DD68E5}"/>
              </a:ext>
            </a:extLst>
          </p:cNvPr>
          <p:cNvSpPr>
            <a:spLocks noGrp="1"/>
          </p:cNvSpPr>
          <p:nvPr>
            <p:ph idx="1"/>
          </p:nvPr>
        </p:nvSpPr>
        <p:spPr/>
        <p:txBody>
          <a:bodyPr/>
          <a:lstStyle/>
          <a:p>
            <a:r>
              <a:rPr lang="en-US" dirty="0"/>
              <a:t>This section provides an overview of the product or service being developed or delivered. </a:t>
            </a:r>
          </a:p>
          <a:p>
            <a:r>
              <a:rPr lang="en-US" dirty="0"/>
              <a:t>It typically includes the product’s purpose, key features, specifications, and target market. </a:t>
            </a:r>
          </a:p>
          <a:p>
            <a:r>
              <a:rPr lang="en-US" dirty="0"/>
              <a:t>The introduction sets the context for the quality management process, emphasizing how quality is essential to meeting the product's objectives and customer expectations.</a:t>
            </a:r>
            <a:endParaRPr lang="en-ZA" dirty="0"/>
          </a:p>
        </p:txBody>
      </p:sp>
    </p:spTree>
    <p:extLst>
      <p:ext uri="{BB962C8B-B14F-4D97-AF65-F5344CB8AC3E}">
        <p14:creationId xmlns:p14="http://schemas.microsoft.com/office/powerpoint/2010/main" val="1386447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478D-7113-DAA4-B85D-ACA722D40235}"/>
              </a:ext>
            </a:extLst>
          </p:cNvPr>
          <p:cNvSpPr>
            <a:spLocks noGrp="1"/>
          </p:cNvSpPr>
          <p:nvPr>
            <p:ph type="title"/>
          </p:nvPr>
        </p:nvSpPr>
        <p:spPr/>
        <p:txBody>
          <a:bodyPr/>
          <a:lstStyle/>
          <a:p>
            <a:r>
              <a:rPr lang="en-GB" sz="4400" dirty="0"/>
              <a:t>Product plans</a:t>
            </a:r>
            <a:endParaRPr lang="en-ZA" dirty="0"/>
          </a:p>
        </p:txBody>
      </p:sp>
      <p:sp>
        <p:nvSpPr>
          <p:cNvPr id="3" name="Content Placeholder 2">
            <a:extLst>
              <a:ext uri="{FF2B5EF4-FFF2-40B4-BE49-F238E27FC236}">
                <a16:creationId xmlns:a16="http://schemas.microsoft.com/office/drawing/2014/main" id="{F506D902-D20F-EFAA-DCB5-59EAB3D111F8}"/>
              </a:ext>
            </a:extLst>
          </p:cNvPr>
          <p:cNvSpPr>
            <a:spLocks noGrp="1"/>
          </p:cNvSpPr>
          <p:nvPr>
            <p:ph idx="1"/>
          </p:nvPr>
        </p:nvSpPr>
        <p:spPr/>
        <p:txBody>
          <a:bodyPr/>
          <a:lstStyle/>
          <a:p>
            <a:r>
              <a:rPr lang="en-US" dirty="0"/>
              <a:t>Product plans outline the roadmap for the development, testing, and delivery of the product. </a:t>
            </a:r>
          </a:p>
          <a:p>
            <a:r>
              <a:rPr lang="en-US" dirty="0"/>
              <a:t>It includes detailed timelines, milestones, and the resources required for successful product realization. </a:t>
            </a:r>
          </a:p>
          <a:p>
            <a:r>
              <a:rPr lang="en-US" dirty="0"/>
              <a:t>This section focuses on defining the stages of product development, such as design, prototype, production, and launch, while ensuring quality is integrated at every stage</a:t>
            </a:r>
            <a:endParaRPr lang="en-ZA" dirty="0"/>
          </a:p>
        </p:txBody>
      </p:sp>
    </p:spTree>
    <p:extLst>
      <p:ext uri="{BB962C8B-B14F-4D97-AF65-F5344CB8AC3E}">
        <p14:creationId xmlns:p14="http://schemas.microsoft.com/office/powerpoint/2010/main" val="306267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2DB4-1923-C1ED-CF3A-3996EEDE4DF7}"/>
              </a:ext>
            </a:extLst>
          </p:cNvPr>
          <p:cNvSpPr>
            <a:spLocks noGrp="1"/>
          </p:cNvSpPr>
          <p:nvPr>
            <p:ph type="title"/>
          </p:nvPr>
        </p:nvSpPr>
        <p:spPr/>
        <p:txBody>
          <a:bodyPr/>
          <a:lstStyle/>
          <a:p>
            <a:r>
              <a:rPr lang="en-GB" sz="4400" dirty="0"/>
              <a:t>Process descriptions</a:t>
            </a:r>
            <a:endParaRPr lang="en-ZA" dirty="0"/>
          </a:p>
        </p:txBody>
      </p:sp>
      <p:sp>
        <p:nvSpPr>
          <p:cNvPr id="3" name="Content Placeholder 2">
            <a:extLst>
              <a:ext uri="{FF2B5EF4-FFF2-40B4-BE49-F238E27FC236}">
                <a16:creationId xmlns:a16="http://schemas.microsoft.com/office/drawing/2014/main" id="{71389426-C810-BC35-0B58-CBCC8D4D9941}"/>
              </a:ext>
            </a:extLst>
          </p:cNvPr>
          <p:cNvSpPr>
            <a:spLocks noGrp="1"/>
          </p:cNvSpPr>
          <p:nvPr>
            <p:ph idx="1"/>
          </p:nvPr>
        </p:nvSpPr>
        <p:spPr/>
        <p:txBody>
          <a:bodyPr/>
          <a:lstStyle/>
          <a:p>
            <a:r>
              <a:rPr lang="en-US" dirty="0"/>
              <a:t>This section provides detailed descriptions of the processes involved in product development and production. </a:t>
            </a:r>
          </a:p>
          <a:p>
            <a:r>
              <a:rPr lang="en-US" dirty="0"/>
              <a:t>It typically includes process flows, standard operating procedures (SOPs), and instructions for how tasks should be performed. </a:t>
            </a:r>
          </a:p>
          <a:p>
            <a:r>
              <a:rPr lang="en-US" dirty="0"/>
              <a:t>The goal is to ensure that the processes are clearly defined, repeatable, and efficient, with a focus on consistent quality control throughout.</a:t>
            </a:r>
            <a:endParaRPr lang="en-ZA" dirty="0"/>
          </a:p>
        </p:txBody>
      </p:sp>
    </p:spTree>
    <p:extLst>
      <p:ext uri="{BB962C8B-B14F-4D97-AF65-F5344CB8AC3E}">
        <p14:creationId xmlns:p14="http://schemas.microsoft.com/office/powerpoint/2010/main" val="2607425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52E3-606F-D370-0C03-57A2C4277105}"/>
              </a:ext>
            </a:extLst>
          </p:cNvPr>
          <p:cNvSpPr>
            <a:spLocks noGrp="1"/>
          </p:cNvSpPr>
          <p:nvPr>
            <p:ph type="title"/>
          </p:nvPr>
        </p:nvSpPr>
        <p:spPr/>
        <p:txBody>
          <a:bodyPr/>
          <a:lstStyle/>
          <a:p>
            <a:r>
              <a:rPr lang="en-GB" sz="4400" dirty="0"/>
              <a:t>Quality goals</a:t>
            </a:r>
            <a:endParaRPr lang="en-ZA" dirty="0"/>
          </a:p>
        </p:txBody>
      </p:sp>
      <p:sp>
        <p:nvSpPr>
          <p:cNvPr id="3" name="Content Placeholder 2">
            <a:extLst>
              <a:ext uri="{FF2B5EF4-FFF2-40B4-BE49-F238E27FC236}">
                <a16:creationId xmlns:a16="http://schemas.microsoft.com/office/drawing/2014/main" id="{1BEADF7F-E129-F6CE-E914-28EB90F74F02}"/>
              </a:ext>
            </a:extLst>
          </p:cNvPr>
          <p:cNvSpPr>
            <a:spLocks noGrp="1"/>
          </p:cNvSpPr>
          <p:nvPr>
            <p:ph idx="1"/>
          </p:nvPr>
        </p:nvSpPr>
        <p:spPr/>
        <p:txBody>
          <a:bodyPr/>
          <a:lstStyle/>
          <a:p>
            <a:r>
              <a:rPr lang="en-US" dirty="0"/>
              <a:t>Quality goals are the measurable objectives that the organization aims to achieve during the product's lifecycle. </a:t>
            </a:r>
          </a:p>
          <a:p>
            <a:r>
              <a:rPr lang="en-US" dirty="0"/>
              <a:t>These goals could be related to product performance, customer satisfaction, defect rates, compliance, or other relevant metrics. The quality goals should be aligned with both the organization’s strategic objectives and customer requirements. </a:t>
            </a:r>
          </a:p>
          <a:p>
            <a:r>
              <a:rPr lang="en-US" dirty="0"/>
              <a:t>They act as benchmarks for measuring and driving quality improvements.</a:t>
            </a:r>
            <a:endParaRPr lang="en-ZA" dirty="0"/>
          </a:p>
        </p:txBody>
      </p:sp>
    </p:spTree>
    <p:extLst>
      <p:ext uri="{BB962C8B-B14F-4D97-AF65-F5344CB8AC3E}">
        <p14:creationId xmlns:p14="http://schemas.microsoft.com/office/powerpoint/2010/main" val="2948204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8650-EAC8-CAFC-C2D8-A97EFFE93E85}"/>
              </a:ext>
            </a:extLst>
          </p:cNvPr>
          <p:cNvSpPr>
            <a:spLocks noGrp="1"/>
          </p:cNvSpPr>
          <p:nvPr>
            <p:ph type="title"/>
          </p:nvPr>
        </p:nvSpPr>
        <p:spPr/>
        <p:txBody>
          <a:bodyPr/>
          <a:lstStyle/>
          <a:p>
            <a:r>
              <a:rPr lang="en-GB" sz="4400" dirty="0"/>
              <a:t>Risks and risk management</a:t>
            </a:r>
            <a:endParaRPr lang="en-ZA" dirty="0"/>
          </a:p>
        </p:txBody>
      </p:sp>
      <p:sp>
        <p:nvSpPr>
          <p:cNvPr id="3" name="Content Placeholder 2">
            <a:extLst>
              <a:ext uri="{FF2B5EF4-FFF2-40B4-BE49-F238E27FC236}">
                <a16:creationId xmlns:a16="http://schemas.microsoft.com/office/drawing/2014/main" id="{F21F4953-6564-460A-1F70-8896C2926317}"/>
              </a:ext>
            </a:extLst>
          </p:cNvPr>
          <p:cNvSpPr>
            <a:spLocks noGrp="1"/>
          </p:cNvSpPr>
          <p:nvPr>
            <p:ph idx="1"/>
          </p:nvPr>
        </p:nvSpPr>
        <p:spPr/>
        <p:txBody>
          <a:bodyPr/>
          <a:lstStyle/>
          <a:p>
            <a:r>
              <a:rPr lang="en-US" dirty="0"/>
              <a:t>This section identifies potential risks that could impact product quality, timelines, or customer satisfaction. </a:t>
            </a:r>
          </a:p>
          <a:p>
            <a:r>
              <a:rPr lang="en-US" dirty="0"/>
              <a:t>Risks can be related to technical challenges, resource limitations, market fluctuations, or regulatory compliance.</a:t>
            </a:r>
          </a:p>
          <a:p>
            <a:r>
              <a:rPr lang="en-US" dirty="0"/>
              <a:t> The risk management plan outlines how each risk will be assessed, prioritized, and mitigated. </a:t>
            </a:r>
          </a:p>
          <a:p>
            <a:r>
              <a:rPr lang="en-US" dirty="0"/>
              <a:t>This includes specifying risk owners, defining mitigation strategies, and monitoring risks throughout the product development lifecycle to ensure that quality standards are maintained.</a:t>
            </a:r>
            <a:endParaRPr lang="en-ZA" dirty="0"/>
          </a:p>
        </p:txBody>
      </p:sp>
    </p:spTree>
    <p:extLst>
      <p:ext uri="{BB962C8B-B14F-4D97-AF65-F5344CB8AC3E}">
        <p14:creationId xmlns:p14="http://schemas.microsoft.com/office/powerpoint/2010/main" val="3247283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9065-A38E-BE39-64D6-58CA0F10F9D4}"/>
              </a:ext>
            </a:extLst>
          </p:cNvPr>
          <p:cNvSpPr>
            <a:spLocks noGrp="1"/>
          </p:cNvSpPr>
          <p:nvPr>
            <p:ph type="title"/>
          </p:nvPr>
        </p:nvSpPr>
        <p:spPr/>
        <p:txBody>
          <a:bodyPr/>
          <a:lstStyle/>
          <a:p>
            <a:r>
              <a:rPr lang="en-US" dirty="0"/>
              <a:t>Non-functional requirements to assess quality of software</a:t>
            </a:r>
            <a:endParaRPr lang="en-ZA" dirty="0"/>
          </a:p>
        </p:txBody>
      </p:sp>
      <p:sp>
        <p:nvSpPr>
          <p:cNvPr id="3" name="Content Placeholder 2">
            <a:extLst>
              <a:ext uri="{FF2B5EF4-FFF2-40B4-BE49-F238E27FC236}">
                <a16:creationId xmlns:a16="http://schemas.microsoft.com/office/drawing/2014/main" id="{79CF933A-EAE4-933E-2592-3697B8393681}"/>
              </a:ext>
            </a:extLst>
          </p:cNvPr>
          <p:cNvSpPr>
            <a:spLocks noGrp="1"/>
          </p:cNvSpPr>
          <p:nvPr>
            <p:ph idx="1"/>
          </p:nvPr>
        </p:nvSpPr>
        <p:spPr/>
        <p:txBody>
          <a:bodyPr>
            <a:normAutofit fontScale="92500" lnSpcReduction="20000"/>
          </a:bodyPr>
          <a:lstStyle/>
          <a:p>
            <a:r>
              <a:rPr lang="en-US" sz="2400" b="1" i="0" dirty="0">
                <a:solidFill>
                  <a:srgbClr val="222222"/>
                </a:solidFill>
                <a:effectLst/>
              </a:rPr>
              <a:t>Maintainability: </a:t>
            </a:r>
            <a:r>
              <a:rPr lang="en-US" sz="2400" b="0" i="0" dirty="0">
                <a:solidFill>
                  <a:srgbClr val="222222"/>
                </a:solidFill>
                <a:effectLst/>
              </a:rPr>
              <a:t>The ease with which software can be modified (adding features, enhancing features, fixing bugs, etc.)</a:t>
            </a:r>
          </a:p>
          <a:p>
            <a:r>
              <a:rPr lang="en-US" sz="2400" b="1" i="0" dirty="0">
                <a:solidFill>
                  <a:srgbClr val="222222"/>
                </a:solidFill>
                <a:effectLst/>
              </a:rPr>
              <a:t>Portability: </a:t>
            </a:r>
            <a:r>
              <a:rPr lang="en-US" sz="2400" b="0" i="0" dirty="0">
                <a:solidFill>
                  <a:srgbClr val="222222"/>
                </a:solidFill>
                <a:effectLst/>
              </a:rPr>
              <a:t>The ability of software to be transferred easily from one location to another.</a:t>
            </a:r>
          </a:p>
          <a:p>
            <a:r>
              <a:rPr lang="en-US" sz="2400" b="1" i="0" dirty="0">
                <a:solidFill>
                  <a:srgbClr val="222222"/>
                </a:solidFill>
                <a:effectLst/>
              </a:rPr>
              <a:t>Functionality: </a:t>
            </a:r>
            <a:r>
              <a:rPr lang="en-US" sz="2400" b="0" i="0" dirty="0">
                <a:solidFill>
                  <a:srgbClr val="222222"/>
                </a:solidFill>
                <a:effectLst/>
              </a:rPr>
              <a:t>The ability of software to carry out the functions as specified or desired.</a:t>
            </a:r>
          </a:p>
          <a:p>
            <a:r>
              <a:rPr lang="en-US" sz="2400" b="1" i="0" dirty="0">
                <a:solidFill>
                  <a:srgbClr val="222222"/>
                </a:solidFill>
                <a:effectLst/>
              </a:rPr>
              <a:t>Performance: </a:t>
            </a:r>
            <a:r>
              <a:rPr lang="en-US" sz="2400" b="0" i="0" dirty="0">
                <a:solidFill>
                  <a:srgbClr val="222222"/>
                </a:solidFill>
                <a:effectLst/>
              </a:rPr>
              <a:t>The speed at which software performs under a particular load.</a:t>
            </a:r>
          </a:p>
          <a:p>
            <a:r>
              <a:rPr lang="en-US" sz="2400" b="1" i="0" dirty="0">
                <a:solidFill>
                  <a:srgbClr val="222222"/>
                </a:solidFill>
                <a:effectLst/>
              </a:rPr>
              <a:t>Compatibility: </a:t>
            </a:r>
            <a:r>
              <a:rPr lang="en-US" sz="2400" b="0" i="0" dirty="0">
                <a:solidFill>
                  <a:srgbClr val="222222"/>
                </a:solidFill>
                <a:effectLst/>
              </a:rPr>
              <a:t>The suitability of software for use in different environments like different devices, operating systems, and browsers.</a:t>
            </a:r>
          </a:p>
          <a:p>
            <a:r>
              <a:rPr lang="en-US" sz="2400" b="1" i="0" dirty="0">
                <a:solidFill>
                  <a:srgbClr val="222222"/>
                </a:solidFill>
                <a:effectLst/>
              </a:rPr>
              <a:t>Usability: </a:t>
            </a:r>
            <a:r>
              <a:rPr lang="en-US" sz="2400" b="0" i="0" dirty="0">
                <a:solidFill>
                  <a:srgbClr val="222222"/>
                </a:solidFill>
                <a:effectLst/>
              </a:rPr>
              <a:t>The degree of software's ease of use.</a:t>
            </a:r>
          </a:p>
          <a:p>
            <a:r>
              <a:rPr lang="en-US" sz="2400" b="1" i="0" dirty="0">
                <a:solidFill>
                  <a:srgbClr val="222222"/>
                </a:solidFill>
                <a:effectLst/>
              </a:rPr>
              <a:t>Reliability: </a:t>
            </a:r>
            <a:r>
              <a:rPr lang="en-US" sz="2400" b="0" i="0" dirty="0">
                <a:solidFill>
                  <a:srgbClr val="222222"/>
                </a:solidFill>
                <a:effectLst/>
              </a:rPr>
              <a:t>The ability of software to perform a required function under stated conditions without any errors.</a:t>
            </a:r>
          </a:p>
          <a:p>
            <a:r>
              <a:rPr lang="en-US" sz="2400" b="1" i="0" dirty="0">
                <a:solidFill>
                  <a:srgbClr val="222222"/>
                </a:solidFill>
                <a:effectLst/>
              </a:rPr>
              <a:t>Security: </a:t>
            </a:r>
            <a:r>
              <a:rPr lang="en-US" sz="2400" b="0" i="0" dirty="0">
                <a:solidFill>
                  <a:srgbClr val="222222"/>
                </a:solidFill>
                <a:effectLst/>
              </a:rPr>
              <a:t>The extent of protection of software against unauthorized access, invasion of privacy, theft. loss of data etc. Ex. OTP</a:t>
            </a:r>
            <a:endParaRPr lang="en-ZA" sz="2400" dirty="0"/>
          </a:p>
        </p:txBody>
      </p:sp>
    </p:spTree>
    <p:extLst>
      <p:ext uri="{BB962C8B-B14F-4D97-AF65-F5344CB8AC3E}">
        <p14:creationId xmlns:p14="http://schemas.microsoft.com/office/powerpoint/2010/main" val="3182784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98B6D-2E6C-A412-23BA-CCD24660B8A9}"/>
              </a:ext>
            </a:extLst>
          </p:cNvPr>
          <p:cNvSpPr>
            <a:spLocks noGrp="1"/>
          </p:cNvSpPr>
          <p:nvPr>
            <p:ph type="title"/>
          </p:nvPr>
        </p:nvSpPr>
        <p:spPr/>
        <p:txBody>
          <a:bodyPr/>
          <a:lstStyle/>
          <a:p>
            <a:r>
              <a:rPr lang="en-US" b="0" i="0" dirty="0">
                <a:solidFill>
                  <a:srgbClr val="222222"/>
                </a:solidFill>
                <a:effectLst/>
                <a:latin typeface="Arial" panose="020B0604020202020204" pitchFamily="34" charset="0"/>
              </a:rPr>
              <a:t>Software Quality Management</a:t>
            </a:r>
            <a:endParaRPr lang="en-ZA" dirty="0"/>
          </a:p>
        </p:txBody>
      </p:sp>
      <p:sp>
        <p:nvSpPr>
          <p:cNvPr id="3" name="Content Placeholder 2">
            <a:extLst>
              <a:ext uri="{FF2B5EF4-FFF2-40B4-BE49-F238E27FC236}">
                <a16:creationId xmlns:a16="http://schemas.microsoft.com/office/drawing/2014/main" id="{55E4B899-D3EA-B685-3B23-04B18D950B46}"/>
              </a:ext>
            </a:extLst>
          </p:cNvPr>
          <p:cNvSpPr>
            <a:spLocks noGrp="1"/>
          </p:cNvSpPr>
          <p:nvPr>
            <p:ph idx="1"/>
          </p:nvPr>
        </p:nvSpPr>
        <p:spPr/>
        <p:txBody>
          <a:bodyPr>
            <a:noAutofit/>
          </a:bodyPr>
          <a:lstStyle/>
          <a:p>
            <a:pPr>
              <a:lnSpc>
                <a:spcPct val="150000"/>
              </a:lnSpc>
            </a:pPr>
            <a:r>
              <a:rPr lang="en-US" sz="2400" b="0" i="0" dirty="0">
                <a:solidFill>
                  <a:srgbClr val="222222"/>
                </a:solidFill>
                <a:effectLst/>
              </a:rPr>
              <a:t>Software Quality Management (SQM) refers to the complete process that ensures a software product is developed as per national and international standards like ANSI, IEEE, and ISO.</a:t>
            </a:r>
            <a:br>
              <a:rPr lang="en-US" sz="2400" dirty="0"/>
            </a:br>
            <a:r>
              <a:rPr lang="en-US" sz="2400" b="1" i="0" dirty="0">
                <a:solidFill>
                  <a:srgbClr val="222222"/>
                </a:solidFill>
                <a:effectLst/>
              </a:rPr>
              <a:t>Need for Software Quality Management:</a:t>
            </a:r>
            <a:br>
              <a:rPr lang="en-US" sz="2400" dirty="0"/>
            </a:br>
            <a:r>
              <a:rPr lang="en-US" sz="2400" b="0" i="0" dirty="0">
                <a:solidFill>
                  <a:srgbClr val="222222"/>
                </a:solidFill>
                <a:effectLst/>
              </a:rPr>
              <a:t>1. Deliver high-quality products on time.</a:t>
            </a:r>
            <a:br>
              <a:rPr lang="en-US" sz="2400" dirty="0"/>
            </a:br>
            <a:r>
              <a:rPr lang="en-US" sz="2400" b="0" i="0" dirty="0">
                <a:solidFill>
                  <a:srgbClr val="222222"/>
                </a:solidFill>
                <a:effectLst/>
              </a:rPr>
              <a:t>2. Increases stakeholder faith in product &amp; company.</a:t>
            </a:r>
            <a:br>
              <a:rPr lang="en-US" sz="2400" dirty="0"/>
            </a:br>
            <a:r>
              <a:rPr lang="en-US" sz="2400" b="0" i="0" dirty="0">
                <a:solidFill>
                  <a:srgbClr val="222222"/>
                </a:solidFill>
                <a:effectLst/>
              </a:rPr>
              <a:t>3. High-quality products always ensure customer satisfaction.</a:t>
            </a:r>
            <a:br>
              <a:rPr lang="en-US" sz="2400" dirty="0"/>
            </a:br>
            <a:br>
              <a:rPr lang="en-US" sz="2400" dirty="0"/>
            </a:br>
            <a:endParaRPr lang="en-ZA" sz="2400" dirty="0"/>
          </a:p>
        </p:txBody>
      </p:sp>
    </p:spTree>
    <p:extLst>
      <p:ext uri="{BB962C8B-B14F-4D97-AF65-F5344CB8AC3E}">
        <p14:creationId xmlns:p14="http://schemas.microsoft.com/office/powerpoint/2010/main" val="976553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2EAA3-C614-BE9A-E367-BB14452A967F}"/>
              </a:ext>
            </a:extLst>
          </p:cNvPr>
          <p:cNvSpPr>
            <a:spLocks noGrp="1"/>
          </p:cNvSpPr>
          <p:nvPr>
            <p:ph type="title"/>
          </p:nvPr>
        </p:nvSpPr>
        <p:spPr/>
        <p:txBody>
          <a:bodyPr/>
          <a:lstStyle/>
          <a:p>
            <a:r>
              <a:rPr lang="en-US" b="0" i="0" dirty="0">
                <a:solidFill>
                  <a:srgbClr val="222222"/>
                </a:solidFill>
                <a:effectLst/>
                <a:latin typeface="Arial" panose="020B0604020202020204" pitchFamily="34" charset="0"/>
              </a:rPr>
              <a:t>Activities of Software Quality Management</a:t>
            </a:r>
            <a:endParaRPr lang="en-ZA" dirty="0"/>
          </a:p>
        </p:txBody>
      </p:sp>
      <p:pic>
        <p:nvPicPr>
          <p:cNvPr id="1026" name="Picture 2" descr="Software Quality Management Optimization">
            <a:extLst>
              <a:ext uri="{FF2B5EF4-FFF2-40B4-BE49-F238E27FC236}">
                <a16:creationId xmlns:a16="http://schemas.microsoft.com/office/drawing/2014/main" id="{3EB9F464-7D2A-5378-B68E-6E544D675D3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4442" y="2227106"/>
            <a:ext cx="6182532" cy="3267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3005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DF97B-366A-971C-0683-CC6D7B22A196}"/>
              </a:ext>
            </a:extLst>
          </p:cNvPr>
          <p:cNvSpPr>
            <a:spLocks noGrp="1"/>
          </p:cNvSpPr>
          <p:nvPr>
            <p:ph type="title"/>
          </p:nvPr>
        </p:nvSpPr>
        <p:spPr/>
        <p:txBody>
          <a:bodyPr/>
          <a:lstStyle/>
          <a:p>
            <a:r>
              <a:rPr lang="en-US" b="0" i="0" dirty="0">
                <a:effectLst/>
                <a:latin typeface="Arial" panose="020B0604020202020204" pitchFamily="34" charset="0"/>
              </a:rPr>
              <a:t>How to Achieve Software Quality?</a:t>
            </a:r>
            <a:endParaRPr lang="en-ZA" dirty="0"/>
          </a:p>
        </p:txBody>
      </p:sp>
      <p:sp>
        <p:nvSpPr>
          <p:cNvPr id="3" name="Content Placeholder 2">
            <a:extLst>
              <a:ext uri="{FF2B5EF4-FFF2-40B4-BE49-F238E27FC236}">
                <a16:creationId xmlns:a16="http://schemas.microsoft.com/office/drawing/2014/main" id="{AFE73728-0A51-31A4-9CB1-B4DC04DD9662}"/>
              </a:ext>
            </a:extLst>
          </p:cNvPr>
          <p:cNvSpPr>
            <a:spLocks noGrp="1"/>
          </p:cNvSpPr>
          <p:nvPr>
            <p:ph idx="1"/>
          </p:nvPr>
        </p:nvSpPr>
        <p:spPr/>
        <p:txBody>
          <a:bodyPr>
            <a:normAutofit fontScale="85000" lnSpcReduction="20000"/>
          </a:bodyPr>
          <a:lstStyle/>
          <a:p>
            <a:pPr>
              <a:buFont typeface="Wingdings" panose="05000000000000000000" pitchFamily="2" charset="2"/>
              <a:buChar char="Ø"/>
            </a:pPr>
            <a:r>
              <a:rPr lang="en-US" b="1" i="0" dirty="0">
                <a:solidFill>
                  <a:srgbClr val="FF0000"/>
                </a:solidFill>
                <a:effectLst/>
              </a:rPr>
              <a:t>Quality Planning:</a:t>
            </a:r>
            <a:br>
              <a:rPr lang="en-US" dirty="0"/>
            </a:br>
            <a:r>
              <a:rPr lang="en-US" b="0" i="0" dirty="0">
                <a:solidFill>
                  <a:srgbClr val="222222"/>
                </a:solidFill>
                <a:effectLst/>
              </a:rPr>
              <a:t>• Select applicable procedures and standards for a particular project and modify them as required to develop a quality plan.</a:t>
            </a:r>
          </a:p>
          <a:p>
            <a:pPr>
              <a:buFont typeface="Wingdings" panose="05000000000000000000" pitchFamily="2" charset="2"/>
              <a:buChar char="Ø"/>
            </a:pPr>
            <a:r>
              <a:rPr lang="en-US" b="1" i="0" dirty="0">
                <a:solidFill>
                  <a:srgbClr val="FF0000"/>
                </a:solidFill>
                <a:effectLst/>
              </a:rPr>
              <a:t>Quality Assurance:</a:t>
            </a:r>
            <a:br>
              <a:rPr lang="en-US" dirty="0"/>
            </a:br>
            <a:r>
              <a:rPr lang="en-US" b="0" i="0" dirty="0">
                <a:solidFill>
                  <a:srgbClr val="222222"/>
                </a:solidFill>
                <a:effectLst/>
              </a:rPr>
              <a:t>• It assures that the system meets specified requirements and customer expectations.</a:t>
            </a:r>
            <a:br>
              <a:rPr lang="en-US" dirty="0"/>
            </a:br>
            <a:r>
              <a:rPr lang="en-US" b="0" i="0" dirty="0">
                <a:solidFill>
                  <a:srgbClr val="222222"/>
                </a:solidFill>
                <a:effectLst/>
              </a:rPr>
              <a:t>• It defines standards and methodologies for a successful development process.</a:t>
            </a:r>
            <a:br>
              <a:rPr lang="en-US" dirty="0"/>
            </a:br>
            <a:r>
              <a:rPr lang="en-US" b="0" i="0" dirty="0">
                <a:solidFill>
                  <a:srgbClr val="222222"/>
                </a:solidFill>
                <a:effectLst/>
              </a:rPr>
              <a:t>• It assures Correctness, Efficiency, Flexibility, Maintainability, Portability, Usability, etc.</a:t>
            </a:r>
          </a:p>
          <a:p>
            <a:pPr>
              <a:buFont typeface="Wingdings" panose="05000000000000000000" pitchFamily="2" charset="2"/>
              <a:buChar char="Ø"/>
            </a:pPr>
            <a:r>
              <a:rPr lang="en-US" b="1" i="0" dirty="0">
                <a:solidFill>
                  <a:srgbClr val="FF0000"/>
                </a:solidFill>
                <a:effectLst/>
              </a:rPr>
              <a:t>Quality Control:</a:t>
            </a:r>
            <a:br>
              <a:rPr lang="en-US" dirty="0"/>
            </a:br>
            <a:r>
              <a:rPr lang="en-US" b="0" i="0" dirty="0">
                <a:solidFill>
                  <a:srgbClr val="222222"/>
                </a:solidFill>
                <a:effectLst/>
              </a:rPr>
              <a:t>• It focuses on achieving &amp; fulfilling quality parameters or quality goals as per customer requirements.</a:t>
            </a:r>
            <a:br>
              <a:rPr lang="en-US" dirty="0"/>
            </a:br>
            <a:r>
              <a:rPr lang="en-US" b="0" i="0" dirty="0">
                <a:solidFill>
                  <a:srgbClr val="222222"/>
                </a:solidFill>
                <a:effectLst/>
              </a:rPr>
              <a:t>• It focuses on delivering products on time with accurate cost.</a:t>
            </a:r>
          </a:p>
          <a:p>
            <a:pPr marL="0" indent="0">
              <a:buNone/>
            </a:pPr>
            <a:endParaRPr lang="en-ZA" dirty="0"/>
          </a:p>
        </p:txBody>
      </p:sp>
    </p:spTree>
    <p:extLst>
      <p:ext uri="{BB962C8B-B14F-4D97-AF65-F5344CB8AC3E}">
        <p14:creationId xmlns:p14="http://schemas.microsoft.com/office/powerpoint/2010/main" val="63791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3D89-8D19-7A95-5EFD-EA87F32773E5}"/>
              </a:ext>
            </a:extLst>
          </p:cNvPr>
          <p:cNvSpPr>
            <a:spLocks noGrp="1"/>
          </p:cNvSpPr>
          <p:nvPr>
            <p:ph type="title"/>
          </p:nvPr>
        </p:nvSpPr>
        <p:spPr/>
        <p:txBody>
          <a:bodyPr/>
          <a:lstStyle/>
          <a:p>
            <a:r>
              <a:rPr lang="en-ZA" sz="4400" dirty="0">
                <a:solidFill>
                  <a:srgbClr val="222222"/>
                </a:solidFill>
                <a:latin typeface="Arial" panose="020B0604020202020204" pitchFamily="34" charset="0"/>
              </a:rPr>
              <a:t>Quality Assurance Vs Quality Control</a:t>
            </a:r>
            <a:endParaRPr lang="en-ZA" dirty="0"/>
          </a:p>
        </p:txBody>
      </p:sp>
      <p:pic>
        <p:nvPicPr>
          <p:cNvPr id="5" name="Content Placeholder 4">
            <a:extLst>
              <a:ext uri="{FF2B5EF4-FFF2-40B4-BE49-F238E27FC236}">
                <a16:creationId xmlns:a16="http://schemas.microsoft.com/office/drawing/2014/main" id="{1488F33F-92D6-BB7E-603D-D6C5A392DAB6}"/>
              </a:ext>
            </a:extLst>
          </p:cNvPr>
          <p:cNvPicPr>
            <a:picLocks noGrp="1" noChangeAspect="1"/>
          </p:cNvPicPr>
          <p:nvPr>
            <p:ph idx="1"/>
          </p:nvPr>
        </p:nvPicPr>
        <p:blipFill>
          <a:blip r:embed="rId2"/>
          <a:stretch>
            <a:fillRect/>
          </a:stretch>
        </p:blipFill>
        <p:spPr>
          <a:xfrm>
            <a:off x="897139" y="1690689"/>
            <a:ext cx="10033623" cy="4459388"/>
          </a:xfrm>
        </p:spPr>
      </p:pic>
    </p:spTree>
    <p:extLst>
      <p:ext uri="{BB962C8B-B14F-4D97-AF65-F5344CB8AC3E}">
        <p14:creationId xmlns:p14="http://schemas.microsoft.com/office/powerpoint/2010/main" val="631654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546D6-76C0-6316-FF6B-950A05956807}"/>
              </a:ext>
            </a:extLst>
          </p:cNvPr>
          <p:cNvSpPr>
            <a:spLocks noGrp="1"/>
          </p:cNvSpPr>
          <p:nvPr>
            <p:ph type="title"/>
          </p:nvPr>
        </p:nvSpPr>
        <p:spPr/>
        <p:txBody>
          <a:bodyPr/>
          <a:lstStyle/>
          <a:p>
            <a:r>
              <a:rPr lang="en-ZA" sz="4400" dirty="0">
                <a:solidFill>
                  <a:srgbClr val="222222"/>
                </a:solidFill>
                <a:latin typeface="Arial" panose="020B0604020202020204" pitchFamily="34" charset="0"/>
              </a:rPr>
              <a:t>Quality Assurance Vs Quality Control</a:t>
            </a:r>
            <a:endParaRPr lang="en-ZA" dirty="0"/>
          </a:p>
        </p:txBody>
      </p:sp>
      <p:pic>
        <p:nvPicPr>
          <p:cNvPr id="5" name="Content Placeholder 4">
            <a:extLst>
              <a:ext uri="{FF2B5EF4-FFF2-40B4-BE49-F238E27FC236}">
                <a16:creationId xmlns:a16="http://schemas.microsoft.com/office/drawing/2014/main" id="{7B73B193-81EF-0C91-99C4-0BE3461D1523}"/>
              </a:ext>
            </a:extLst>
          </p:cNvPr>
          <p:cNvPicPr>
            <a:picLocks noGrp="1" noChangeAspect="1"/>
          </p:cNvPicPr>
          <p:nvPr>
            <p:ph idx="1"/>
          </p:nvPr>
        </p:nvPicPr>
        <p:blipFill>
          <a:blip r:embed="rId2"/>
          <a:stretch>
            <a:fillRect/>
          </a:stretch>
        </p:blipFill>
        <p:spPr>
          <a:xfrm>
            <a:off x="1204726" y="1780701"/>
            <a:ext cx="10149074" cy="3296597"/>
          </a:xfrm>
        </p:spPr>
      </p:pic>
    </p:spTree>
    <p:extLst>
      <p:ext uri="{BB962C8B-B14F-4D97-AF65-F5344CB8AC3E}">
        <p14:creationId xmlns:p14="http://schemas.microsoft.com/office/powerpoint/2010/main" val="1362076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47A1F-D245-7F10-2134-4C4C4317E42A}"/>
              </a:ext>
            </a:extLst>
          </p:cNvPr>
          <p:cNvSpPr>
            <a:spLocks noGrp="1"/>
          </p:cNvSpPr>
          <p:nvPr>
            <p:ph type="title"/>
          </p:nvPr>
        </p:nvSpPr>
        <p:spPr/>
        <p:txBody>
          <a:bodyPr/>
          <a:lstStyle/>
          <a:p>
            <a:r>
              <a:rPr lang="en-US" b="0" i="0" dirty="0">
                <a:solidFill>
                  <a:srgbClr val="222222"/>
                </a:solidFill>
                <a:effectLst/>
                <a:latin typeface="Arial" panose="020B0604020202020204" pitchFamily="34" charset="0"/>
              </a:rPr>
              <a:t>Software Quality Metrics</a:t>
            </a:r>
            <a:endParaRPr lang="en-ZA" dirty="0"/>
          </a:p>
        </p:txBody>
      </p:sp>
      <p:sp>
        <p:nvSpPr>
          <p:cNvPr id="3" name="Content Placeholder 2">
            <a:extLst>
              <a:ext uri="{FF2B5EF4-FFF2-40B4-BE49-F238E27FC236}">
                <a16:creationId xmlns:a16="http://schemas.microsoft.com/office/drawing/2014/main" id="{5E8DAE25-737D-7300-391E-453134BE8E4C}"/>
              </a:ext>
            </a:extLst>
          </p:cNvPr>
          <p:cNvSpPr>
            <a:spLocks noGrp="1"/>
          </p:cNvSpPr>
          <p:nvPr>
            <p:ph idx="1"/>
          </p:nvPr>
        </p:nvSpPr>
        <p:spPr>
          <a:xfrm>
            <a:off x="838199" y="1548581"/>
            <a:ext cx="10695039" cy="4944294"/>
          </a:xfrm>
        </p:spPr>
        <p:txBody>
          <a:bodyPr>
            <a:normAutofit fontScale="92500" lnSpcReduction="10000"/>
          </a:bodyPr>
          <a:lstStyle/>
          <a:p>
            <a:pPr marL="0" indent="0">
              <a:buNone/>
            </a:pPr>
            <a:r>
              <a:rPr lang="en-US" sz="2400" dirty="0">
                <a:solidFill>
                  <a:srgbClr val="222222"/>
                </a:solidFill>
              </a:rPr>
              <a:t>Software Quality Management makes sure that the software is high-quality and follows proper rules and standards. To check how good the software is, we use different types of metrics (measurements): </a:t>
            </a:r>
          </a:p>
          <a:p>
            <a:pPr marL="0" indent="0">
              <a:buNone/>
            </a:pPr>
            <a:r>
              <a:rPr lang="en-US" sz="2400" b="1" i="0" dirty="0">
                <a:solidFill>
                  <a:srgbClr val="FF0000"/>
                </a:solidFill>
                <a:effectLst/>
              </a:rPr>
              <a:t>Customer Problem Metrics:</a:t>
            </a:r>
            <a:br>
              <a:rPr lang="en-US" sz="2400" dirty="0"/>
            </a:br>
            <a:r>
              <a:rPr lang="en-US" sz="2400" b="0" i="0" dirty="0">
                <a:solidFill>
                  <a:srgbClr val="222222"/>
                </a:solidFill>
                <a:effectLst/>
              </a:rPr>
              <a:t>• Measure the problems encountered by the customers while using the product.</a:t>
            </a:r>
            <a:br>
              <a:rPr lang="en-US" sz="2400" dirty="0"/>
            </a:br>
            <a:r>
              <a:rPr lang="en-US" sz="2400" b="0" i="0" dirty="0">
                <a:solidFill>
                  <a:srgbClr val="222222"/>
                </a:solidFill>
                <a:effectLst/>
              </a:rPr>
              <a:t>• </a:t>
            </a:r>
            <a:r>
              <a:rPr lang="en-US" sz="2400" b="0" i="0" dirty="0">
                <a:solidFill>
                  <a:srgbClr val="001D35"/>
                </a:solidFill>
                <a:effectLst/>
                <a:latin typeface="Google Sans"/>
              </a:rPr>
              <a:t>Problems per User Month = (Total Number of Problem Reports) / (Total Number of Users *  Number of Months)</a:t>
            </a:r>
          </a:p>
          <a:p>
            <a:r>
              <a:rPr lang="en-US" sz="2400" b="0" i="0" dirty="0">
                <a:solidFill>
                  <a:srgbClr val="001D35"/>
                </a:solidFill>
                <a:effectLst/>
                <a:latin typeface="Google Sans"/>
              </a:rPr>
              <a:t>For example, if you have 10 problem reports, 100 users, and you're tracking data for 1 month, the problems per user month would be 10 / (100 * 1) = 0.1.</a:t>
            </a:r>
            <a:endParaRPr lang="en-US" sz="2400" b="0" i="0" dirty="0">
              <a:solidFill>
                <a:srgbClr val="222222"/>
              </a:solidFill>
              <a:effectLst/>
            </a:endParaRPr>
          </a:p>
          <a:p>
            <a:pPr marL="0" indent="0">
              <a:buNone/>
            </a:pPr>
            <a:r>
              <a:rPr lang="en-US" sz="2400" b="1" i="0" dirty="0">
                <a:solidFill>
                  <a:srgbClr val="FF0000"/>
                </a:solidFill>
                <a:effectLst/>
              </a:rPr>
              <a:t>Customer Satisfaction Metrics:</a:t>
            </a:r>
            <a:br>
              <a:rPr lang="en-US" sz="2400" dirty="0"/>
            </a:br>
            <a:r>
              <a:rPr lang="en-US" sz="2400" b="0" i="0" dirty="0">
                <a:solidFill>
                  <a:srgbClr val="222222"/>
                </a:solidFill>
                <a:effectLst/>
              </a:rPr>
              <a:t>• It deals with the overall quality of the product &amp; how much a customer is satisfied with that product.</a:t>
            </a:r>
            <a:br>
              <a:rPr lang="en-US" sz="2400" dirty="0"/>
            </a:br>
            <a:r>
              <a:rPr lang="en-US" sz="2400" b="0" i="0" dirty="0">
                <a:solidFill>
                  <a:srgbClr val="222222"/>
                </a:solidFill>
                <a:effectLst/>
              </a:rPr>
              <a:t>• It is measured by Very Satisfied, Satisfied, Neutral, Dissatisfied, and Very Dissatisfied.</a:t>
            </a:r>
          </a:p>
          <a:p>
            <a:pPr marL="0" indent="0">
              <a:buNone/>
            </a:pPr>
            <a:r>
              <a:rPr lang="en-US" sz="2400" b="1" i="0" dirty="0">
                <a:solidFill>
                  <a:srgbClr val="FF0000"/>
                </a:solidFill>
                <a:effectLst/>
              </a:rPr>
              <a:t>Software Maintenance Metrics:</a:t>
            </a:r>
            <a:br>
              <a:rPr lang="en-US" sz="2400" dirty="0"/>
            </a:br>
            <a:r>
              <a:rPr lang="en-US" sz="2400" b="0" i="0" dirty="0">
                <a:solidFill>
                  <a:srgbClr val="222222"/>
                </a:solidFill>
                <a:effectLst/>
              </a:rPr>
              <a:t>• After completion of Development &amp; Testing product release in the market.</a:t>
            </a:r>
            <a:br>
              <a:rPr lang="en-US" sz="2400" dirty="0"/>
            </a:br>
            <a:r>
              <a:rPr lang="en-US" sz="2400" b="0" i="0" dirty="0">
                <a:solidFill>
                  <a:srgbClr val="222222"/>
                </a:solidFill>
                <a:effectLst/>
              </a:rPr>
              <a:t>• During this interval. How many defect arrived at customer environment?</a:t>
            </a:r>
            <a:endParaRPr lang="en-ZA" sz="2400" dirty="0"/>
          </a:p>
        </p:txBody>
      </p:sp>
    </p:spTree>
    <p:extLst>
      <p:ext uri="{BB962C8B-B14F-4D97-AF65-F5344CB8AC3E}">
        <p14:creationId xmlns:p14="http://schemas.microsoft.com/office/powerpoint/2010/main" val="1331204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84B40-C29B-A5BE-AD32-6465276B4085}"/>
              </a:ext>
            </a:extLst>
          </p:cNvPr>
          <p:cNvSpPr>
            <a:spLocks noGrp="1"/>
          </p:cNvSpPr>
          <p:nvPr>
            <p:ph type="title"/>
          </p:nvPr>
        </p:nvSpPr>
        <p:spPr/>
        <p:txBody>
          <a:bodyPr/>
          <a:lstStyle/>
          <a:p>
            <a:r>
              <a:rPr lang="en-GB" dirty="0"/>
              <a:t>Reviews and inspections</a:t>
            </a:r>
            <a:endParaRPr lang="en-ZA" dirty="0"/>
          </a:p>
        </p:txBody>
      </p:sp>
      <p:sp>
        <p:nvSpPr>
          <p:cNvPr id="3" name="Content Placeholder 2">
            <a:extLst>
              <a:ext uri="{FF2B5EF4-FFF2-40B4-BE49-F238E27FC236}">
                <a16:creationId xmlns:a16="http://schemas.microsoft.com/office/drawing/2014/main" id="{07D19ED1-4496-7515-7222-D45C1127F10F}"/>
              </a:ext>
            </a:extLst>
          </p:cNvPr>
          <p:cNvSpPr>
            <a:spLocks noGrp="1"/>
          </p:cNvSpPr>
          <p:nvPr>
            <p:ph idx="1"/>
          </p:nvPr>
        </p:nvSpPr>
        <p:spPr/>
        <p:txBody>
          <a:bodyPr>
            <a:normAutofit/>
          </a:bodyPr>
          <a:lstStyle/>
          <a:p>
            <a:pPr>
              <a:buFont typeface="Wingdings" panose="05000000000000000000" pitchFamily="2" charset="2"/>
              <a:buChar char="Ø"/>
            </a:pPr>
            <a:r>
              <a:rPr lang="en-GB" dirty="0"/>
              <a:t>A group examines part or all of a process or system and its documentation to find potential problems.</a:t>
            </a:r>
          </a:p>
          <a:p>
            <a:pPr>
              <a:buFont typeface="Wingdings" panose="05000000000000000000" pitchFamily="2" charset="2"/>
              <a:buChar char="Ø"/>
            </a:pPr>
            <a:r>
              <a:rPr lang="en-GB" dirty="0"/>
              <a:t>Software or documents may be 'signed off' at a review, which signifies that progress to the next development stage has been approved by management.</a:t>
            </a:r>
          </a:p>
          <a:p>
            <a:pPr>
              <a:buFont typeface="Wingdings" panose="05000000000000000000" pitchFamily="2" charset="2"/>
              <a:buChar char="Ø"/>
            </a:pPr>
            <a:r>
              <a:rPr lang="en-GB" dirty="0"/>
              <a:t>There are different types of reviews with different objectives</a:t>
            </a:r>
          </a:p>
          <a:p>
            <a:pPr lvl="1">
              <a:buFont typeface="Wingdings" panose="05000000000000000000" pitchFamily="2" charset="2"/>
              <a:buChar char="Ø"/>
            </a:pPr>
            <a:r>
              <a:rPr lang="en-GB" dirty="0"/>
              <a:t>Quality reviews</a:t>
            </a:r>
          </a:p>
          <a:p>
            <a:pPr lvl="1">
              <a:buFont typeface="Wingdings" panose="05000000000000000000" pitchFamily="2" charset="2"/>
              <a:buChar char="Ø"/>
            </a:pPr>
            <a:r>
              <a:rPr lang="en-GB" dirty="0"/>
              <a:t>Inspections for defect removal </a:t>
            </a:r>
          </a:p>
          <a:p>
            <a:pPr lvl="1">
              <a:buFont typeface="Wingdings" panose="05000000000000000000" pitchFamily="2" charset="2"/>
              <a:buChar char="Ø"/>
            </a:pPr>
            <a:r>
              <a:rPr lang="en-GB" dirty="0"/>
              <a:t>Reviews for progress assessment</a:t>
            </a:r>
            <a:endParaRPr lang="en-ZA" dirty="0"/>
          </a:p>
        </p:txBody>
      </p:sp>
    </p:spTree>
    <p:extLst>
      <p:ext uri="{BB962C8B-B14F-4D97-AF65-F5344CB8AC3E}">
        <p14:creationId xmlns:p14="http://schemas.microsoft.com/office/powerpoint/2010/main" val="613108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710E8-DCAF-BE85-1F19-D67364E8AAFD}"/>
              </a:ext>
            </a:extLst>
          </p:cNvPr>
          <p:cNvSpPr>
            <a:spLocks noGrp="1"/>
          </p:cNvSpPr>
          <p:nvPr>
            <p:ph type="title"/>
          </p:nvPr>
        </p:nvSpPr>
        <p:spPr/>
        <p:txBody>
          <a:bodyPr/>
          <a:lstStyle/>
          <a:p>
            <a:r>
              <a:rPr lang="en-GB" dirty="0"/>
              <a:t>Quality reviews</a:t>
            </a:r>
            <a:endParaRPr lang="en-ZA" dirty="0"/>
          </a:p>
        </p:txBody>
      </p:sp>
      <p:sp>
        <p:nvSpPr>
          <p:cNvPr id="3" name="Content Placeholder 2">
            <a:extLst>
              <a:ext uri="{FF2B5EF4-FFF2-40B4-BE49-F238E27FC236}">
                <a16:creationId xmlns:a16="http://schemas.microsoft.com/office/drawing/2014/main" id="{15B04216-461C-A7A9-3B29-E453A84E48A8}"/>
              </a:ext>
            </a:extLst>
          </p:cNvPr>
          <p:cNvSpPr>
            <a:spLocks noGrp="1"/>
          </p:cNvSpPr>
          <p:nvPr>
            <p:ph idx="1"/>
          </p:nvPr>
        </p:nvSpPr>
        <p:spPr/>
        <p:txBody>
          <a:bodyPr/>
          <a:lstStyle/>
          <a:p>
            <a:pPr>
              <a:buFont typeface="Wingdings" panose="05000000000000000000" pitchFamily="2" charset="2"/>
              <a:buChar char="Ø"/>
            </a:pPr>
            <a:r>
              <a:rPr lang="en-GB" dirty="0"/>
              <a:t>A group of people carefully examines part or all of a software system and its associated documentation.</a:t>
            </a:r>
          </a:p>
          <a:p>
            <a:pPr>
              <a:buFont typeface="Wingdings" panose="05000000000000000000" pitchFamily="2" charset="2"/>
              <a:buChar char="Ø"/>
            </a:pPr>
            <a:r>
              <a:rPr lang="en-GB" dirty="0"/>
              <a:t> Code, designs, specifications, test plans, standards, etc., can all be reviewed.</a:t>
            </a:r>
          </a:p>
          <a:p>
            <a:pPr>
              <a:buFont typeface="Wingdings" panose="05000000000000000000" pitchFamily="2" charset="2"/>
              <a:buChar char="Ø"/>
            </a:pPr>
            <a:r>
              <a:rPr lang="en-GB" dirty="0"/>
              <a:t>Software or documents may be 'signed off' at a review, which signifies that progress to the next development stage has been approved by management.</a:t>
            </a:r>
          </a:p>
          <a:p>
            <a:endParaRPr lang="en-ZA" dirty="0"/>
          </a:p>
        </p:txBody>
      </p:sp>
    </p:spTree>
    <p:extLst>
      <p:ext uri="{BB962C8B-B14F-4D97-AF65-F5344CB8AC3E}">
        <p14:creationId xmlns:p14="http://schemas.microsoft.com/office/powerpoint/2010/main" val="3959214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913EC-38F7-FFE8-B061-E082664D7E73}"/>
              </a:ext>
            </a:extLst>
          </p:cNvPr>
          <p:cNvSpPr>
            <a:spLocks noGrp="1"/>
          </p:cNvSpPr>
          <p:nvPr>
            <p:ph type="title"/>
          </p:nvPr>
        </p:nvSpPr>
        <p:spPr/>
        <p:txBody>
          <a:bodyPr/>
          <a:lstStyle/>
          <a:p>
            <a:r>
              <a:rPr lang="en-US" dirty="0"/>
              <a:t>Phases in the review process</a:t>
            </a:r>
            <a:endParaRPr lang="en-ZA" dirty="0"/>
          </a:p>
        </p:txBody>
      </p:sp>
      <p:sp>
        <p:nvSpPr>
          <p:cNvPr id="3" name="Content Placeholder 2">
            <a:extLst>
              <a:ext uri="{FF2B5EF4-FFF2-40B4-BE49-F238E27FC236}">
                <a16:creationId xmlns:a16="http://schemas.microsoft.com/office/drawing/2014/main" id="{D65DC285-E8E3-1145-4FBF-B89DC322EAB8}"/>
              </a:ext>
            </a:extLst>
          </p:cNvPr>
          <p:cNvSpPr>
            <a:spLocks noGrp="1"/>
          </p:cNvSpPr>
          <p:nvPr>
            <p:ph idx="1"/>
          </p:nvPr>
        </p:nvSpPr>
        <p:spPr/>
        <p:txBody>
          <a:bodyPr/>
          <a:lstStyle/>
          <a:p>
            <a:pPr>
              <a:buFont typeface="Wingdings" panose="05000000000000000000" pitchFamily="2" charset="2"/>
              <a:buChar char="Ø"/>
            </a:pPr>
            <a:r>
              <a:rPr lang="en-US" dirty="0"/>
              <a:t>Pre-review activities</a:t>
            </a:r>
          </a:p>
          <a:p>
            <a:pPr lvl="1">
              <a:buFont typeface="Wingdings" panose="05000000000000000000" pitchFamily="2" charset="2"/>
              <a:buChar char="Ø"/>
            </a:pPr>
            <a:r>
              <a:rPr lang="en-US" dirty="0"/>
              <a:t>Pre-review activities are concerned with review planning and review preparation</a:t>
            </a:r>
            <a:r>
              <a:rPr lang="en-GB" dirty="0"/>
              <a:t> </a:t>
            </a:r>
            <a:endParaRPr lang="en-US" dirty="0"/>
          </a:p>
          <a:p>
            <a:pPr>
              <a:buFont typeface="Wingdings" panose="05000000000000000000" pitchFamily="2" charset="2"/>
              <a:buChar char="Ø"/>
            </a:pPr>
            <a:r>
              <a:rPr lang="en-US" dirty="0"/>
              <a:t>The review meeting</a:t>
            </a:r>
          </a:p>
          <a:p>
            <a:pPr lvl="1">
              <a:buFont typeface="Wingdings" panose="05000000000000000000" pitchFamily="2" charset="2"/>
              <a:buChar char="Ø"/>
            </a:pPr>
            <a:r>
              <a:rPr lang="en-US" dirty="0"/>
              <a:t>During the review meeting, an author of the document or program being reviewed should ‘walk through’ the document with the review team. </a:t>
            </a:r>
          </a:p>
          <a:p>
            <a:pPr>
              <a:buFont typeface="Wingdings" panose="05000000000000000000" pitchFamily="2" charset="2"/>
              <a:buChar char="Ø"/>
            </a:pPr>
            <a:r>
              <a:rPr lang="en-US" dirty="0"/>
              <a:t>Post-review activities</a:t>
            </a:r>
          </a:p>
          <a:p>
            <a:pPr lvl="1">
              <a:buFont typeface="Wingdings" panose="05000000000000000000" pitchFamily="2" charset="2"/>
              <a:buChar char="Ø"/>
            </a:pPr>
            <a:r>
              <a:rPr lang="en-US" dirty="0"/>
              <a:t>These address the problems and issues that have been raised during the review meeting.</a:t>
            </a:r>
          </a:p>
          <a:p>
            <a:endParaRPr lang="en-ZA" dirty="0"/>
          </a:p>
        </p:txBody>
      </p:sp>
    </p:spTree>
    <p:extLst>
      <p:ext uri="{BB962C8B-B14F-4D97-AF65-F5344CB8AC3E}">
        <p14:creationId xmlns:p14="http://schemas.microsoft.com/office/powerpoint/2010/main" val="1149242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3BD3-0D5D-79A8-6C27-19504FA12D8D}"/>
              </a:ext>
            </a:extLst>
          </p:cNvPr>
          <p:cNvSpPr>
            <a:spLocks noGrp="1"/>
          </p:cNvSpPr>
          <p:nvPr>
            <p:ph type="title"/>
          </p:nvPr>
        </p:nvSpPr>
        <p:spPr/>
        <p:txBody>
          <a:bodyPr/>
          <a:lstStyle/>
          <a:p>
            <a:r>
              <a:rPr lang="en-GB" dirty="0"/>
              <a:t>Program inspections</a:t>
            </a:r>
            <a:endParaRPr lang="en-ZA" dirty="0"/>
          </a:p>
        </p:txBody>
      </p:sp>
      <p:sp>
        <p:nvSpPr>
          <p:cNvPr id="3" name="Content Placeholder 2">
            <a:extLst>
              <a:ext uri="{FF2B5EF4-FFF2-40B4-BE49-F238E27FC236}">
                <a16:creationId xmlns:a16="http://schemas.microsoft.com/office/drawing/2014/main" id="{26518824-F3DD-8629-9544-8B68E2689233}"/>
              </a:ext>
            </a:extLst>
          </p:cNvPr>
          <p:cNvSpPr>
            <a:spLocks noGrp="1"/>
          </p:cNvSpPr>
          <p:nvPr>
            <p:ph idx="1"/>
          </p:nvPr>
        </p:nvSpPr>
        <p:spPr/>
        <p:txBody>
          <a:bodyPr/>
          <a:lstStyle/>
          <a:p>
            <a:pPr>
              <a:buFont typeface="Wingdings" panose="05000000000000000000" pitchFamily="2" charset="2"/>
              <a:buChar char="Ø"/>
            </a:pPr>
            <a:r>
              <a:rPr lang="en-GB" dirty="0"/>
              <a:t>These are peer reviews where engineers examine the source of a system with the aim of discovering anomalies and defects.</a:t>
            </a:r>
          </a:p>
          <a:p>
            <a:pPr>
              <a:buFont typeface="Wingdings" panose="05000000000000000000" pitchFamily="2" charset="2"/>
              <a:buChar char="Ø"/>
            </a:pPr>
            <a:r>
              <a:rPr lang="en-GB" dirty="0"/>
              <a:t>Inspections do not require execution of a system so may be used before implementation.</a:t>
            </a:r>
          </a:p>
          <a:p>
            <a:pPr>
              <a:buFont typeface="Wingdings" panose="05000000000000000000" pitchFamily="2" charset="2"/>
              <a:buChar char="Ø"/>
            </a:pPr>
            <a:r>
              <a:rPr lang="en-GB" dirty="0"/>
              <a:t>They may be applied to any representation of the system (requirements, design, configuration data, test data, etc.).</a:t>
            </a:r>
          </a:p>
          <a:p>
            <a:pPr>
              <a:buFont typeface="Wingdings" panose="05000000000000000000" pitchFamily="2" charset="2"/>
              <a:buChar char="Ø"/>
            </a:pPr>
            <a:r>
              <a:rPr lang="en-GB" dirty="0"/>
              <a:t>They have been shown to be an effective technique for discovering program errors.</a:t>
            </a:r>
          </a:p>
          <a:p>
            <a:endParaRPr lang="en-ZA" dirty="0"/>
          </a:p>
        </p:txBody>
      </p:sp>
    </p:spTree>
    <p:extLst>
      <p:ext uri="{BB962C8B-B14F-4D97-AF65-F5344CB8AC3E}">
        <p14:creationId xmlns:p14="http://schemas.microsoft.com/office/powerpoint/2010/main" val="2405690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79AED-85A9-21AD-0991-D334676AE7FA}"/>
              </a:ext>
            </a:extLst>
          </p:cNvPr>
          <p:cNvSpPr>
            <a:spLocks noGrp="1"/>
          </p:cNvSpPr>
          <p:nvPr>
            <p:ph type="title"/>
          </p:nvPr>
        </p:nvSpPr>
        <p:spPr/>
        <p:txBody>
          <a:bodyPr/>
          <a:lstStyle/>
          <a:p>
            <a:r>
              <a:rPr lang="en-GB" dirty="0"/>
              <a:t>Inspection checklists</a:t>
            </a:r>
            <a:endParaRPr lang="en-ZA" dirty="0"/>
          </a:p>
        </p:txBody>
      </p:sp>
      <p:sp>
        <p:nvSpPr>
          <p:cNvPr id="3" name="Content Placeholder 2">
            <a:extLst>
              <a:ext uri="{FF2B5EF4-FFF2-40B4-BE49-F238E27FC236}">
                <a16:creationId xmlns:a16="http://schemas.microsoft.com/office/drawing/2014/main" id="{5E5716F6-51BA-A7A6-0348-E20651A2CF9E}"/>
              </a:ext>
            </a:extLst>
          </p:cNvPr>
          <p:cNvSpPr>
            <a:spLocks noGrp="1"/>
          </p:cNvSpPr>
          <p:nvPr>
            <p:ph idx="1"/>
          </p:nvPr>
        </p:nvSpPr>
        <p:spPr/>
        <p:txBody>
          <a:bodyPr/>
          <a:lstStyle/>
          <a:p>
            <a:pPr>
              <a:buFont typeface="Wingdings" panose="05000000000000000000" pitchFamily="2" charset="2"/>
              <a:buChar char="Ø"/>
            </a:pPr>
            <a:r>
              <a:rPr lang="en-GB" dirty="0"/>
              <a:t>Checklist of common errors should be used to drive the inspection.</a:t>
            </a:r>
          </a:p>
          <a:p>
            <a:pPr>
              <a:buFont typeface="Wingdings" panose="05000000000000000000" pitchFamily="2" charset="2"/>
              <a:buChar char="Ø"/>
            </a:pPr>
            <a:r>
              <a:rPr lang="en-GB" dirty="0"/>
              <a:t>Error checklists are programming language dependent and reflect the characteristic errors that are likely to arise in the language.</a:t>
            </a:r>
          </a:p>
          <a:p>
            <a:pPr>
              <a:buFont typeface="Wingdings" panose="05000000000000000000" pitchFamily="2" charset="2"/>
              <a:buChar char="Ø"/>
            </a:pPr>
            <a:r>
              <a:rPr lang="en-GB" dirty="0"/>
              <a:t>In general, the 'weaker' the type checking, the larger the checklist.</a:t>
            </a:r>
          </a:p>
          <a:p>
            <a:pPr>
              <a:buFont typeface="Wingdings" panose="05000000000000000000" pitchFamily="2" charset="2"/>
              <a:buChar char="Ø"/>
            </a:pPr>
            <a:r>
              <a:rPr lang="en-GB" dirty="0"/>
              <a:t>Examples: Initialisation, Constant naming, loop </a:t>
            </a:r>
            <a:br>
              <a:rPr lang="en-GB" dirty="0"/>
            </a:br>
            <a:r>
              <a:rPr lang="en-GB" dirty="0"/>
              <a:t>termination, array bounds, etc.</a:t>
            </a:r>
          </a:p>
          <a:p>
            <a:endParaRPr lang="en-ZA" dirty="0"/>
          </a:p>
        </p:txBody>
      </p:sp>
    </p:spTree>
    <p:extLst>
      <p:ext uri="{BB962C8B-B14F-4D97-AF65-F5344CB8AC3E}">
        <p14:creationId xmlns:p14="http://schemas.microsoft.com/office/powerpoint/2010/main" val="1500182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F7E3254-58A8-BFDE-D51F-C175EE438BF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An inspection checklist (a)</a:t>
            </a:r>
          </a:p>
        </p:txBody>
      </p:sp>
      <p:pic>
        <p:nvPicPr>
          <p:cNvPr id="5" name="Content Placeholder 4">
            <a:extLst>
              <a:ext uri="{FF2B5EF4-FFF2-40B4-BE49-F238E27FC236}">
                <a16:creationId xmlns:a16="http://schemas.microsoft.com/office/drawing/2014/main" id="{4A37ABE2-6E40-A15C-9A76-CA5EE1FAFFC9}"/>
              </a:ext>
            </a:extLst>
          </p:cNvPr>
          <p:cNvPicPr>
            <a:picLocks noGrp="1" noChangeAspect="1"/>
          </p:cNvPicPr>
          <p:nvPr>
            <p:ph idx="1"/>
          </p:nvPr>
        </p:nvPicPr>
        <p:blipFill>
          <a:blip r:embed="rId2"/>
          <a:stretch>
            <a:fillRect/>
          </a:stretch>
        </p:blipFill>
        <p:spPr>
          <a:xfrm>
            <a:off x="4502428" y="1105677"/>
            <a:ext cx="7225748" cy="4646646"/>
          </a:xfrm>
          <a:prstGeom prst="rect">
            <a:avLst/>
          </a:prstGeom>
        </p:spPr>
      </p:pic>
    </p:spTree>
    <p:extLst>
      <p:ext uri="{BB962C8B-B14F-4D97-AF65-F5344CB8AC3E}">
        <p14:creationId xmlns:p14="http://schemas.microsoft.com/office/powerpoint/2010/main" val="4063077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96D268E-CA27-DFFD-E28E-F188B3CD106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An inspection checklist (b)</a:t>
            </a:r>
          </a:p>
        </p:txBody>
      </p:sp>
      <p:pic>
        <p:nvPicPr>
          <p:cNvPr id="5" name="Content Placeholder 4">
            <a:extLst>
              <a:ext uri="{FF2B5EF4-FFF2-40B4-BE49-F238E27FC236}">
                <a16:creationId xmlns:a16="http://schemas.microsoft.com/office/drawing/2014/main" id="{396E0002-9CCD-CDBD-12C0-68E3E32DE4B2}"/>
              </a:ext>
            </a:extLst>
          </p:cNvPr>
          <p:cNvPicPr>
            <a:picLocks noGrp="1" noChangeAspect="1"/>
          </p:cNvPicPr>
          <p:nvPr>
            <p:ph idx="1"/>
          </p:nvPr>
        </p:nvPicPr>
        <p:blipFill>
          <a:blip r:embed="rId2"/>
          <a:stretch>
            <a:fillRect/>
          </a:stretch>
        </p:blipFill>
        <p:spPr>
          <a:xfrm>
            <a:off x="4502428" y="1625227"/>
            <a:ext cx="7225748" cy="3607545"/>
          </a:xfrm>
          <a:prstGeom prst="rect">
            <a:avLst/>
          </a:prstGeom>
        </p:spPr>
      </p:pic>
    </p:spTree>
    <p:extLst>
      <p:ext uri="{BB962C8B-B14F-4D97-AF65-F5344CB8AC3E}">
        <p14:creationId xmlns:p14="http://schemas.microsoft.com/office/powerpoint/2010/main" val="1807536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13290</TotalTime>
  <Words>1652</Words>
  <Application>Microsoft Office PowerPoint</Application>
  <PresentationFormat>Widescreen</PresentationFormat>
  <Paragraphs>107</Paragraphs>
  <Slides>24</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24</vt:i4>
      </vt:variant>
    </vt:vector>
  </HeadingPairs>
  <TitlesOfParts>
    <vt:vector size="34" baseType="lpstr">
      <vt:lpstr>Aptos</vt:lpstr>
      <vt:lpstr>Aptos Display</vt:lpstr>
      <vt:lpstr>Arial</vt:lpstr>
      <vt:lpstr>Calibri</vt:lpstr>
      <vt:lpstr>Calibri Light</vt:lpstr>
      <vt:lpstr>Google Sans</vt:lpstr>
      <vt:lpstr>Wingdings</vt:lpstr>
      <vt:lpstr>Office Theme</vt:lpstr>
      <vt:lpstr>1_Office Theme</vt:lpstr>
      <vt:lpstr>2_Office Theme</vt:lpstr>
      <vt:lpstr>INFORMATION SYSTEMS 3A  Software Quality Management</vt:lpstr>
      <vt:lpstr>Contents</vt:lpstr>
      <vt:lpstr>Software Quality</vt:lpstr>
      <vt:lpstr>Three principles concerns(Levels) of software quality</vt:lpstr>
      <vt:lpstr>Quality plans</vt:lpstr>
      <vt:lpstr>Product introduction</vt:lpstr>
      <vt:lpstr>Product plans</vt:lpstr>
      <vt:lpstr>Process descriptions</vt:lpstr>
      <vt:lpstr>Quality goals</vt:lpstr>
      <vt:lpstr>Risks and risk management</vt:lpstr>
      <vt:lpstr>Non-functional requirements to assess quality of software</vt:lpstr>
      <vt:lpstr>Software Quality Management</vt:lpstr>
      <vt:lpstr>Activities of Software Quality Management</vt:lpstr>
      <vt:lpstr>How to Achieve Software Quality?</vt:lpstr>
      <vt:lpstr>Quality Assurance Vs Quality Control</vt:lpstr>
      <vt:lpstr>Quality Assurance Vs Quality Control</vt:lpstr>
      <vt:lpstr>Software Quality Metrics</vt:lpstr>
      <vt:lpstr>Reviews and inspections</vt:lpstr>
      <vt:lpstr>Quality reviews</vt:lpstr>
      <vt:lpstr>Phases in the review process</vt:lpstr>
      <vt:lpstr>Program inspections</vt:lpstr>
      <vt:lpstr>Inspection checklists</vt:lpstr>
      <vt:lpstr>An inspection checklist (a)</vt:lpstr>
      <vt:lpstr>An inspection checklist (b)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Noxolo Pretty Cele</dc:creator>
  <cp:lastModifiedBy>Noxolo Pretty Cele</cp:lastModifiedBy>
  <cp:revision>3</cp:revision>
  <dcterms:created xsi:type="dcterms:W3CDTF">2025-04-08T11:19:04Z</dcterms:created>
  <dcterms:modified xsi:type="dcterms:W3CDTF">2026-04-15T18:13:29Z</dcterms:modified>
</cp:coreProperties>
</file>