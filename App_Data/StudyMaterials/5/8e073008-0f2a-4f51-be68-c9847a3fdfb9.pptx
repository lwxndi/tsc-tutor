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7" r:id="rId5"/>
    <p:sldId id="270" r:id="rId6"/>
    <p:sldId id="274" r:id="rId7"/>
    <p:sldId id="273" r:id="rId8"/>
    <p:sldId id="275" r:id="rId9"/>
    <p:sldId id="276" r:id="rId10"/>
    <p:sldId id="282" r:id="rId11"/>
    <p:sldId id="278" r:id="rId12"/>
    <p:sldId id="284" r:id="rId13"/>
    <p:sldId id="283" r:id="rId14"/>
    <p:sldId id="280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699E"/>
    <a:srgbClr val="5C7CA3"/>
    <a:srgbClr val="60719F"/>
    <a:srgbClr val="2B5E98"/>
    <a:srgbClr val="384A7F"/>
    <a:srgbClr val="4D679D"/>
    <a:srgbClr val="265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9868" autoAdjust="0"/>
  </p:normalViewPr>
  <p:slideViewPr>
    <p:cSldViewPr snapToGrid="0" snapToObjects="1">
      <p:cViewPr varScale="1">
        <p:scale>
          <a:sx n="89" d="100"/>
          <a:sy n="89" d="100"/>
        </p:scale>
        <p:origin x="2430" y="5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25A89A-1AD4-4D56-A8B1-0217D504D4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9F69E68-F49C-4DCB-AB55-73FD643950F4}">
      <dgm:prSet/>
      <dgm:spPr/>
      <dgm:t>
        <a:bodyPr/>
        <a:lstStyle/>
        <a:p>
          <a:r>
            <a:rPr lang="en-ZA" dirty="0">
              <a:latin typeface="Gill Sans MT" panose="020B0502020104020203" pitchFamily="34" charset="0"/>
            </a:rPr>
            <a:t>Distinguish between functional and non-functional requirements</a:t>
          </a:r>
          <a:r>
            <a:rPr lang="en-ZA" dirty="0"/>
            <a:t>.</a:t>
          </a:r>
          <a:endParaRPr lang="en-US" dirty="0">
            <a:latin typeface="Gill Sans MT" panose="020B0502020104020203" pitchFamily="34" charset="0"/>
          </a:endParaRPr>
        </a:p>
      </dgm:t>
    </dgm:pt>
    <dgm:pt modelId="{248C6796-0F14-471F-9117-2EEB2B7565A1}" type="parTrans" cxnId="{18388476-E6F8-459A-AFE4-82A5C79ECA55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66A19A49-3CCB-444A-85E0-6F343D7E7542}" type="sibTrans" cxnId="{18388476-E6F8-459A-AFE4-82A5C79ECA55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AF7038D9-A738-4976-A5C6-B3B073296CB9}">
      <dgm:prSet/>
      <dgm:spPr/>
      <dgm:t>
        <a:bodyPr/>
        <a:lstStyle/>
        <a:p>
          <a:r>
            <a:rPr lang="en-ZA" dirty="0">
              <a:latin typeface="Gill Sans MT" panose="020B0502020104020203" pitchFamily="34" charset="0"/>
            </a:rPr>
            <a:t>Explain the importance of system design in the software development lifecycle</a:t>
          </a:r>
          <a:endParaRPr lang="en-US" dirty="0">
            <a:latin typeface="Gill Sans MT" panose="020B0502020104020203" pitchFamily="34" charset="0"/>
          </a:endParaRPr>
        </a:p>
      </dgm:t>
    </dgm:pt>
    <dgm:pt modelId="{A743E557-D804-405C-A24F-86EC30657724}" type="parTrans" cxnId="{1239E135-27BE-4323-8CA2-69064F40C4B7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1AC330A0-974A-4501-868E-29DC11258FF7}" type="sibTrans" cxnId="{1239E135-27BE-4323-8CA2-69064F40C4B7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EEAB958D-AA13-4B1F-A853-B3B4161C3544}">
      <dgm:prSet/>
      <dgm:spPr/>
      <dgm:t>
        <a:bodyPr/>
        <a:lstStyle/>
        <a:p>
          <a:r>
            <a:rPr lang="en-ZA" dirty="0">
              <a:latin typeface="Gill Sans MT" panose="020B0502020104020203" pitchFamily="34" charset="0"/>
            </a:rPr>
            <a:t>Describe various components of high-level and low-level design and Create basic architectural diagrams from a given set of requirements.</a:t>
          </a:r>
          <a:endParaRPr lang="en-US" dirty="0">
            <a:latin typeface="Gill Sans MT" panose="020B0502020104020203" pitchFamily="34" charset="0"/>
          </a:endParaRPr>
        </a:p>
      </dgm:t>
    </dgm:pt>
    <dgm:pt modelId="{091E90BD-ECBE-4714-A25B-4C39DB0335B9}" type="parTrans" cxnId="{68FE2C9C-BF35-4E2B-99FE-A13856D2A966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A6FAE310-0D75-4C23-BC29-B0E2B3249BE1}" type="sibTrans" cxnId="{68FE2C9C-BF35-4E2B-99FE-A13856D2A966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B79BA98D-479B-4BA2-95AC-488588058C10}">
      <dgm:prSet/>
      <dgm:spPr/>
      <dgm:t>
        <a:bodyPr/>
        <a:lstStyle/>
        <a:p>
          <a:r>
            <a:rPr lang="en-ZA" dirty="0">
              <a:latin typeface="Gill Sans MT" panose="020B0502020104020203" pitchFamily="34" charset="0"/>
            </a:rPr>
            <a:t>Demonstrate traceability between requirements and system architecture</a:t>
          </a:r>
          <a:endParaRPr lang="en-US" dirty="0">
            <a:latin typeface="Gill Sans MT" panose="020B0502020104020203" pitchFamily="34" charset="0"/>
          </a:endParaRPr>
        </a:p>
      </dgm:t>
    </dgm:pt>
    <dgm:pt modelId="{375A9066-B186-48E2-B160-C9D00E7015D0}" type="parTrans" cxnId="{D4711081-AE48-4167-BEF7-859DEBF836CD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C3A9FE5F-8E18-4748-BF8F-B088BEEA38B1}" type="sibTrans" cxnId="{D4711081-AE48-4167-BEF7-859DEBF836CD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7062385A-3D0D-43B8-8D4A-FE3B9EDE8BD1}" type="pres">
      <dgm:prSet presAssocID="{3325A89A-1AD4-4D56-A8B1-0217D504D40C}" presName="root" presStyleCnt="0">
        <dgm:presLayoutVars>
          <dgm:dir/>
          <dgm:resizeHandles val="exact"/>
        </dgm:presLayoutVars>
      </dgm:prSet>
      <dgm:spPr/>
    </dgm:pt>
    <dgm:pt modelId="{651272FB-2296-4649-8E6D-548E0BD4B6C5}" type="pres">
      <dgm:prSet presAssocID="{F9F69E68-F49C-4DCB-AB55-73FD643950F4}" presName="compNode" presStyleCnt="0"/>
      <dgm:spPr/>
    </dgm:pt>
    <dgm:pt modelId="{645BA4A8-04A3-4B20-9D29-6C280121B1AC}" type="pres">
      <dgm:prSet presAssocID="{F9F69E68-F49C-4DCB-AB55-73FD643950F4}" presName="bgRect" presStyleLbl="bgShp" presStyleIdx="0" presStyleCnt="4"/>
      <dgm:spPr/>
    </dgm:pt>
    <dgm:pt modelId="{11101CCC-DA12-452A-A199-ABDD4F296D46}" type="pres">
      <dgm:prSet presAssocID="{F9F69E68-F49C-4DCB-AB55-73FD643950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70DF797-CA83-4450-8847-1925B5B2A7D8}" type="pres">
      <dgm:prSet presAssocID="{F9F69E68-F49C-4DCB-AB55-73FD643950F4}" presName="spaceRect" presStyleCnt="0"/>
      <dgm:spPr/>
    </dgm:pt>
    <dgm:pt modelId="{694DC34D-4046-44FE-B428-FBED3F7C0DDE}" type="pres">
      <dgm:prSet presAssocID="{F9F69E68-F49C-4DCB-AB55-73FD643950F4}" presName="parTx" presStyleLbl="revTx" presStyleIdx="0" presStyleCnt="4">
        <dgm:presLayoutVars>
          <dgm:chMax val="0"/>
          <dgm:chPref val="0"/>
        </dgm:presLayoutVars>
      </dgm:prSet>
      <dgm:spPr/>
    </dgm:pt>
    <dgm:pt modelId="{ED6FC346-9C11-426B-A140-22AE0A6A90B1}" type="pres">
      <dgm:prSet presAssocID="{66A19A49-3CCB-444A-85E0-6F343D7E7542}" presName="sibTrans" presStyleCnt="0"/>
      <dgm:spPr/>
    </dgm:pt>
    <dgm:pt modelId="{1F3B7A17-B31D-4BEF-B2FC-F9C8AB2AEA87}" type="pres">
      <dgm:prSet presAssocID="{AF7038D9-A738-4976-A5C6-B3B073296CB9}" presName="compNode" presStyleCnt="0"/>
      <dgm:spPr/>
    </dgm:pt>
    <dgm:pt modelId="{AA704692-C9EF-4644-97FE-05606DC1434F}" type="pres">
      <dgm:prSet presAssocID="{AF7038D9-A738-4976-A5C6-B3B073296CB9}" presName="bgRect" presStyleLbl="bgShp" presStyleIdx="1" presStyleCnt="4" custLinFactNeighborX="8471" custLinFactNeighborY="12500"/>
      <dgm:spPr/>
    </dgm:pt>
    <dgm:pt modelId="{BBFC3E64-329F-4A3E-B579-ED044FE4D815}" type="pres">
      <dgm:prSet presAssocID="{AF7038D9-A738-4976-A5C6-B3B073296C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FAECCC2-1EC6-446D-A3F9-1DC8DF6D78A9}" type="pres">
      <dgm:prSet presAssocID="{AF7038D9-A738-4976-A5C6-B3B073296CB9}" presName="spaceRect" presStyleCnt="0"/>
      <dgm:spPr/>
    </dgm:pt>
    <dgm:pt modelId="{0CF0AE54-91B4-4EB5-B2C5-F0F689C40CAA}" type="pres">
      <dgm:prSet presAssocID="{AF7038D9-A738-4976-A5C6-B3B073296CB9}" presName="parTx" presStyleLbl="revTx" presStyleIdx="1" presStyleCnt="4">
        <dgm:presLayoutVars>
          <dgm:chMax val="0"/>
          <dgm:chPref val="0"/>
        </dgm:presLayoutVars>
      </dgm:prSet>
      <dgm:spPr/>
    </dgm:pt>
    <dgm:pt modelId="{A9374664-9AE3-4C5C-92E8-AB64927C9970}" type="pres">
      <dgm:prSet presAssocID="{1AC330A0-974A-4501-868E-29DC11258FF7}" presName="sibTrans" presStyleCnt="0"/>
      <dgm:spPr/>
    </dgm:pt>
    <dgm:pt modelId="{C736DF1B-5AB1-4E17-A18F-BA4B872FB26A}" type="pres">
      <dgm:prSet presAssocID="{EEAB958D-AA13-4B1F-A853-B3B4161C3544}" presName="compNode" presStyleCnt="0"/>
      <dgm:spPr/>
    </dgm:pt>
    <dgm:pt modelId="{BC5768B3-7F3C-4857-BAF7-0C50141815EC}" type="pres">
      <dgm:prSet presAssocID="{EEAB958D-AA13-4B1F-A853-B3B4161C3544}" presName="bgRect" presStyleLbl="bgShp" presStyleIdx="2" presStyleCnt="4"/>
      <dgm:spPr/>
    </dgm:pt>
    <dgm:pt modelId="{64D9CCDD-899C-4A65-BC76-49861DD19AF5}" type="pres">
      <dgm:prSet presAssocID="{EEAB958D-AA13-4B1F-A853-B3B4161C35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EDCC517-149E-4EFF-AC92-42815BF53210}" type="pres">
      <dgm:prSet presAssocID="{EEAB958D-AA13-4B1F-A853-B3B4161C3544}" presName="spaceRect" presStyleCnt="0"/>
      <dgm:spPr/>
    </dgm:pt>
    <dgm:pt modelId="{2C5B732E-105B-49B2-BF5F-A3B5CC4EEC42}" type="pres">
      <dgm:prSet presAssocID="{EEAB958D-AA13-4B1F-A853-B3B4161C3544}" presName="parTx" presStyleLbl="revTx" presStyleIdx="2" presStyleCnt="4" custScaleX="110752">
        <dgm:presLayoutVars>
          <dgm:chMax val="0"/>
          <dgm:chPref val="0"/>
        </dgm:presLayoutVars>
      </dgm:prSet>
      <dgm:spPr/>
    </dgm:pt>
    <dgm:pt modelId="{22C39687-E1E9-4F5C-A9BC-36F636C05FF6}" type="pres">
      <dgm:prSet presAssocID="{A6FAE310-0D75-4C23-BC29-B0E2B3249BE1}" presName="sibTrans" presStyleCnt="0"/>
      <dgm:spPr/>
    </dgm:pt>
    <dgm:pt modelId="{872E7927-C8D0-4E3D-943B-43AFFF332764}" type="pres">
      <dgm:prSet presAssocID="{B79BA98D-479B-4BA2-95AC-488588058C10}" presName="compNode" presStyleCnt="0"/>
      <dgm:spPr/>
    </dgm:pt>
    <dgm:pt modelId="{7D93E317-562C-4926-804A-FACD6CAEABD6}" type="pres">
      <dgm:prSet presAssocID="{B79BA98D-479B-4BA2-95AC-488588058C10}" presName="bgRect" presStyleLbl="bgShp" presStyleIdx="3" presStyleCnt="4"/>
      <dgm:spPr/>
    </dgm:pt>
    <dgm:pt modelId="{EB4821DC-F24F-4A14-995C-3C017F1200BF}" type="pres">
      <dgm:prSet presAssocID="{B79BA98D-479B-4BA2-95AC-488588058C1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11E4F3A-7EC1-47C0-A0E8-933815C2FAFC}" type="pres">
      <dgm:prSet presAssocID="{B79BA98D-479B-4BA2-95AC-488588058C10}" presName="spaceRect" presStyleCnt="0"/>
      <dgm:spPr/>
    </dgm:pt>
    <dgm:pt modelId="{891FE410-57B2-4F86-8228-FA976CB55287}" type="pres">
      <dgm:prSet presAssocID="{B79BA98D-479B-4BA2-95AC-488588058C1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7525002-227D-4EEF-8826-6DFA204687BE}" type="presOf" srcId="{3325A89A-1AD4-4D56-A8B1-0217D504D40C}" destId="{7062385A-3D0D-43B8-8D4A-FE3B9EDE8BD1}" srcOrd="0" destOrd="0" presId="urn:microsoft.com/office/officeart/2018/2/layout/IconVerticalSolidList"/>
    <dgm:cxn modelId="{F4BE6807-E06E-466C-BA62-A126759FC332}" type="presOf" srcId="{B79BA98D-479B-4BA2-95AC-488588058C10}" destId="{891FE410-57B2-4F86-8228-FA976CB55287}" srcOrd="0" destOrd="0" presId="urn:microsoft.com/office/officeart/2018/2/layout/IconVerticalSolidList"/>
    <dgm:cxn modelId="{1239E135-27BE-4323-8CA2-69064F40C4B7}" srcId="{3325A89A-1AD4-4D56-A8B1-0217D504D40C}" destId="{AF7038D9-A738-4976-A5C6-B3B073296CB9}" srcOrd="1" destOrd="0" parTransId="{A743E557-D804-405C-A24F-86EC30657724}" sibTransId="{1AC330A0-974A-4501-868E-29DC11258FF7}"/>
    <dgm:cxn modelId="{2965E046-DD27-4CED-95DC-03E7E2AEC5CE}" type="presOf" srcId="{F9F69E68-F49C-4DCB-AB55-73FD643950F4}" destId="{694DC34D-4046-44FE-B428-FBED3F7C0DDE}" srcOrd="0" destOrd="0" presId="urn:microsoft.com/office/officeart/2018/2/layout/IconVerticalSolidList"/>
    <dgm:cxn modelId="{18388476-E6F8-459A-AFE4-82A5C79ECA55}" srcId="{3325A89A-1AD4-4D56-A8B1-0217D504D40C}" destId="{F9F69E68-F49C-4DCB-AB55-73FD643950F4}" srcOrd="0" destOrd="0" parTransId="{248C6796-0F14-471F-9117-2EEB2B7565A1}" sibTransId="{66A19A49-3CCB-444A-85E0-6F343D7E7542}"/>
    <dgm:cxn modelId="{D4711081-AE48-4167-BEF7-859DEBF836CD}" srcId="{3325A89A-1AD4-4D56-A8B1-0217D504D40C}" destId="{B79BA98D-479B-4BA2-95AC-488588058C10}" srcOrd="3" destOrd="0" parTransId="{375A9066-B186-48E2-B160-C9D00E7015D0}" sibTransId="{C3A9FE5F-8E18-4748-BF8F-B088BEEA38B1}"/>
    <dgm:cxn modelId="{8FDCB883-DB97-4320-A73E-AC84899BF4B3}" type="presOf" srcId="{AF7038D9-A738-4976-A5C6-B3B073296CB9}" destId="{0CF0AE54-91B4-4EB5-B2C5-F0F689C40CAA}" srcOrd="0" destOrd="0" presId="urn:microsoft.com/office/officeart/2018/2/layout/IconVerticalSolidList"/>
    <dgm:cxn modelId="{68FE2C9C-BF35-4E2B-99FE-A13856D2A966}" srcId="{3325A89A-1AD4-4D56-A8B1-0217D504D40C}" destId="{EEAB958D-AA13-4B1F-A853-B3B4161C3544}" srcOrd="2" destOrd="0" parTransId="{091E90BD-ECBE-4714-A25B-4C39DB0335B9}" sibTransId="{A6FAE310-0D75-4C23-BC29-B0E2B3249BE1}"/>
    <dgm:cxn modelId="{798C12C8-3D8B-4DE8-8BC9-4E98AF405187}" type="presOf" srcId="{EEAB958D-AA13-4B1F-A853-B3B4161C3544}" destId="{2C5B732E-105B-49B2-BF5F-A3B5CC4EEC42}" srcOrd="0" destOrd="0" presId="urn:microsoft.com/office/officeart/2018/2/layout/IconVerticalSolidList"/>
    <dgm:cxn modelId="{8F925059-9290-4F07-827B-73CFA33C6E16}" type="presParOf" srcId="{7062385A-3D0D-43B8-8D4A-FE3B9EDE8BD1}" destId="{651272FB-2296-4649-8E6D-548E0BD4B6C5}" srcOrd="0" destOrd="0" presId="urn:microsoft.com/office/officeart/2018/2/layout/IconVerticalSolidList"/>
    <dgm:cxn modelId="{C9CF380C-460F-4F62-B59F-A2220F45A7C7}" type="presParOf" srcId="{651272FB-2296-4649-8E6D-548E0BD4B6C5}" destId="{645BA4A8-04A3-4B20-9D29-6C280121B1AC}" srcOrd="0" destOrd="0" presId="urn:microsoft.com/office/officeart/2018/2/layout/IconVerticalSolidList"/>
    <dgm:cxn modelId="{D262E5AF-1D60-4E87-9ABB-699B799D50E6}" type="presParOf" srcId="{651272FB-2296-4649-8E6D-548E0BD4B6C5}" destId="{11101CCC-DA12-452A-A199-ABDD4F296D46}" srcOrd="1" destOrd="0" presId="urn:microsoft.com/office/officeart/2018/2/layout/IconVerticalSolidList"/>
    <dgm:cxn modelId="{AA7BB20F-FB0A-471F-91D7-1442FD4BCC1F}" type="presParOf" srcId="{651272FB-2296-4649-8E6D-548E0BD4B6C5}" destId="{E70DF797-CA83-4450-8847-1925B5B2A7D8}" srcOrd="2" destOrd="0" presId="urn:microsoft.com/office/officeart/2018/2/layout/IconVerticalSolidList"/>
    <dgm:cxn modelId="{FA51A8AE-3DBA-4745-9E0D-DD2E926457BA}" type="presParOf" srcId="{651272FB-2296-4649-8E6D-548E0BD4B6C5}" destId="{694DC34D-4046-44FE-B428-FBED3F7C0DDE}" srcOrd="3" destOrd="0" presId="urn:microsoft.com/office/officeart/2018/2/layout/IconVerticalSolidList"/>
    <dgm:cxn modelId="{F3F359F1-6178-4C88-82B0-95CEC27D95F5}" type="presParOf" srcId="{7062385A-3D0D-43B8-8D4A-FE3B9EDE8BD1}" destId="{ED6FC346-9C11-426B-A140-22AE0A6A90B1}" srcOrd="1" destOrd="0" presId="urn:microsoft.com/office/officeart/2018/2/layout/IconVerticalSolidList"/>
    <dgm:cxn modelId="{56973967-A709-48D8-A5D0-1A82CC193A0B}" type="presParOf" srcId="{7062385A-3D0D-43B8-8D4A-FE3B9EDE8BD1}" destId="{1F3B7A17-B31D-4BEF-B2FC-F9C8AB2AEA87}" srcOrd="2" destOrd="0" presId="urn:microsoft.com/office/officeart/2018/2/layout/IconVerticalSolidList"/>
    <dgm:cxn modelId="{BB68E44A-D346-42BA-A979-39875E6D9E4E}" type="presParOf" srcId="{1F3B7A17-B31D-4BEF-B2FC-F9C8AB2AEA87}" destId="{AA704692-C9EF-4644-97FE-05606DC1434F}" srcOrd="0" destOrd="0" presId="urn:microsoft.com/office/officeart/2018/2/layout/IconVerticalSolidList"/>
    <dgm:cxn modelId="{9F666FE2-CAFD-4B95-BC9D-205816546908}" type="presParOf" srcId="{1F3B7A17-B31D-4BEF-B2FC-F9C8AB2AEA87}" destId="{BBFC3E64-329F-4A3E-B579-ED044FE4D815}" srcOrd="1" destOrd="0" presId="urn:microsoft.com/office/officeart/2018/2/layout/IconVerticalSolidList"/>
    <dgm:cxn modelId="{A2F3DB41-7E28-47C9-ABAD-D79A8FC953C2}" type="presParOf" srcId="{1F3B7A17-B31D-4BEF-B2FC-F9C8AB2AEA87}" destId="{9FAECCC2-1EC6-446D-A3F9-1DC8DF6D78A9}" srcOrd="2" destOrd="0" presId="urn:microsoft.com/office/officeart/2018/2/layout/IconVerticalSolidList"/>
    <dgm:cxn modelId="{696EBA14-4C39-4C27-838F-DB680A3C3F8D}" type="presParOf" srcId="{1F3B7A17-B31D-4BEF-B2FC-F9C8AB2AEA87}" destId="{0CF0AE54-91B4-4EB5-B2C5-F0F689C40CAA}" srcOrd="3" destOrd="0" presId="urn:microsoft.com/office/officeart/2018/2/layout/IconVerticalSolidList"/>
    <dgm:cxn modelId="{F01BC07E-F6D1-47D7-AA7F-CF334D089C06}" type="presParOf" srcId="{7062385A-3D0D-43B8-8D4A-FE3B9EDE8BD1}" destId="{A9374664-9AE3-4C5C-92E8-AB64927C9970}" srcOrd="3" destOrd="0" presId="urn:microsoft.com/office/officeart/2018/2/layout/IconVerticalSolidList"/>
    <dgm:cxn modelId="{4469DFF4-FDAD-48FC-B5CD-B33D0ED846BB}" type="presParOf" srcId="{7062385A-3D0D-43B8-8D4A-FE3B9EDE8BD1}" destId="{C736DF1B-5AB1-4E17-A18F-BA4B872FB26A}" srcOrd="4" destOrd="0" presId="urn:microsoft.com/office/officeart/2018/2/layout/IconVerticalSolidList"/>
    <dgm:cxn modelId="{88675120-3DB1-42A9-8D95-E93689161F6A}" type="presParOf" srcId="{C736DF1B-5AB1-4E17-A18F-BA4B872FB26A}" destId="{BC5768B3-7F3C-4857-BAF7-0C50141815EC}" srcOrd="0" destOrd="0" presId="urn:microsoft.com/office/officeart/2018/2/layout/IconVerticalSolidList"/>
    <dgm:cxn modelId="{C37211C9-926B-42EB-937F-739275F4DBCE}" type="presParOf" srcId="{C736DF1B-5AB1-4E17-A18F-BA4B872FB26A}" destId="{64D9CCDD-899C-4A65-BC76-49861DD19AF5}" srcOrd="1" destOrd="0" presId="urn:microsoft.com/office/officeart/2018/2/layout/IconVerticalSolidList"/>
    <dgm:cxn modelId="{2047378A-1581-4459-A96C-5A5CF9478E10}" type="presParOf" srcId="{C736DF1B-5AB1-4E17-A18F-BA4B872FB26A}" destId="{DEDCC517-149E-4EFF-AC92-42815BF53210}" srcOrd="2" destOrd="0" presId="urn:microsoft.com/office/officeart/2018/2/layout/IconVerticalSolidList"/>
    <dgm:cxn modelId="{18D269C8-55BB-459F-B91C-01C4934BB725}" type="presParOf" srcId="{C736DF1B-5AB1-4E17-A18F-BA4B872FB26A}" destId="{2C5B732E-105B-49B2-BF5F-A3B5CC4EEC42}" srcOrd="3" destOrd="0" presId="urn:microsoft.com/office/officeart/2018/2/layout/IconVerticalSolidList"/>
    <dgm:cxn modelId="{B0893365-53AD-4541-87C6-8EB9491E9516}" type="presParOf" srcId="{7062385A-3D0D-43B8-8D4A-FE3B9EDE8BD1}" destId="{22C39687-E1E9-4F5C-A9BC-36F636C05FF6}" srcOrd="5" destOrd="0" presId="urn:microsoft.com/office/officeart/2018/2/layout/IconVerticalSolidList"/>
    <dgm:cxn modelId="{5912F959-7F3A-41F6-BCCD-C5F57B8F31D3}" type="presParOf" srcId="{7062385A-3D0D-43B8-8D4A-FE3B9EDE8BD1}" destId="{872E7927-C8D0-4E3D-943B-43AFFF332764}" srcOrd="6" destOrd="0" presId="urn:microsoft.com/office/officeart/2018/2/layout/IconVerticalSolidList"/>
    <dgm:cxn modelId="{8E07FB5B-9826-4C38-87A0-F4486168A8DA}" type="presParOf" srcId="{872E7927-C8D0-4E3D-943B-43AFFF332764}" destId="{7D93E317-562C-4926-804A-FACD6CAEABD6}" srcOrd="0" destOrd="0" presId="urn:microsoft.com/office/officeart/2018/2/layout/IconVerticalSolidList"/>
    <dgm:cxn modelId="{D7A0E99D-1A3E-4483-B95E-DD695020FDA9}" type="presParOf" srcId="{872E7927-C8D0-4E3D-943B-43AFFF332764}" destId="{EB4821DC-F24F-4A14-995C-3C017F1200BF}" srcOrd="1" destOrd="0" presId="urn:microsoft.com/office/officeart/2018/2/layout/IconVerticalSolidList"/>
    <dgm:cxn modelId="{1EB87992-79C5-4011-9C21-3F7FE97657D2}" type="presParOf" srcId="{872E7927-C8D0-4E3D-943B-43AFFF332764}" destId="{A11E4F3A-7EC1-47C0-A0E8-933815C2FAFC}" srcOrd="2" destOrd="0" presId="urn:microsoft.com/office/officeart/2018/2/layout/IconVerticalSolidList"/>
    <dgm:cxn modelId="{80FF8A6F-D544-4AF4-9C7C-EE8CFF232C81}" type="presParOf" srcId="{872E7927-C8D0-4E3D-943B-43AFFF332764}" destId="{891FE410-57B2-4F86-8228-FA976CB552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BA4A8-04A3-4B20-9D29-6C280121B1AC}">
      <dsp:nvSpPr>
        <dsp:cNvPr id="0" name=""/>
        <dsp:cNvSpPr/>
      </dsp:nvSpPr>
      <dsp:spPr>
        <a:xfrm>
          <a:off x="-81136" y="9230"/>
          <a:ext cx="4255279" cy="10312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01CCC-DA12-452A-A199-ABDD4F296D46}">
      <dsp:nvSpPr>
        <dsp:cNvPr id="0" name=""/>
        <dsp:cNvSpPr/>
      </dsp:nvSpPr>
      <dsp:spPr>
        <a:xfrm>
          <a:off x="230826" y="241269"/>
          <a:ext cx="567205" cy="567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DC34D-4046-44FE-B428-FBED3F7C0DDE}">
      <dsp:nvSpPr>
        <dsp:cNvPr id="0" name=""/>
        <dsp:cNvSpPr/>
      </dsp:nvSpPr>
      <dsp:spPr>
        <a:xfrm>
          <a:off x="1109995" y="9230"/>
          <a:ext cx="3061816" cy="103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44" tIns="109144" rIns="109144" bIns="10914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>
              <a:latin typeface="Gill Sans MT" panose="020B0502020104020203" pitchFamily="34" charset="0"/>
            </a:rPr>
            <a:t>Distinguish between functional and non-functional requirements</a:t>
          </a:r>
          <a:r>
            <a:rPr lang="en-ZA" sz="1500" kern="1200" dirty="0"/>
            <a:t>.</a:t>
          </a:r>
          <a:endParaRPr lang="en-US" sz="1500" kern="1200" dirty="0">
            <a:latin typeface="Gill Sans MT" panose="020B0502020104020203" pitchFamily="34" charset="0"/>
          </a:endParaRPr>
        </a:p>
      </dsp:txBody>
      <dsp:txXfrm>
        <a:off x="1109995" y="9230"/>
        <a:ext cx="3061816" cy="1031283"/>
      </dsp:txXfrm>
    </dsp:sp>
    <dsp:sp modelId="{AA704692-C9EF-4644-97FE-05606DC1434F}">
      <dsp:nvSpPr>
        <dsp:cNvPr id="0" name=""/>
        <dsp:cNvSpPr/>
      </dsp:nvSpPr>
      <dsp:spPr>
        <a:xfrm>
          <a:off x="0" y="1427245"/>
          <a:ext cx="4255279" cy="10312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C3E64-329F-4A3E-B579-ED044FE4D815}">
      <dsp:nvSpPr>
        <dsp:cNvPr id="0" name=""/>
        <dsp:cNvSpPr/>
      </dsp:nvSpPr>
      <dsp:spPr>
        <a:xfrm>
          <a:off x="230826" y="1530373"/>
          <a:ext cx="567205" cy="567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0AE54-91B4-4EB5-B2C5-F0F689C40CAA}">
      <dsp:nvSpPr>
        <dsp:cNvPr id="0" name=""/>
        <dsp:cNvSpPr/>
      </dsp:nvSpPr>
      <dsp:spPr>
        <a:xfrm>
          <a:off x="1109995" y="1298334"/>
          <a:ext cx="3061816" cy="103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44" tIns="109144" rIns="109144" bIns="10914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>
              <a:latin typeface="Gill Sans MT" panose="020B0502020104020203" pitchFamily="34" charset="0"/>
            </a:rPr>
            <a:t>Explain the importance of system design in the software development lifecycle</a:t>
          </a:r>
          <a:endParaRPr lang="en-US" sz="1500" kern="1200" dirty="0">
            <a:latin typeface="Gill Sans MT" panose="020B0502020104020203" pitchFamily="34" charset="0"/>
          </a:endParaRPr>
        </a:p>
      </dsp:txBody>
      <dsp:txXfrm>
        <a:off x="1109995" y="1298334"/>
        <a:ext cx="3061816" cy="1031283"/>
      </dsp:txXfrm>
    </dsp:sp>
    <dsp:sp modelId="{BC5768B3-7F3C-4857-BAF7-0C50141815EC}">
      <dsp:nvSpPr>
        <dsp:cNvPr id="0" name=""/>
        <dsp:cNvSpPr/>
      </dsp:nvSpPr>
      <dsp:spPr>
        <a:xfrm>
          <a:off x="-81136" y="2587439"/>
          <a:ext cx="4255279" cy="10312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9CCDD-899C-4A65-BC76-49861DD19AF5}">
      <dsp:nvSpPr>
        <dsp:cNvPr id="0" name=""/>
        <dsp:cNvSpPr/>
      </dsp:nvSpPr>
      <dsp:spPr>
        <a:xfrm>
          <a:off x="230826" y="2819478"/>
          <a:ext cx="567205" cy="567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B732E-105B-49B2-BF5F-A3B5CC4EEC42}">
      <dsp:nvSpPr>
        <dsp:cNvPr id="0" name=""/>
        <dsp:cNvSpPr/>
      </dsp:nvSpPr>
      <dsp:spPr>
        <a:xfrm>
          <a:off x="945392" y="2587439"/>
          <a:ext cx="3391023" cy="103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44" tIns="109144" rIns="109144" bIns="10914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>
              <a:latin typeface="Gill Sans MT" panose="020B0502020104020203" pitchFamily="34" charset="0"/>
            </a:rPr>
            <a:t>Describe various components of high-level and low-level design and Create basic architectural diagrams from a given set of requirements.</a:t>
          </a:r>
          <a:endParaRPr lang="en-US" sz="1500" kern="1200" dirty="0">
            <a:latin typeface="Gill Sans MT" panose="020B0502020104020203" pitchFamily="34" charset="0"/>
          </a:endParaRPr>
        </a:p>
      </dsp:txBody>
      <dsp:txXfrm>
        <a:off x="945392" y="2587439"/>
        <a:ext cx="3391023" cy="1031283"/>
      </dsp:txXfrm>
    </dsp:sp>
    <dsp:sp modelId="{7D93E317-562C-4926-804A-FACD6CAEABD6}">
      <dsp:nvSpPr>
        <dsp:cNvPr id="0" name=""/>
        <dsp:cNvSpPr/>
      </dsp:nvSpPr>
      <dsp:spPr>
        <a:xfrm>
          <a:off x="-81136" y="3876543"/>
          <a:ext cx="4255279" cy="10312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821DC-F24F-4A14-995C-3C017F1200BF}">
      <dsp:nvSpPr>
        <dsp:cNvPr id="0" name=""/>
        <dsp:cNvSpPr/>
      </dsp:nvSpPr>
      <dsp:spPr>
        <a:xfrm>
          <a:off x="230826" y="4108582"/>
          <a:ext cx="567205" cy="5672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FE410-57B2-4F86-8228-FA976CB55287}">
      <dsp:nvSpPr>
        <dsp:cNvPr id="0" name=""/>
        <dsp:cNvSpPr/>
      </dsp:nvSpPr>
      <dsp:spPr>
        <a:xfrm>
          <a:off x="1109995" y="3876543"/>
          <a:ext cx="3061816" cy="103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144" tIns="109144" rIns="109144" bIns="10914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>
              <a:latin typeface="Gill Sans MT" panose="020B0502020104020203" pitchFamily="34" charset="0"/>
            </a:rPr>
            <a:t>Demonstrate traceability between requirements and system architecture</a:t>
          </a:r>
          <a:endParaRPr lang="en-US" sz="1500" kern="1200" dirty="0">
            <a:latin typeface="Gill Sans MT" panose="020B0502020104020203" pitchFamily="34" charset="0"/>
          </a:endParaRPr>
        </a:p>
      </dsp:txBody>
      <dsp:txXfrm>
        <a:off x="1109995" y="3876543"/>
        <a:ext cx="3061816" cy="1031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r="571" b="14072"/>
          <a:stretch/>
        </p:blipFill>
        <p:spPr>
          <a:xfrm>
            <a:off x="2837098" y="1508587"/>
            <a:ext cx="3487214" cy="3424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98C87B-E4D4-404E-A284-EA678FF760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10845" y="4954177"/>
            <a:ext cx="2009423" cy="71677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7BA521D-F95E-499B-A5E7-52BA138626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78026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41064" cy="13228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5B16B6-C5A3-4AEF-B65B-A245352D29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B0C8E19-3C4A-4A49-8B99-171E3E5EC34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297"/>
            <a:ext cx="9144793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746250" cy="1746250"/>
          </a:xfrm>
          <a:prstGeom prst="rect">
            <a:avLst/>
          </a:prstGeom>
          <a:solidFill>
            <a:srgbClr val="4D6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752600" y="0"/>
            <a:ext cx="1746250" cy="1746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9A8C5-A542-4220-B3A0-7D5A5F1DF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B5E970-B051-4072-8353-19D14EE410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59F30F-3C5B-4ED2-9D70-E8AD84E7F9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C474F5-6D25-4C02-B5F0-87823923C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2EA007-CF24-4E99-A351-313E25AA26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86108EA-F53E-4DCD-AC49-B239CB7455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844FFB-1981-408D-B393-39BCB4C93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63CF2-CA02-46D6-AD7F-07519603A2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CFF151D-9AB7-4C9D-8DE2-041220A6AC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3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B3B58-01BB-4F4E-9977-6282877BE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3816F-6071-4017-AAE1-8350F73DBC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35BE53F-FA1B-4513-8DF6-246EAA173C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8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31E513-3AD9-4109-9D54-A61078A9C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A3E3DA-1C23-4504-8789-176219F329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FBD6FD6-D44B-489E-A0B1-839363E97B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7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Gill Sans MT" pitchFamily="34" charset="0"/>
              </a:defRPr>
            </a:lvl1pPr>
            <a:lvl2pPr>
              <a:defRPr sz="20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600">
                <a:latin typeface="Gill Sans MT" pitchFamily="34" charset="0"/>
              </a:defRPr>
            </a:lvl4pPr>
            <a:lvl5pPr>
              <a:defRPr sz="16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Gill Sans MT" pitchFamily="34" charset="0"/>
              </a:defRPr>
            </a:lvl1pPr>
            <a:lvl2pPr>
              <a:defRPr sz="20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600">
                <a:latin typeface="Gill Sans MT" pitchFamily="34" charset="0"/>
              </a:defRPr>
            </a:lvl4pPr>
            <a:lvl5pPr>
              <a:defRPr sz="16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5D4C5A-2881-4FEE-A0E6-5E8D6F2C7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3DCE59-9A6D-41AE-A18C-93CE3FC588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3419B6-1D2D-4C69-A0DA-8242439E95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92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CD421-FBD1-4AA9-80D6-3E8CC19963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107F42-0175-46CA-9C12-BD65FDE5C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874C225-FD25-43D4-ABA7-83DE50B6E0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Gill Sans MT" pitchFamily="34" charset="0"/>
              </a:defRPr>
            </a:lvl1pPr>
            <a:lvl2pPr>
              <a:defRPr sz="2800">
                <a:latin typeface="Gill Sans MT" pitchFamily="34" charset="0"/>
              </a:defRPr>
            </a:lvl2pPr>
            <a:lvl3pPr>
              <a:defRPr sz="2400">
                <a:latin typeface="Gill Sans MT" pitchFamily="34" charset="0"/>
              </a:defRPr>
            </a:lvl3pPr>
            <a:lvl4pPr>
              <a:defRPr sz="2000">
                <a:latin typeface="Gill Sans MT" pitchFamily="34" charset="0"/>
              </a:defRPr>
            </a:lvl4pPr>
            <a:lvl5pPr>
              <a:defRPr sz="2000">
                <a:latin typeface="Gill Sans MT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489A3-4D3B-420D-A5DE-A41CC28735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0548DB-35CE-4ABC-B506-8AB25470C3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708F3D4-A82C-4C8D-99EF-288629027D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80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E4D05E-7DB9-4A08-B9A8-AFA64B2A10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DD7C1C-5F38-4934-A356-8F691E5879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E9756AA-63D1-4A57-A8E8-5A7261D185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92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</p:spPr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209C44-DB4C-458C-AC6A-B5A0629982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E49D9F-2DF7-4E8B-8A1C-E390EC466D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312E9C-6F4D-4672-B3BC-08C9A85F37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10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5057E2-7CAA-4253-ACEC-BCC26CE268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63788"/>
            <a:ext cx="9144000" cy="15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9C09D-38DA-4B45-912C-8D16498924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1661" y="5256810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10A515-E0C7-4073-8258-CD5ECFC865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-1657054" y="2388891"/>
            <a:ext cx="4453221" cy="2247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58EAD75-4A36-438D-BBC6-C513D7B45A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3316265" y="3326962"/>
            <a:ext cx="6858000" cy="20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8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8F00-9EC2-EA4F-949E-A834649BFFBA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E31DF-53E3-644C-AB24-9CC997190F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7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9" r:id="rId3"/>
    <p:sldLayoutId id="2147483665" r:id="rId4"/>
    <p:sldLayoutId id="2147483671" r:id="rId5"/>
    <p:sldLayoutId id="2147483673" r:id="rId6"/>
    <p:sldLayoutId id="2147483667" r:id="rId7"/>
    <p:sldLayoutId id="2147483662" r:id="rId8"/>
    <p:sldLayoutId id="2147483664" r:id="rId9"/>
    <p:sldLayoutId id="2147483666" r:id="rId10"/>
    <p:sldLayoutId id="2147483670" r:id="rId11"/>
    <p:sldLayoutId id="2147483674" r:id="rId12"/>
    <p:sldLayoutId id="2147483676" r:id="rId13"/>
    <p:sldLayoutId id="2147483678" r:id="rId14"/>
    <p:sldLayoutId id="2147483680" r:id="rId15"/>
    <p:sldLayoutId id="2147483681" r:id="rId16"/>
    <p:sldLayoutId id="214748368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761B68-5131-23F7-AAC0-856E0A0A26C0}"/>
              </a:ext>
            </a:extLst>
          </p:cNvPr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A9BD9-0B59-0CB1-FCFF-430966DBC73C}"/>
              </a:ext>
            </a:extLst>
          </p:cNvPr>
          <p:cNvSpPr txBox="1"/>
          <p:nvPr/>
        </p:nvSpPr>
        <p:spPr>
          <a:xfrm>
            <a:off x="355866" y="5193220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 Khubisa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D9054-924A-7DE5-D745-F4186AD7BA13}"/>
              </a:ext>
            </a:extLst>
          </p:cNvPr>
          <p:cNvSpPr txBox="1"/>
          <p:nvPr/>
        </p:nvSpPr>
        <p:spPr>
          <a:xfrm>
            <a:off x="851494" y="29402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Applications Development Project Subject Code: APDP201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A25FC-6557-A227-22CB-133965EA7243}"/>
              </a:ext>
            </a:extLst>
          </p:cNvPr>
          <p:cNvSpPr txBox="1"/>
          <p:nvPr/>
        </p:nvSpPr>
        <p:spPr>
          <a:xfrm>
            <a:off x="851494" y="1887613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From Requirements to System Design</a:t>
            </a:r>
            <a:b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30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2000" b="0" kern="1200" dirty="0">
              <a:latin typeface="Bebas Neue Regular" pitchFamily="34" charset="0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D119D-EB68-08CB-5742-7FCBE9D0459E}"/>
              </a:ext>
            </a:extLst>
          </p:cNvPr>
          <p:cNvSpPr txBox="1"/>
          <p:nvPr/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</a:pPr>
            <a:r>
              <a:rPr lang="en-US" sz="1400" b="1" kern="1200" dirty="0">
                <a:latin typeface="Gill Sans MT" pitchFamily="34" charset="0"/>
                <a:ea typeface="+mn-ea"/>
                <a:cs typeface="+mn-cs"/>
              </a:rPr>
              <a:t>Lesson Outline</a:t>
            </a:r>
          </a:p>
        </p:txBody>
      </p:sp>
      <p:graphicFrame>
        <p:nvGraphicFramePr>
          <p:cNvPr id="17" name="TextBox 4">
            <a:extLst>
              <a:ext uri="{FF2B5EF4-FFF2-40B4-BE49-F238E27FC236}">
                <a16:creationId xmlns:a16="http://schemas.microsoft.com/office/drawing/2014/main" id="{EAD9569C-053B-DAEB-69E6-BDC19B0C45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625192"/>
              </p:ext>
            </p:extLst>
          </p:nvPr>
        </p:nvGraphicFramePr>
        <p:xfrm>
          <a:off x="2637226" y="970471"/>
          <a:ext cx="4255279" cy="4917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561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BC13-80AB-0E69-D6B8-0D5DB320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4ADB63-CA12-ABFD-1900-1F08A1B91285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AA059-59FC-4B91-57AC-C06FB81D8399}"/>
              </a:ext>
            </a:extLst>
          </p:cNvPr>
          <p:cNvSpPr txBox="1"/>
          <p:nvPr/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ill Sans MT" panose="020B0502020104020203" pitchFamily="34" charset="0"/>
            </a:endParaRPr>
          </a:p>
          <a:p>
            <a:endParaRPr lang="en-US" sz="1400" dirty="0">
              <a:latin typeface="Gill Sans MT" panose="020B0502020104020203" pitchFamily="34" charset="0"/>
            </a:endParaRPr>
          </a:p>
          <a:p>
            <a:endParaRPr lang="en-US" sz="1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ill Sans MT" panose="020B0502020104020203" pitchFamily="34" charset="0"/>
              </a:rPr>
              <a:t>You’ve gathered the requirements — now what?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ill Sans MT" panose="020B0502020104020203" pitchFamily="34" charset="0"/>
              </a:rPr>
              <a:t>“A good design begins with good understanding”</a:t>
            </a:r>
            <a:endParaRPr lang="en-US" sz="11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kern="1200" dirty="0">
              <a:latin typeface="Gill Sans MT" panose="020B0502020104020203" pitchFamily="34" charset="0"/>
            </a:endParaRPr>
          </a:p>
        </p:txBody>
      </p:sp>
      <p:pic>
        <p:nvPicPr>
          <p:cNvPr id="1026" name="Picture 2" descr="MaximoDev - software-requirements-joke">
            <a:extLst>
              <a:ext uri="{FF2B5EF4-FFF2-40B4-BE49-F238E27FC236}">
                <a16:creationId xmlns:a16="http://schemas.microsoft.com/office/drawing/2014/main" id="{07C8C3F8-C097-291C-11C9-17EE0FA7D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49" y="1728801"/>
            <a:ext cx="6265781" cy="255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3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7DCBF-8A3F-2BEE-C46F-F8A13338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requirements specifications&#10;&#10;AI-generated content may be incorrect.">
            <a:extLst>
              <a:ext uri="{FF2B5EF4-FFF2-40B4-BE49-F238E27FC236}">
                <a16:creationId xmlns:a16="http://schemas.microsoft.com/office/drawing/2014/main" id="{9D13C3FA-0BB0-9C1D-6206-810BC84E5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37" y="1147161"/>
            <a:ext cx="4474428" cy="4373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E63496-7152-92C7-06A9-CE16AF6B278B}"/>
              </a:ext>
            </a:extLst>
          </p:cNvPr>
          <p:cNvSpPr txBox="1"/>
          <p:nvPr/>
        </p:nvSpPr>
        <p:spPr>
          <a:xfrm>
            <a:off x="5017890" y="1414580"/>
            <a:ext cx="3755173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Gill Sans MT" panose="020B0502020104020203" pitchFamily="34" charset="0"/>
              </a:rPr>
              <a:t>Business Requirements</a:t>
            </a:r>
            <a:r>
              <a:rPr lang="en-US" sz="1400" dirty="0">
                <a:latin typeface="Gill Sans MT" panose="020B0502020104020203" pitchFamily="34" charset="0"/>
              </a:rPr>
              <a:t>: High-level goals from stakeholders (e.g., increase efficiency, improve user access).</a:t>
            </a:r>
            <a:endParaRPr lang="en-ZA" sz="1400" b="1" dirty="0">
              <a:latin typeface="Gill Sans MT" panose="020B0502020104020203" pitchFamily="34" charset="0"/>
            </a:endParaRPr>
          </a:p>
          <a:p>
            <a:r>
              <a:rPr lang="en-ZA" sz="1400" b="1" dirty="0">
                <a:latin typeface="Gill Sans MT" panose="020B0502020104020203" pitchFamily="34" charset="0"/>
              </a:rPr>
              <a:t>User Requirements</a:t>
            </a:r>
            <a:r>
              <a:rPr lang="en-ZA" sz="1400" dirty="0">
                <a:latin typeface="Gill Sans MT" panose="020B0502020104020203" pitchFamily="34" charset="0"/>
              </a:rPr>
              <a:t>: Describe what the users need the system to do. These are derived from the business goals.</a:t>
            </a:r>
          </a:p>
          <a:p>
            <a:r>
              <a:rPr lang="en-ZA" sz="1400" b="1" dirty="0">
                <a:latin typeface="Gill Sans MT" panose="020B0502020104020203" pitchFamily="34" charset="0"/>
              </a:rPr>
              <a:t>Business Rules</a:t>
            </a:r>
            <a:r>
              <a:rPr lang="en-ZA" sz="1400" dirty="0">
                <a:latin typeface="Gill Sans MT" panose="020B0502020104020203" pitchFamily="34" charset="0"/>
              </a:rPr>
              <a:t>: Define policies, regulations, or conditions that constrain or guide system behavior (e.g., a customer can't place an order without an account).</a:t>
            </a:r>
          </a:p>
          <a:p>
            <a:r>
              <a:rPr lang="en-ZA" sz="1400" b="1" dirty="0">
                <a:latin typeface="Gill Sans MT" panose="020B0502020104020203" pitchFamily="34" charset="0"/>
              </a:rPr>
              <a:t>Quality Attributes</a:t>
            </a:r>
            <a:r>
              <a:rPr lang="en-ZA" sz="1400" dirty="0">
                <a:latin typeface="Gill Sans MT" panose="020B0502020104020203" pitchFamily="34" charset="0"/>
              </a:rPr>
              <a:t>: Also known as non-functional aspects like usability, reliability, security, etc.</a:t>
            </a:r>
          </a:p>
          <a:p>
            <a:r>
              <a:rPr lang="fr-FR" sz="1400" b="1" dirty="0">
                <a:latin typeface="Gill Sans MT" panose="020B0502020104020203" pitchFamily="34" charset="0"/>
              </a:rPr>
              <a:t>Constraints</a:t>
            </a:r>
            <a:r>
              <a:rPr lang="fr-FR" sz="1400" dirty="0">
                <a:latin typeface="Gill Sans MT" panose="020B0502020104020203" pitchFamily="34" charset="0"/>
              </a:rPr>
              <a:t>: Limitations like platform restrictions, compliance standard, etc.</a:t>
            </a:r>
          </a:p>
          <a:p>
            <a:r>
              <a:rPr lang="en-US" sz="1400" b="1" dirty="0">
                <a:latin typeface="Gill Sans MT" panose="020B0502020104020203" pitchFamily="34" charset="0"/>
              </a:rPr>
              <a:t>Data Requirements</a:t>
            </a:r>
            <a:r>
              <a:rPr lang="en-US" sz="1400" dirty="0">
                <a:latin typeface="Gill Sans MT" panose="020B0502020104020203" pitchFamily="34" charset="0"/>
              </a:rPr>
              <a:t>: Define what data is needed, formats, integrity rules, etc.</a:t>
            </a:r>
            <a:endParaRPr lang="en-ZA" sz="1400" dirty="0">
              <a:latin typeface="Gill Sans MT" panose="020B0502020104020203" pitchFamily="34" charset="0"/>
            </a:endParaRPr>
          </a:p>
          <a:p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6045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E9D6-043D-203B-F6F3-33334550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B91823-1D27-89F3-13A3-836D1B26FB6A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User story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980F1-A7A6-8750-9EA3-B6053AE6E2B3}"/>
              </a:ext>
            </a:extLst>
          </p:cNvPr>
          <p:cNvSpPr txBox="1"/>
          <p:nvPr/>
        </p:nvSpPr>
        <p:spPr>
          <a:xfrm>
            <a:off x="457200" y="1435100"/>
            <a:ext cx="4597879" cy="46910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As a registered user, I want to be able to reset my password so that I can regain access to my account if I forget it.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Functional Requirements</a:t>
            </a:r>
            <a:r>
              <a:rPr lang="en-ZA" dirty="0">
                <a:latin typeface="Gill Sans MT" panose="020B0502020104020203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provide a "Forgot Password" link on the login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validate the email address against registered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generate a secure, time-limited password reset token.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send a password reset link to the user's email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enforce password complexity rules when creating the new password.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notify the user once their password has been successfully reset.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pic>
        <p:nvPicPr>
          <p:cNvPr id="3074" name="Picture 2" descr="Story Time 3-5 Minutes eBook by Matthew Morgan - EPUB | Rakuten Kobo  9781780550466">
            <a:extLst>
              <a:ext uri="{FF2B5EF4-FFF2-40B4-BE49-F238E27FC236}">
                <a16:creationId xmlns:a16="http://schemas.microsoft.com/office/drawing/2014/main" id="{2F99E793-013A-DBB7-7CDC-19B83A9D18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71"/>
          <a:stretch>
            <a:fillRect/>
          </a:stretch>
        </p:blipFill>
        <p:spPr bwMode="auto">
          <a:xfrm>
            <a:off x="5677116" y="1686147"/>
            <a:ext cx="3009684" cy="348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99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3631-40B4-72F6-585F-B35DB3392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823AFB-9CB7-E71F-5342-9BA4849BBAF9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Why system design is needed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C39DB-E280-E445-18F5-B0F1DD7C1048}"/>
              </a:ext>
            </a:extLst>
          </p:cNvPr>
          <p:cNvSpPr txBox="1"/>
          <p:nvPr/>
        </p:nvSpPr>
        <p:spPr>
          <a:xfrm>
            <a:off x="209551" y="1435100"/>
            <a:ext cx="4098878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ZA" b="1" dirty="0">
                <a:latin typeface="Gill Sans MT" panose="020B0502020104020203" pitchFamily="34" charset="0"/>
              </a:rPr>
              <a:t>Purpose of Design</a:t>
            </a:r>
            <a:r>
              <a:rPr lang="en-ZA" dirty="0">
                <a:latin typeface="Gill Sans MT" panose="020B0502020104020203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Translate requirements into a blueprint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Handle complexity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Plan for implementation and scaling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Without design</a:t>
            </a:r>
            <a:r>
              <a:rPr lang="en-ZA" dirty="0">
                <a:latin typeface="Gill Sans MT" panose="020B0502020104020203" pitchFamily="34" charset="0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Risk of misunderstandings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Poor performance or fragile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Harder to debug or scale</a:t>
            </a:r>
            <a:endParaRPr lang="en-US" sz="1400" kern="1200" dirty="0">
              <a:latin typeface="Gill Sans MT" panose="020B0502020104020203" pitchFamily="34" charset="0"/>
            </a:endParaRPr>
          </a:p>
        </p:txBody>
      </p:sp>
      <p:pic>
        <p:nvPicPr>
          <p:cNvPr id="4098" name="Picture 2" descr="Learn System Design Principles and Prepare for an Job Interview">
            <a:extLst>
              <a:ext uri="{FF2B5EF4-FFF2-40B4-BE49-F238E27FC236}">
                <a16:creationId xmlns:a16="http://schemas.microsoft.com/office/drawing/2014/main" id="{DEF430A7-D33B-4221-0323-1CDA1B45EF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6"/>
          <a:stretch>
            <a:fillRect/>
          </a:stretch>
        </p:blipFill>
        <p:spPr bwMode="auto">
          <a:xfrm>
            <a:off x="4080294" y="1889185"/>
            <a:ext cx="4917057" cy="225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9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EE296-4BBC-EDAA-0147-D7E2DE57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983EB8-0E3D-E189-65B3-13D115F36912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system design concepts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94322-154F-BFD5-9328-969D050968C3}"/>
              </a:ext>
            </a:extLst>
          </p:cNvPr>
          <p:cNvSpPr txBox="1"/>
          <p:nvPr/>
        </p:nvSpPr>
        <p:spPr>
          <a:xfrm>
            <a:off x="209551" y="1435100"/>
            <a:ext cx="7045264" cy="1239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The process of planning the structure of a software system before development. It ensures that the system meets requirements in an efficient, scalable, and maintainable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3C4B24-B9AE-0B7D-7D31-96329AF490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9" t="13379" r="6492" b="19895"/>
          <a:stretch>
            <a:fillRect/>
          </a:stretch>
        </p:blipFill>
        <p:spPr>
          <a:xfrm>
            <a:off x="1625828" y="2467155"/>
            <a:ext cx="5628987" cy="245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72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FC4F-195F-D030-E6CC-B308C644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3DF44F-E85F-0701-D351-40412242484B}"/>
              </a:ext>
            </a:extLst>
          </p:cNvPr>
          <p:cNvSpPr txBox="1"/>
          <p:nvPr/>
        </p:nvSpPr>
        <p:spPr>
          <a:xfrm>
            <a:off x="370936" y="415146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High level design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B6B08-D93A-E2A8-2426-2906063A996D}"/>
              </a:ext>
            </a:extLst>
          </p:cNvPr>
          <p:cNvSpPr txBox="1"/>
          <p:nvPr/>
        </p:nvSpPr>
        <p:spPr>
          <a:xfrm>
            <a:off x="370936" y="1564376"/>
            <a:ext cx="3616774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ZA" dirty="0">
                <a:latin typeface="Gill Sans MT" panose="020B0502020104020203" pitchFamily="34" charset="0"/>
              </a:rPr>
              <a:t>To provide an overall view of the system's structure, its components, and how they interact. It defines the system architecture, communication between subsystems, and data flow.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Key Features:</a:t>
            </a:r>
            <a:endParaRPr lang="en-ZA" dirty="0">
              <a:latin typeface="Gill Sans MT" panose="020B05020201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Describes major components or modules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Identifies the relationships and interactions between them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Focuses on </a:t>
            </a:r>
            <a:r>
              <a:rPr lang="en-ZA" i="1" dirty="0">
                <a:latin typeface="Gill Sans MT" panose="020B0502020104020203" pitchFamily="34" charset="0"/>
              </a:rPr>
              <a:t>what</a:t>
            </a:r>
            <a:r>
              <a:rPr lang="en-ZA" dirty="0">
                <a:latin typeface="Gill Sans MT" panose="020B0502020104020203" pitchFamily="34" charset="0"/>
              </a:rPr>
              <a:t> each component does, not </a:t>
            </a:r>
            <a:r>
              <a:rPr lang="en-ZA" i="1" dirty="0">
                <a:latin typeface="Gill Sans MT" panose="020B0502020104020203" pitchFamily="34" charset="0"/>
              </a:rPr>
              <a:t>how</a:t>
            </a:r>
          </a:p>
          <a:p>
            <a:pPr lvl="0"/>
            <a:r>
              <a:rPr lang="en-ZA" b="1" dirty="0">
                <a:latin typeface="Gill Sans MT" panose="020B0502020104020203" pitchFamily="34" charset="0"/>
              </a:rPr>
              <a:t>Type of Diagrams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4F699E"/>
                </a:solidFill>
                <a:latin typeface="Gill Sans MT" panose="020B0502020104020203" pitchFamily="34" charset="0"/>
              </a:rPr>
              <a:t>Component Diagrams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4F699E"/>
                </a:solidFill>
                <a:latin typeface="Gill Sans MT" panose="020B0502020104020203" pitchFamily="34" charset="0"/>
              </a:rPr>
              <a:t>Data Flow Diagrams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4F699E"/>
                </a:solidFill>
                <a:latin typeface="Gill Sans MT" panose="020B0502020104020203" pitchFamily="34" charset="0"/>
              </a:rPr>
              <a:t>System Context Diagram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0E3EF19B-5CF1-E118-87BD-985B8C93A7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6146" name="Picture 2" descr="High Level System Architecture A detailed system architecture is... |  Download Scientific Diagram">
            <a:extLst>
              <a:ext uri="{FF2B5EF4-FFF2-40B4-BE49-F238E27FC236}">
                <a16:creationId xmlns:a16="http://schemas.microsoft.com/office/drawing/2014/main" id="{84EB2656-861C-BD62-2970-CA06352E2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834" y="1459302"/>
            <a:ext cx="4495478" cy="395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511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9081-3F3E-99A6-026C-BA18482C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B9EF65-6ED2-7A05-6A7C-795A21F1366B}"/>
              </a:ext>
            </a:extLst>
          </p:cNvPr>
          <p:cNvSpPr txBox="1"/>
          <p:nvPr/>
        </p:nvSpPr>
        <p:spPr>
          <a:xfrm>
            <a:off x="370936" y="415146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 err="1">
                <a:latin typeface="Bebas Neue Regular" pitchFamily="34" charset="0"/>
                <a:ea typeface="+mj-ea"/>
                <a:cs typeface="+mj-cs"/>
              </a:rPr>
              <a:t>LOw</a:t>
            </a: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 level design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BD39D-7AA4-7367-179B-24EBC6550154}"/>
              </a:ext>
            </a:extLst>
          </p:cNvPr>
          <p:cNvSpPr txBox="1"/>
          <p:nvPr/>
        </p:nvSpPr>
        <p:spPr>
          <a:xfrm>
            <a:off x="370936" y="1564376"/>
            <a:ext cx="3616774" cy="46910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dirty="0">
                <a:latin typeface="Gill Sans MT" panose="020B0502020104020203" pitchFamily="34" charset="0"/>
              </a:rPr>
              <a:t>To detail the internal logic, class structures, methods, algorithms, and data handling of each component identified in HLD</a:t>
            </a:r>
            <a:r>
              <a:rPr lang="en-ZA" dirty="0">
                <a:latin typeface="Gill Sans MT" panose="020B0502020104020203" pitchFamily="34" charset="0"/>
              </a:rPr>
              <a:t>.</a:t>
            </a:r>
          </a:p>
          <a:p>
            <a:r>
              <a:rPr lang="en-US" b="1" dirty="0">
                <a:latin typeface="Gill Sans MT" panose="020B0502020104020203" pitchFamily="34" charset="0"/>
              </a:rPr>
              <a:t>Key Features</a:t>
            </a:r>
            <a:r>
              <a:rPr lang="en-US" dirty="0">
                <a:latin typeface="Gill Sans MT" panose="020B0502020104020203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Defines classes, interfaces, attributes,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Specifies database schema and table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Details business logic and algorithmic flow</a:t>
            </a:r>
          </a:p>
          <a:p>
            <a:pPr lvl="0"/>
            <a:r>
              <a:rPr lang="en-ZA" b="1" dirty="0">
                <a:latin typeface="Gill Sans MT" panose="020B0502020104020203" pitchFamily="34" charset="0"/>
              </a:rPr>
              <a:t>Type of Diagrams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Class Diagram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Sequence Diagram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ERD (Entity Relationship Diagram)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Pseudocode or flowcharts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3F737E06-C928-CA97-F03C-CAE6789C1C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7170" name="Picture 2" descr="Everything you need to know about Low-Level Design in SDLC | WalkingTree  Technologies">
            <a:extLst>
              <a:ext uri="{FF2B5EF4-FFF2-40B4-BE49-F238E27FC236}">
                <a16:creationId xmlns:a16="http://schemas.microsoft.com/office/drawing/2014/main" id="{128EEB2C-612F-286D-F013-B0742D120F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t="14969" r="5094" b="14717"/>
          <a:stretch>
            <a:fillRect/>
          </a:stretch>
        </p:blipFill>
        <p:spPr bwMode="auto">
          <a:xfrm>
            <a:off x="3911523" y="2383006"/>
            <a:ext cx="2664571" cy="209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Low-Level Design, Object Oriented Design and Principles, UML Diagrams">
            <a:extLst>
              <a:ext uri="{FF2B5EF4-FFF2-40B4-BE49-F238E27FC236}">
                <a16:creationId xmlns:a16="http://schemas.microsoft.com/office/drawing/2014/main" id="{314DD4D3-321E-8B84-0098-EA70F6614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951" y="1194319"/>
            <a:ext cx="2342793" cy="223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Low-Level Design, Object Oriented Design and Principles, UML Diagrams">
            <a:extLst>
              <a:ext uri="{FF2B5EF4-FFF2-40B4-BE49-F238E27FC236}">
                <a16:creationId xmlns:a16="http://schemas.microsoft.com/office/drawing/2014/main" id="{03899B79-5861-377F-DA07-B2528A25C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814" y="3595057"/>
            <a:ext cx="2408930" cy="183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373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9C810-9EB8-DC3B-4A8B-3D03CF9E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44F032-15DE-4069-3578-16C096D8548D}"/>
              </a:ext>
            </a:extLst>
          </p:cNvPr>
          <p:cNvSpPr txBox="1"/>
          <p:nvPr/>
        </p:nvSpPr>
        <p:spPr>
          <a:xfrm>
            <a:off x="370936" y="219225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System architecture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D24D5-B508-75D2-6E8E-AF5F7C29D2AC}"/>
              </a:ext>
            </a:extLst>
          </p:cNvPr>
          <p:cNvSpPr txBox="1"/>
          <p:nvPr/>
        </p:nvSpPr>
        <p:spPr>
          <a:xfrm>
            <a:off x="370935" y="1427458"/>
            <a:ext cx="7496355" cy="911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System architecture is the structural design of the entire software system from a technical viewpoint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Architecture ensures the system is </a:t>
            </a:r>
            <a:r>
              <a:rPr lang="en-US" b="1" dirty="0">
                <a:latin typeface="Gill Sans MT" panose="020B0502020104020203" pitchFamily="34" charset="0"/>
              </a:rPr>
              <a:t>organized</a:t>
            </a:r>
            <a:r>
              <a:rPr lang="en-US" dirty="0">
                <a:latin typeface="Gill Sans MT" panose="020B0502020104020203" pitchFamily="34" charset="0"/>
              </a:rPr>
              <a:t>, </a:t>
            </a:r>
            <a:r>
              <a:rPr lang="en-US" b="1" dirty="0">
                <a:latin typeface="Gill Sans MT" panose="020B0502020104020203" pitchFamily="34" charset="0"/>
              </a:rPr>
              <a:t>scalable</a:t>
            </a:r>
            <a:r>
              <a:rPr lang="en-US" dirty="0">
                <a:latin typeface="Gill Sans MT" panose="020B0502020104020203" pitchFamily="34" charset="0"/>
              </a:rPr>
              <a:t>, and </a:t>
            </a:r>
            <a:r>
              <a:rPr lang="en-US" b="1" dirty="0">
                <a:latin typeface="Gill Sans MT" panose="020B0502020104020203" pitchFamily="34" charset="0"/>
              </a:rPr>
              <a:t>resilient</a:t>
            </a:r>
            <a:r>
              <a:rPr lang="en-US" dirty="0">
                <a:latin typeface="Gill Sans MT" panose="020B0502020104020203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It serves as the foundation for developers, DevOps engineers, and testers</a:t>
            </a:r>
            <a:endParaRPr lang="en-US" kern="1200" dirty="0">
              <a:latin typeface="Gill Sans MT" panose="020B0502020104020203" pitchFamily="34" charset="0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AA3F490B-1253-1168-6A1C-50CAD7612E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7177" name="Picture 9" descr="Architecture of a System - GeeksforGeeks">
            <a:extLst>
              <a:ext uri="{FF2B5EF4-FFF2-40B4-BE49-F238E27FC236}">
                <a16:creationId xmlns:a16="http://schemas.microsoft.com/office/drawing/2014/main" id="{9F1EE6FC-8A4A-FA43-B4CD-3AD32419CC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t="10859" r="6622" b="10121"/>
          <a:stretch>
            <a:fillRect/>
          </a:stretch>
        </p:blipFill>
        <p:spPr bwMode="auto">
          <a:xfrm>
            <a:off x="370935" y="2967487"/>
            <a:ext cx="3749412" cy="287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9" name="Picture 11" descr="Logical Architecture | An Overview on Components of Logical Architecture">
            <a:extLst>
              <a:ext uri="{FF2B5EF4-FFF2-40B4-BE49-F238E27FC236}">
                <a16:creationId xmlns:a16="http://schemas.microsoft.com/office/drawing/2014/main" id="{D2BD24B9-12D4-76B3-6DEA-71A9FDC403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07"/>
          <a:stretch>
            <a:fillRect/>
          </a:stretch>
        </p:blipFill>
        <p:spPr bwMode="auto">
          <a:xfrm>
            <a:off x="4344322" y="3086998"/>
            <a:ext cx="4494534" cy="263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948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1BE8-D8FC-C79B-5E00-C32FA9D9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9AB11C-2AEF-A6D3-738B-E2B822D577B4}"/>
              </a:ext>
            </a:extLst>
          </p:cNvPr>
          <p:cNvSpPr txBox="1"/>
          <p:nvPr/>
        </p:nvSpPr>
        <p:spPr>
          <a:xfrm>
            <a:off x="379562" y="84287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E1FE2-6A74-4BCD-89D1-DE891DC7264D}"/>
              </a:ext>
            </a:extLst>
          </p:cNvPr>
          <p:cNvSpPr txBox="1"/>
          <p:nvPr/>
        </p:nvSpPr>
        <p:spPr>
          <a:xfrm>
            <a:off x="174719" y="1246337"/>
            <a:ext cx="3417997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Good design starts with clear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Design links user needs to system structure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Use both logical and physical views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Visualize your system before coding!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accent2">
                    <a:lumMod val="60000"/>
                    <a:lumOff val="40000"/>
                  </a:schemeClr>
                </a:solidFill>
                <a:latin typeface="Gill Sans MT" panose="020B0502020104020203" pitchFamily="34" charset="0"/>
              </a:rPr>
              <a:t>Explore tools such as Lucidchart, draw.io, StarUML</a:t>
            </a:r>
          </a:p>
          <a:p>
            <a:pPr lvl="0"/>
            <a:r>
              <a:rPr lang="en-US" b="1" dirty="0">
                <a:latin typeface="Gill Sans MT" panose="020B0502020104020203" pitchFamily="34" charset="0"/>
              </a:rPr>
              <a:t>Homework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Redesign a basic system (e.g., attendance tracker) with requirements, HLD and LLD (2 diagrams)</a:t>
            </a:r>
            <a:endParaRPr lang="en-ZA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922822B6-5FF1-8FB8-92B8-EE7F9B945E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4" name="Picture 3" descr="33 Memes That'll Make Every Designer Laugh">
            <a:extLst>
              <a:ext uri="{FF2B5EF4-FFF2-40B4-BE49-F238E27FC236}">
                <a16:creationId xmlns:a16="http://schemas.microsoft.com/office/drawing/2014/main" id="{4F04D227-CD14-9CAD-794D-D80CD6D7A5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5" t="12467" r="12264" b="10883"/>
          <a:stretch>
            <a:fillRect/>
          </a:stretch>
        </p:blipFill>
        <p:spPr bwMode="auto">
          <a:xfrm>
            <a:off x="3788890" y="1838497"/>
            <a:ext cx="5180391" cy="269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04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959487"/>
      </p:ext>
    </p:extLst>
  </p:cSld>
  <p:clrMapOvr>
    <a:masterClrMapping/>
  </p:clrMapOvr>
</p:sld>
</file>

<file path=ppt/theme/theme1.xml><?xml version="1.0" encoding="utf-8"?>
<a:theme xmlns:a="http://schemas.openxmlformats.org/drawingml/2006/main" name="generic blank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ounting and Informatics template 2020.potx" id="{90B5CCEE-459C-40A1-A6E9-78854B6547F8}" vid="{BDD131C4-5AFA-465E-B77D-77615B8DEC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D5C8B8732F1B4989C4A9A4007E691B" ma:contentTypeVersion="18" ma:contentTypeDescription="Create a new document." ma:contentTypeScope="" ma:versionID="a29d18a521920050faf93b3b3d620ac3">
  <xsd:schema xmlns:xsd="http://www.w3.org/2001/XMLSchema" xmlns:xs="http://www.w3.org/2001/XMLSchema" xmlns:p="http://schemas.microsoft.com/office/2006/metadata/properties" xmlns:ns3="cd74156a-46fa-43d9-bd7e-fe713d4c2eba" xmlns:ns4="12ba21df-bb88-4025-83ae-426da46fe9de" targetNamespace="http://schemas.microsoft.com/office/2006/metadata/properties" ma:root="true" ma:fieldsID="da0501c162deb815340c8282fea96e03" ns3:_="" ns4:_="">
    <xsd:import namespace="cd74156a-46fa-43d9-bd7e-fe713d4c2eba"/>
    <xsd:import namespace="12ba21df-bb88-4025-83ae-426da46fe9d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74156a-46fa-43d9-bd7e-fe713d4c2e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ba21df-bb88-4025-83ae-426da46fe9d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_activity xmlns="cd74156a-46fa-43d9-bd7e-fe713d4c2eba" xsi:nil="true"/>
  </documentManagement>
</p:properties>
</file>

<file path=customXml/itemProps1.xml><?xml version="1.0" encoding="utf-8"?>
<ds:datastoreItem xmlns:ds="http://schemas.openxmlformats.org/officeDocument/2006/customXml" ds:itemID="{BB5C05F2-5617-4BD0-B338-959AADDB8F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8D56CA-24C6-4C34-8D94-B213E20322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74156a-46fa-43d9-bd7e-fe713d4c2eba"/>
    <ds:schemaRef ds:uri="12ba21df-bb88-4025-83ae-426da46fe9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637AE9-BDF3-4ABE-93CC-20D23307EA42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12ba21df-bb88-4025-83ae-426da46fe9de"/>
    <ds:schemaRef ds:uri="http://purl.org/dc/dcmitype/"/>
    <ds:schemaRef ds:uri="cd74156a-46fa-43d9-bd7e-fe713d4c2eba"/>
    <ds:schemaRef ds:uri="http://www.w3.org/XML/1998/namespace"/>
    <ds:schemaRef ds:uri="http://schemas.microsoft.com/office/2006/documentManagement/typ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Accounting and Informatics template 2020-wsbc270734</Template>
  <TotalTime>5569</TotalTime>
  <Words>635</Words>
  <Application>Microsoft Office PowerPoint</Application>
  <PresentationFormat>On-screen Show (4:3)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Bebas Neue Regular</vt:lpstr>
      <vt:lpstr>Calibri</vt:lpstr>
      <vt:lpstr>Gill Sans MT</vt:lpstr>
      <vt:lpstr>generic blank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Leelawathie Anjie Ramjathan</dc:creator>
  <cp:lastModifiedBy>Freedom Khubisa</cp:lastModifiedBy>
  <cp:revision>58</cp:revision>
  <dcterms:created xsi:type="dcterms:W3CDTF">2022-10-21T10:56:01Z</dcterms:created>
  <dcterms:modified xsi:type="dcterms:W3CDTF">2025-08-01T11:24:13Z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0x01010058D5C8B8732F1B4989C4A9A4007E691B</vt:lpwstr>
  </property>
  <property fmtid="{D5CDD505-2E9C-101B-9397-08002B2CF9AE}" pid="3" name="MediaServiceImageTags">
    <vt:lpwstr/>
  </property>
</Properties>
</file>