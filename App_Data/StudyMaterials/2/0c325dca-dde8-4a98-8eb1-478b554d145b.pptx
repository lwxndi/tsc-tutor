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7" r:id="rId5"/>
    <p:sldId id="270" r:id="rId6"/>
    <p:sldId id="286" r:id="rId7"/>
    <p:sldId id="274" r:id="rId8"/>
    <p:sldId id="285" r:id="rId9"/>
    <p:sldId id="287" r:id="rId10"/>
    <p:sldId id="288" r:id="rId11"/>
    <p:sldId id="289" r:id="rId12"/>
    <p:sldId id="290" r:id="rId13"/>
    <p:sldId id="291" r:id="rId14"/>
    <p:sldId id="280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4A7F"/>
    <a:srgbClr val="4F699E"/>
    <a:srgbClr val="5C7CA3"/>
    <a:srgbClr val="60719F"/>
    <a:srgbClr val="2B5E98"/>
    <a:srgbClr val="4D679D"/>
    <a:srgbClr val="265E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87" autoAdjust="0"/>
    <p:restoredTop sz="99868" autoAdjust="0"/>
  </p:normalViewPr>
  <p:slideViewPr>
    <p:cSldViewPr snapToGrid="0" snapToObjects="1">
      <p:cViewPr varScale="1">
        <p:scale>
          <a:sx n="82" d="100"/>
          <a:sy n="82" d="100"/>
        </p:scale>
        <p:origin x="161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25A89A-1AD4-4D56-A8B1-0217D504D40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9F69E68-F49C-4DCB-AB55-73FD643950F4}">
      <dgm:prSet/>
      <dgm:spPr/>
      <dgm:t>
        <a:bodyPr/>
        <a:lstStyle/>
        <a:p>
          <a:r>
            <a:rPr lang="en-ZA" b="0" dirty="0">
              <a:latin typeface="Gill Sans MT" panose="020B0502020104020203" pitchFamily="34" charset="0"/>
            </a:rPr>
            <a:t>Identify and explain different types of software testing and their purposes (e.g., unit, integration, system, acceptance, regression, performance).</a:t>
          </a:r>
          <a:endParaRPr lang="en-US" b="0" dirty="0">
            <a:latin typeface="Gill Sans MT" panose="020B0502020104020203" pitchFamily="34" charset="0"/>
          </a:endParaRPr>
        </a:p>
      </dgm:t>
    </dgm:pt>
    <dgm:pt modelId="{248C6796-0F14-471F-9117-2EEB2B7565A1}" type="parTrans" cxnId="{18388476-E6F8-459A-AFE4-82A5C79ECA55}">
      <dgm:prSet/>
      <dgm:spPr/>
      <dgm:t>
        <a:bodyPr/>
        <a:lstStyle/>
        <a:p>
          <a:endParaRPr lang="en-US">
            <a:latin typeface="Gill Sans MT" panose="020B0502020104020203" pitchFamily="34" charset="0"/>
          </a:endParaRPr>
        </a:p>
      </dgm:t>
    </dgm:pt>
    <dgm:pt modelId="{66A19A49-3CCB-444A-85E0-6F343D7E7542}" type="sibTrans" cxnId="{18388476-E6F8-459A-AFE4-82A5C79ECA55}">
      <dgm:prSet/>
      <dgm:spPr/>
      <dgm:t>
        <a:bodyPr/>
        <a:lstStyle/>
        <a:p>
          <a:endParaRPr lang="en-US">
            <a:latin typeface="Gill Sans MT" panose="020B0502020104020203" pitchFamily="34" charset="0"/>
          </a:endParaRPr>
        </a:p>
      </dgm:t>
    </dgm:pt>
    <dgm:pt modelId="{AF7038D9-A738-4976-A5C6-B3B073296CB9}">
      <dgm:prSet/>
      <dgm:spPr/>
      <dgm:t>
        <a:bodyPr/>
        <a:lstStyle/>
        <a:p>
          <a:r>
            <a:rPr lang="en-ZA" b="0" dirty="0">
              <a:latin typeface="Gill Sans MT" panose="020B0502020104020203" pitchFamily="34" charset="0"/>
            </a:rPr>
            <a:t>Differentiate between manual and automated testing approaches, including appropriate tools and use cases.</a:t>
          </a:r>
          <a:endParaRPr lang="en-US" b="0" dirty="0">
            <a:latin typeface="Gill Sans MT" panose="020B0502020104020203" pitchFamily="34" charset="0"/>
          </a:endParaRPr>
        </a:p>
      </dgm:t>
    </dgm:pt>
    <dgm:pt modelId="{A743E557-D804-405C-A24F-86EC30657724}" type="parTrans" cxnId="{1239E135-27BE-4323-8CA2-69064F40C4B7}">
      <dgm:prSet/>
      <dgm:spPr/>
      <dgm:t>
        <a:bodyPr/>
        <a:lstStyle/>
        <a:p>
          <a:endParaRPr lang="en-US">
            <a:latin typeface="Gill Sans MT" panose="020B0502020104020203" pitchFamily="34" charset="0"/>
          </a:endParaRPr>
        </a:p>
      </dgm:t>
    </dgm:pt>
    <dgm:pt modelId="{1AC330A0-974A-4501-868E-29DC11258FF7}" type="sibTrans" cxnId="{1239E135-27BE-4323-8CA2-69064F40C4B7}">
      <dgm:prSet/>
      <dgm:spPr/>
      <dgm:t>
        <a:bodyPr/>
        <a:lstStyle/>
        <a:p>
          <a:endParaRPr lang="en-US">
            <a:latin typeface="Gill Sans MT" panose="020B0502020104020203" pitchFamily="34" charset="0"/>
          </a:endParaRPr>
        </a:p>
      </dgm:t>
    </dgm:pt>
    <dgm:pt modelId="{EEAB958D-AA13-4B1F-A853-B3B4161C3544}">
      <dgm:prSet/>
      <dgm:spPr/>
      <dgm:t>
        <a:bodyPr/>
        <a:lstStyle/>
        <a:p>
          <a:r>
            <a:rPr lang="en-ZA" b="0" dirty="0">
              <a:latin typeface="Gill Sans MT" panose="020B0502020104020203" pitchFamily="34" charset="0"/>
            </a:rPr>
            <a:t>Apply debugging techniques using suitable tools to locate, analyze, and resolve errors in software applications.</a:t>
          </a:r>
          <a:endParaRPr lang="en-US" b="0" dirty="0">
            <a:latin typeface="Gill Sans MT" panose="020B0502020104020203" pitchFamily="34" charset="0"/>
          </a:endParaRPr>
        </a:p>
      </dgm:t>
    </dgm:pt>
    <dgm:pt modelId="{091E90BD-ECBE-4714-A25B-4C39DB0335B9}" type="parTrans" cxnId="{68FE2C9C-BF35-4E2B-99FE-A13856D2A966}">
      <dgm:prSet/>
      <dgm:spPr/>
      <dgm:t>
        <a:bodyPr/>
        <a:lstStyle/>
        <a:p>
          <a:endParaRPr lang="en-US">
            <a:latin typeface="Gill Sans MT" panose="020B0502020104020203" pitchFamily="34" charset="0"/>
          </a:endParaRPr>
        </a:p>
      </dgm:t>
    </dgm:pt>
    <dgm:pt modelId="{A6FAE310-0D75-4C23-BC29-B0E2B3249BE1}" type="sibTrans" cxnId="{68FE2C9C-BF35-4E2B-99FE-A13856D2A966}">
      <dgm:prSet/>
      <dgm:spPr/>
      <dgm:t>
        <a:bodyPr/>
        <a:lstStyle/>
        <a:p>
          <a:endParaRPr lang="en-US">
            <a:latin typeface="Gill Sans MT" panose="020B0502020104020203" pitchFamily="34" charset="0"/>
          </a:endParaRPr>
        </a:p>
      </dgm:t>
    </dgm:pt>
    <dgm:pt modelId="{B79BA98D-479B-4BA2-95AC-488588058C10}">
      <dgm:prSet/>
      <dgm:spPr/>
      <dgm:t>
        <a:bodyPr/>
        <a:lstStyle/>
        <a:p>
          <a:r>
            <a:rPr lang="en-ZA" b="0" dirty="0">
              <a:latin typeface="Gill Sans MT" panose="020B0502020104020203" pitchFamily="34" charset="0"/>
            </a:rPr>
            <a:t>Evaluate and implement best practices for ensuring software quality through systematic testing and effective debugging</a:t>
          </a:r>
          <a:endParaRPr lang="en-US" b="0" dirty="0">
            <a:latin typeface="Gill Sans MT" panose="020B0502020104020203" pitchFamily="34" charset="0"/>
          </a:endParaRPr>
        </a:p>
      </dgm:t>
    </dgm:pt>
    <dgm:pt modelId="{375A9066-B186-48E2-B160-C9D00E7015D0}" type="parTrans" cxnId="{D4711081-AE48-4167-BEF7-859DEBF836CD}">
      <dgm:prSet/>
      <dgm:spPr/>
      <dgm:t>
        <a:bodyPr/>
        <a:lstStyle/>
        <a:p>
          <a:endParaRPr lang="en-US">
            <a:latin typeface="Gill Sans MT" panose="020B0502020104020203" pitchFamily="34" charset="0"/>
          </a:endParaRPr>
        </a:p>
      </dgm:t>
    </dgm:pt>
    <dgm:pt modelId="{C3A9FE5F-8E18-4748-BF8F-B088BEEA38B1}" type="sibTrans" cxnId="{D4711081-AE48-4167-BEF7-859DEBF836CD}">
      <dgm:prSet/>
      <dgm:spPr/>
      <dgm:t>
        <a:bodyPr/>
        <a:lstStyle/>
        <a:p>
          <a:endParaRPr lang="en-US">
            <a:latin typeface="Gill Sans MT" panose="020B0502020104020203" pitchFamily="34" charset="0"/>
          </a:endParaRPr>
        </a:p>
      </dgm:t>
    </dgm:pt>
    <dgm:pt modelId="{7062385A-3D0D-43B8-8D4A-FE3B9EDE8BD1}" type="pres">
      <dgm:prSet presAssocID="{3325A89A-1AD4-4D56-A8B1-0217D504D40C}" presName="root" presStyleCnt="0">
        <dgm:presLayoutVars>
          <dgm:dir/>
          <dgm:resizeHandles val="exact"/>
        </dgm:presLayoutVars>
      </dgm:prSet>
      <dgm:spPr/>
    </dgm:pt>
    <dgm:pt modelId="{651272FB-2296-4649-8E6D-548E0BD4B6C5}" type="pres">
      <dgm:prSet presAssocID="{F9F69E68-F49C-4DCB-AB55-73FD643950F4}" presName="compNode" presStyleCnt="0"/>
      <dgm:spPr/>
    </dgm:pt>
    <dgm:pt modelId="{645BA4A8-04A3-4B20-9D29-6C280121B1AC}" type="pres">
      <dgm:prSet presAssocID="{F9F69E68-F49C-4DCB-AB55-73FD643950F4}" presName="bgRect" presStyleLbl="bgShp" presStyleIdx="0" presStyleCnt="4"/>
      <dgm:spPr/>
    </dgm:pt>
    <dgm:pt modelId="{11101CCC-DA12-452A-A199-ABDD4F296D46}" type="pres">
      <dgm:prSet presAssocID="{F9F69E68-F49C-4DCB-AB55-73FD643950F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70DF797-CA83-4450-8847-1925B5B2A7D8}" type="pres">
      <dgm:prSet presAssocID="{F9F69E68-F49C-4DCB-AB55-73FD643950F4}" presName="spaceRect" presStyleCnt="0"/>
      <dgm:spPr/>
    </dgm:pt>
    <dgm:pt modelId="{694DC34D-4046-44FE-B428-FBED3F7C0DDE}" type="pres">
      <dgm:prSet presAssocID="{F9F69E68-F49C-4DCB-AB55-73FD643950F4}" presName="parTx" presStyleLbl="revTx" presStyleIdx="0" presStyleCnt="4">
        <dgm:presLayoutVars>
          <dgm:chMax val="0"/>
          <dgm:chPref val="0"/>
        </dgm:presLayoutVars>
      </dgm:prSet>
      <dgm:spPr/>
    </dgm:pt>
    <dgm:pt modelId="{ED6FC346-9C11-426B-A140-22AE0A6A90B1}" type="pres">
      <dgm:prSet presAssocID="{66A19A49-3CCB-444A-85E0-6F343D7E7542}" presName="sibTrans" presStyleCnt="0"/>
      <dgm:spPr/>
    </dgm:pt>
    <dgm:pt modelId="{1F3B7A17-B31D-4BEF-B2FC-F9C8AB2AEA87}" type="pres">
      <dgm:prSet presAssocID="{AF7038D9-A738-4976-A5C6-B3B073296CB9}" presName="compNode" presStyleCnt="0"/>
      <dgm:spPr/>
    </dgm:pt>
    <dgm:pt modelId="{AA704692-C9EF-4644-97FE-05606DC1434F}" type="pres">
      <dgm:prSet presAssocID="{AF7038D9-A738-4976-A5C6-B3B073296CB9}" presName="bgRect" presStyleLbl="bgShp" presStyleIdx="1" presStyleCnt="4" custLinFactNeighborX="8471" custLinFactNeighborY="12500"/>
      <dgm:spPr/>
    </dgm:pt>
    <dgm:pt modelId="{BBFC3E64-329F-4A3E-B579-ED044FE4D815}" type="pres">
      <dgm:prSet presAssocID="{AF7038D9-A738-4976-A5C6-B3B073296CB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9FAECCC2-1EC6-446D-A3F9-1DC8DF6D78A9}" type="pres">
      <dgm:prSet presAssocID="{AF7038D9-A738-4976-A5C6-B3B073296CB9}" presName="spaceRect" presStyleCnt="0"/>
      <dgm:spPr/>
    </dgm:pt>
    <dgm:pt modelId="{0CF0AE54-91B4-4EB5-B2C5-F0F689C40CAA}" type="pres">
      <dgm:prSet presAssocID="{AF7038D9-A738-4976-A5C6-B3B073296CB9}" presName="parTx" presStyleLbl="revTx" presStyleIdx="1" presStyleCnt="4" custLinFactNeighborX="-282" custLinFactNeighborY="5855">
        <dgm:presLayoutVars>
          <dgm:chMax val="0"/>
          <dgm:chPref val="0"/>
        </dgm:presLayoutVars>
      </dgm:prSet>
      <dgm:spPr/>
    </dgm:pt>
    <dgm:pt modelId="{A9374664-9AE3-4C5C-92E8-AB64927C9970}" type="pres">
      <dgm:prSet presAssocID="{1AC330A0-974A-4501-868E-29DC11258FF7}" presName="sibTrans" presStyleCnt="0"/>
      <dgm:spPr/>
    </dgm:pt>
    <dgm:pt modelId="{C736DF1B-5AB1-4E17-A18F-BA4B872FB26A}" type="pres">
      <dgm:prSet presAssocID="{EEAB958D-AA13-4B1F-A853-B3B4161C3544}" presName="compNode" presStyleCnt="0"/>
      <dgm:spPr/>
    </dgm:pt>
    <dgm:pt modelId="{BC5768B3-7F3C-4857-BAF7-0C50141815EC}" type="pres">
      <dgm:prSet presAssocID="{EEAB958D-AA13-4B1F-A853-B3B4161C3544}" presName="bgRect" presStyleLbl="bgShp" presStyleIdx="2" presStyleCnt="4"/>
      <dgm:spPr/>
    </dgm:pt>
    <dgm:pt modelId="{64D9CCDD-899C-4A65-BC76-49861DD19AF5}" type="pres">
      <dgm:prSet presAssocID="{EEAB958D-AA13-4B1F-A853-B3B4161C354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DEDCC517-149E-4EFF-AC92-42815BF53210}" type="pres">
      <dgm:prSet presAssocID="{EEAB958D-AA13-4B1F-A853-B3B4161C3544}" presName="spaceRect" presStyleCnt="0"/>
      <dgm:spPr/>
    </dgm:pt>
    <dgm:pt modelId="{2C5B732E-105B-49B2-BF5F-A3B5CC4EEC42}" type="pres">
      <dgm:prSet presAssocID="{EEAB958D-AA13-4B1F-A853-B3B4161C3544}" presName="parTx" presStyleLbl="revTx" presStyleIdx="2" presStyleCnt="4" custScaleX="110752">
        <dgm:presLayoutVars>
          <dgm:chMax val="0"/>
          <dgm:chPref val="0"/>
        </dgm:presLayoutVars>
      </dgm:prSet>
      <dgm:spPr/>
    </dgm:pt>
    <dgm:pt modelId="{22C39687-E1E9-4F5C-A9BC-36F636C05FF6}" type="pres">
      <dgm:prSet presAssocID="{A6FAE310-0D75-4C23-BC29-B0E2B3249BE1}" presName="sibTrans" presStyleCnt="0"/>
      <dgm:spPr/>
    </dgm:pt>
    <dgm:pt modelId="{872E7927-C8D0-4E3D-943B-43AFFF332764}" type="pres">
      <dgm:prSet presAssocID="{B79BA98D-479B-4BA2-95AC-488588058C10}" presName="compNode" presStyleCnt="0"/>
      <dgm:spPr/>
    </dgm:pt>
    <dgm:pt modelId="{7D93E317-562C-4926-804A-FACD6CAEABD6}" type="pres">
      <dgm:prSet presAssocID="{B79BA98D-479B-4BA2-95AC-488588058C10}" presName="bgRect" presStyleLbl="bgShp" presStyleIdx="3" presStyleCnt="4"/>
      <dgm:spPr/>
    </dgm:pt>
    <dgm:pt modelId="{EB4821DC-F24F-4A14-995C-3C017F1200BF}" type="pres">
      <dgm:prSet presAssocID="{B79BA98D-479B-4BA2-95AC-488588058C1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11E4F3A-7EC1-47C0-A0E8-933815C2FAFC}" type="pres">
      <dgm:prSet presAssocID="{B79BA98D-479B-4BA2-95AC-488588058C10}" presName="spaceRect" presStyleCnt="0"/>
      <dgm:spPr/>
    </dgm:pt>
    <dgm:pt modelId="{891FE410-57B2-4F86-8228-FA976CB55287}" type="pres">
      <dgm:prSet presAssocID="{B79BA98D-479B-4BA2-95AC-488588058C1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7525002-227D-4EEF-8826-6DFA204687BE}" type="presOf" srcId="{3325A89A-1AD4-4D56-A8B1-0217D504D40C}" destId="{7062385A-3D0D-43B8-8D4A-FE3B9EDE8BD1}" srcOrd="0" destOrd="0" presId="urn:microsoft.com/office/officeart/2018/2/layout/IconVerticalSolidList"/>
    <dgm:cxn modelId="{F4BE6807-E06E-466C-BA62-A126759FC332}" type="presOf" srcId="{B79BA98D-479B-4BA2-95AC-488588058C10}" destId="{891FE410-57B2-4F86-8228-FA976CB55287}" srcOrd="0" destOrd="0" presId="urn:microsoft.com/office/officeart/2018/2/layout/IconVerticalSolidList"/>
    <dgm:cxn modelId="{1239E135-27BE-4323-8CA2-69064F40C4B7}" srcId="{3325A89A-1AD4-4D56-A8B1-0217D504D40C}" destId="{AF7038D9-A738-4976-A5C6-B3B073296CB9}" srcOrd="1" destOrd="0" parTransId="{A743E557-D804-405C-A24F-86EC30657724}" sibTransId="{1AC330A0-974A-4501-868E-29DC11258FF7}"/>
    <dgm:cxn modelId="{2965E046-DD27-4CED-95DC-03E7E2AEC5CE}" type="presOf" srcId="{F9F69E68-F49C-4DCB-AB55-73FD643950F4}" destId="{694DC34D-4046-44FE-B428-FBED3F7C0DDE}" srcOrd="0" destOrd="0" presId="urn:microsoft.com/office/officeart/2018/2/layout/IconVerticalSolidList"/>
    <dgm:cxn modelId="{18388476-E6F8-459A-AFE4-82A5C79ECA55}" srcId="{3325A89A-1AD4-4D56-A8B1-0217D504D40C}" destId="{F9F69E68-F49C-4DCB-AB55-73FD643950F4}" srcOrd="0" destOrd="0" parTransId="{248C6796-0F14-471F-9117-2EEB2B7565A1}" sibTransId="{66A19A49-3CCB-444A-85E0-6F343D7E7542}"/>
    <dgm:cxn modelId="{D4711081-AE48-4167-BEF7-859DEBF836CD}" srcId="{3325A89A-1AD4-4D56-A8B1-0217D504D40C}" destId="{B79BA98D-479B-4BA2-95AC-488588058C10}" srcOrd="3" destOrd="0" parTransId="{375A9066-B186-48E2-B160-C9D00E7015D0}" sibTransId="{C3A9FE5F-8E18-4748-BF8F-B088BEEA38B1}"/>
    <dgm:cxn modelId="{8FDCB883-DB97-4320-A73E-AC84899BF4B3}" type="presOf" srcId="{AF7038D9-A738-4976-A5C6-B3B073296CB9}" destId="{0CF0AE54-91B4-4EB5-B2C5-F0F689C40CAA}" srcOrd="0" destOrd="0" presId="urn:microsoft.com/office/officeart/2018/2/layout/IconVerticalSolidList"/>
    <dgm:cxn modelId="{68FE2C9C-BF35-4E2B-99FE-A13856D2A966}" srcId="{3325A89A-1AD4-4D56-A8B1-0217D504D40C}" destId="{EEAB958D-AA13-4B1F-A853-B3B4161C3544}" srcOrd="2" destOrd="0" parTransId="{091E90BD-ECBE-4714-A25B-4C39DB0335B9}" sibTransId="{A6FAE310-0D75-4C23-BC29-B0E2B3249BE1}"/>
    <dgm:cxn modelId="{798C12C8-3D8B-4DE8-8BC9-4E98AF405187}" type="presOf" srcId="{EEAB958D-AA13-4B1F-A853-B3B4161C3544}" destId="{2C5B732E-105B-49B2-BF5F-A3B5CC4EEC42}" srcOrd="0" destOrd="0" presId="urn:microsoft.com/office/officeart/2018/2/layout/IconVerticalSolidList"/>
    <dgm:cxn modelId="{8F925059-9290-4F07-827B-73CFA33C6E16}" type="presParOf" srcId="{7062385A-3D0D-43B8-8D4A-FE3B9EDE8BD1}" destId="{651272FB-2296-4649-8E6D-548E0BD4B6C5}" srcOrd="0" destOrd="0" presId="urn:microsoft.com/office/officeart/2018/2/layout/IconVerticalSolidList"/>
    <dgm:cxn modelId="{C9CF380C-460F-4F62-B59F-A2220F45A7C7}" type="presParOf" srcId="{651272FB-2296-4649-8E6D-548E0BD4B6C5}" destId="{645BA4A8-04A3-4B20-9D29-6C280121B1AC}" srcOrd="0" destOrd="0" presId="urn:microsoft.com/office/officeart/2018/2/layout/IconVerticalSolidList"/>
    <dgm:cxn modelId="{D262E5AF-1D60-4E87-9ABB-699B799D50E6}" type="presParOf" srcId="{651272FB-2296-4649-8E6D-548E0BD4B6C5}" destId="{11101CCC-DA12-452A-A199-ABDD4F296D46}" srcOrd="1" destOrd="0" presId="urn:microsoft.com/office/officeart/2018/2/layout/IconVerticalSolidList"/>
    <dgm:cxn modelId="{AA7BB20F-FB0A-471F-91D7-1442FD4BCC1F}" type="presParOf" srcId="{651272FB-2296-4649-8E6D-548E0BD4B6C5}" destId="{E70DF797-CA83-4450-8847-1925B5B2A7D8}" srcOrd="2" destOrd="0" presId="urn:microsoft.com/office/officeart/2018/2/layout/IconVerticalSolidList"/>
    <dgm:cxn modelId="{FA51A8AE-3DBA-4745-9E0D-DD2E926457BA}" type="presParOf" srcId="{651272FB-2296-4649-8E6D-548E0BD4B6C5}" destId="{694DC34D-4046-44FE-B428-FBED3F7C0DDE}" srcOrd="3" destOrd="0" presId="urn:microsoft.com/office/officeart/2018/2/layout/IconVerticalSolidList"/>
    <dgm:cxn modelId="{F3F359F1-6178-4C88-82B0-95CEC27D95F5}" type="presParOf" srcId="{7062385A-3D0D-43B8-8D4A-FE3B9EDE8BD1}" destId="{ED6FC346-9C11-426B-A140-22AE0A6A90B1}" srcOrd="1" destOrd="0" presId="urn:microsoft.com/office/officeart/2018/2/layout/IconVerticalSolidList"/>
    <dgm:cxn modelId="{56973967-A709-48D8-A5D0-1A82CC193A0B}" type="presParOf" srcId="{7062385A-3D0D-43B8-8D4A-FE3B9EDE8BD1}" destId="{1F3B7A17-B31D-4BEF-B2FC-F9C8AB2AEA87}" srcOrd="2" destOrd="0" presId="urn:microsoft.com/office/officeart/2018/2/layout/IconVerticalSolidList"/>
    <dgm:cxn modelId="{BB68E44A-D346-42BA-A979-39875E6D9E4E}" type="presParOf" srcId="{1F3B7A17-B31D-4BEF-B2FC-F9C8AB2AEA87}" destId="{AA704692-C9EF-4644-97FE-05606DC1434F}" srcOrd="0" destOrd="0" presId="urn:microsoft.com/office/officeart/2018/2/layout/IconVerticalSolidList"/>
    <dgm:cxn modelId="{9F666FE2-CAFD-4B95-BC9D-205816546908}" type="presParOf" srcId="{1F3B7A17-B31D-4BEF-B2FC-F9C8AB2AEA87}" destId="{BBFC3E64-329F-4A3E-B579-ED044FE4D815}" srcOrd="1" destOrd="0" presId="urn:microsoft.com/office/officeart/2018/2/layout/IconVerticalSolidList"/>
    <dgm:cxn modelId="{A2F3DB41-7E28-47C9-ABAD-D79A8FC953C2}" type="presParOf" srcId="{1F3B7A17-B31D-4BEF-B2FC-F9C8AB2AEA87}" destId="{9FAECCC2-1EC6-446D-A3F9-1DC8DF6D78A9}" srcOrd="2" destOrd="0" presId="urn:microsoft.com/office/officeart/2018/2/layout/IconVerticalSolidList"/>
    <dgm:cxn modelId="{696EBA14-4C39-4C27-838F-DB680A3C3F8D}" type="presParOf" srcId="{1F3B7A17-B31D-4BEF-B2FC-F9C8AB2AEA87}" destId="{0CF0AE54-91B4-4EB5-B2C5-F0F689C40CAA}" srcOrd="3" destOrd="0" presId="urn:microsoft.com/office/officeart/2018/2/layout/IconVerticalSolidList"/>
    <dgm:cxn modelId="{F01BC07E-F6D1-47D7-AA7F-CF334D089C06}" type="presParOf" srcId="{7062385A-3D0D-43B8-8D4A-FE3B9EDE8BD1}" destId="{A9374664-9AE3-4C5C-92E8-AB64927C9970}" srcOrd="3" destOrd="0" presId="urn:microsoft.com/office/officeart/2018/2/layout/IconVerticalSolidList"/>
    <dgm:cxn modelId="{4469DFF4-FDAD-48FC-B5CD-B33D0ED846BB}" type="presParOf" srcId="{7062385A-3D0D-43B8-8D4A-FE3B9EDE8BD1}" destId="{C736DF1B-5AB1-4E17-A18F-BA4B872FB26A}" srcOrd="4" destOrd="0" presId="urn:microsoft.com/office/officeart/2018/2/layout/IconVerticalSolidList"/>
    <dgm:cxn modelId="{88675120-3DB1-42A9-8D95-E93689161F6A}" type="presParOf" srcId="{C736DF1B-5AB1-4E17-A18F-BA4B872FB26A}" destId="{BC5768B3-7F3C-4857-BAF7-0C50141815EC}" srcOrd="0" destOrd="0" presId="urn:microsoft.com/office/officeart/2018/2/layout/IconVerticalSolidList"/>
    <dgm:cxn modelId="{C37211C9-926B-42EB-937F-739275F4DBCE}" type="presParOf" srcId="{C736DF1B-5AB1-4E17-A18F-BA4B872FB26A}" destId="{64D9CCDD-899C-4A65-BC76-49861DD19AF5}" srcOrd="1" destOrd="0" presId="urn:microsoft.com/office/officeart/2018/2/layout/IconVerticalSolidList"/>
    <dgm:cxn modelId="{2047378A-1581-4459-A96C-5A5CF9478E10}" type="presParOf" srcId="{C736DF1B-5AB1-4E17-A18F-BA4B872FB26A}" destId="{DEDCC517-149E-4EFF-AC92-42815BF53210}" srcOrd="2" destOrd="0" presId="urn:microsoft.com/office/officeart/2018/2/layout/IconVerticalSolidList"/>
    <dgm:cxn modelId="{18D269C8-55BB-459F-B91C-01C4934BB725}" type="presParOf" srcId="{C736DF1B-5AB1-4E17-A18F-BA4B872FB26A}" destId="{2C5B732E-105B-49B2-BF5F-A3B5CC4EEC42}" srcOrd="3" destOrd="0" presId="urn:microsoft.com/office/officeart/2018/2/layout/IconVerticalSolidList"/>
    <dgm:cxn modelId="{B0893365-53AD-4541-87C6-8EB9491E9516}" type="presParOf" srcId="{7062385A-3D0D-43B8-8D4A-FE3B9EDE8BD1}" destId="{22C39687-E1E9-4F5C-A9BC-36F636C05FF6}" srcOrd="5" destOrd="0" presId="urn:microsoft.com/office/officeart/2018/2/layout/IconVerticalSolidList"/>
    <dgm:cxn modelId="{5912F959-7F3A-41F6-BCCD-C5F57B8F31D3}" type="presParOf" srcId="{7062385A-3D0D-43B8-8D4A-FE3B9EDE8BD1}" destId="{872E7927-C8D0-4E3D-943B-43AFFF332764}" srcOrd="6" destOrd="0" presId="urn:microsoft.com/office/officeart/2018/2/layout/IconVerticalSolidList"/>
    <dgm:cxn modelId="{8E07FB5B-9826-4C38-87A0-F4486168A8DA}" type="presParOf" srcId="{872E7927-C8D0-4E3D-943B-43AFFF332764}" destId="{7D93E317-562C-4926-804A-FACD6CAEABD6}" srcOrd="0" destOrd="0" presId="urn:microsoft.com/office/officeart/2018/2/layout/IconVerticalSolidList"/>
    <dgm:cxn modelId="{D7A0E99D-1A3E-4483-B95E-DD695020FDA9}" type="presParOf" srcId="{872E7927-C8D0-4E3D-943B-43AFFF332764}" destId="{EB4821DC-F24F-4A14-995C-3C017F1200BF}" srcOrd="1" destOrd="0" presId="urn:microsoft.com/office/officeart/2018/2/layout/IconVerticalSolidList"/>
    <dgm:cxn modelId="{1EB87992-79C5-4011-9C21-3F7FE97657D2}" type="presParOf" srcId="{872E7927-C8D0-4E3D-943B-43AFFF332764}" destId="{A11E4F3A-7EC1-47C0-A0E8-933815C2FAFC}" srcOrd="2" destOrd="0" presId="urn:microsoft.com/office/officeart/2018/2/layout/IconVerticalSolidList"/>
    <dgm:cxn modelId="{80FF8A6F-D544-4AF4-9C7C-EE8CFF232C81}" type="presParOf" srcId="{872E7927-C8D0-4E3D-943B-43AFFF332764}" destId="{891FE410-57B2-4F86-8228-FA976CB5528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5BA4A8-04A3-4B20-9D29-6C280121B1AC}">
      <dsp:nvSpPr>
        <dsp:cNvPr id="0" name=""/>
        <dsp:cNvSpPr/>
      </dsp:nvSpPr>
      <dsp:spPr>
        <a:xfrm>
          <a:off x="-81136" y="9230"/>
          <a:ext cx="4255279" cy="103128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101CCC-DA12-452A-A199-ABDD4F296D46}">
      <dsp:nvSpPr>
        <dsp:cNvPr id="0" name=""/>
        <dsp:cNvSpPr/>
      </dsp:nvSpPr>
      <dsp:spPr>
        <a:xfrm>
          <a:off x="230826" y="241269"/>
          <a:ext cx="567205" cy="5672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4DC34D-4046-44FE-B428-FBED3F7C0DDE}">
      <dsp:nvSpPr>
        <dsp:cNvPr id="0" name=""/>
        <dsp:cNvSpPr/>
      </dsp:nvSpPr>
      <dsp:spPr>
        <a:xfrm>
          <a:off x="1109995" y="9230"/>
          <a:ext cx="3061816" cy="1031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144" tIns="109144" rIns="109144" bIns="109144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b="0" kern="1200" dirty="0">
              <a:latin typeface="Gill Sans MT" panose="020B0502020104020203" pitchFamily="34" charset="0"/>
            </a:rPr>
            <a:t>Identify and explain different types of software testing and their purposes (e.g., unit, integration, system, acceptance, regression, performance).</a:t>
          </a:r>
          <a:endParaRPr lang="en-US" sz="1400" b="0" kern="1200" dirty="0">
            <a:latin typeface="Gill Sans MT" panose="020B0502020104020203" pitchFamily="34" charset="0"/>
          </a:endParaRPr>
        </a:p>
      </dsp:txBody>
      <dsp:txXfrm>
        <a:off x="1109995" y="9230"/>
        <a:ext cx="3061816" cy="1031283"/>
      </dsp:txXfrm>
    </dsp:sp>
    <dsp:sp modelId="{AA704692-C9EF-4644-97FE-05606DC1434F}">
      <dsp:nvSpPr>
        <dsp:cNvPr id="0" name=""/>
        <dsp:cNvSpPr/>
      </dsp:nvSpPr>
      <dsp:spPr>
        <a:xfrm>
          <a:off x="0" y="1427245"/>
          <a:ext cx="4255279" cy="103128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FC3E64-329F-4A3E-B579-ED044FE4D815}">
      <dsp:nvSpPr>
        <dsp:cNvPr id="0" name=""/>
        <dsp:cNvSpPr/>
      </dsp:nvSpPr>
      <dsp:spPr>
        <a:xfrm>
          <a:off x="230826" y="1530373"/>
          <a:ext cx="567205" cy="5672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0AE54-91B4-4EB5-B2C5-F0F689C40CAA}">
      <dsp:nvSpPr>
        <dsp:cNvPr id="0" name=""/>
        <dsp:cNvSpPr/>
      </dsp:nvSpPr>
      <dsp:spPr>
        <a:xfrm>
          <a:off x="1101361" y="1358716"/>
          <a:ext cx="3061816" cy="1031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144" tIns="109144" rIns="109144" bIns="109144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b="0" kern="1200" dirty="0">
              <a:latin typeface="Gill Sans MT" panose="020B0502020104020203" pitchFamily="34" charset="0"/>
            </a:rPr>
            <a:t>Differentiate between manual and automated testing approaches, including appropriate tools and use cases.</a:t>
          </a:r>
          <a:endParaRPr lang="en-US" sz="1400" b="0" kern="1200" dirty="0">
            <a:latin typeface="Gill Sans MT" panose="020B0502020104020203" pitchFamily="34" charset="0"/>
          </a:endParaRPr>
        </a:p>
      </dsp:txBody>
      <dsp:txXfrm>
        <a:off x="1101361" y="1358716"/>
        <a:ext cx="3061816" cy="1031283"/>
      </dsp:txXfrm>
    </dsp:sp>
    <dsp:sp modelId="{BC5768B3-7F3C-4857-BAF7-0C50141815EC}">
      <dsp:nvSpPr>
        <dsp:cNvPr id="0" name=""/>
        <dsp:cNvSpPr/>
      </dsp:nvSpPr>
      <dsp:spPr>
        <a:xfrm>
          <a:off x="-81136" y="2587439"/>
          <a:ext cx="4255279" cy="103128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D9CCDD-899C-4A65-BC76-49861DD19AF5}">
      <dsp:nvSpPr>
        <dsp:cNvPr id="0" name=""/>
        <dsp:cNvSpPr/>
      </dsp:nvSpPr>
      <dsp:spPr>
        <a:xfrm>
          <a:off x="230826" y="2819478"/>
          <a:ext cx="567205" cy="5672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5B732E-105B-49B2-BF5F-A3B5CC4EEC42}">
      <dsp:nvSpPr>
        <dsp:cNvPr id="0" name=""/>
        <dsp:cNvSpPr/>
      </dsp:nvSpPr>
      <dsp:spPr>
        <a:xfrm>
          <a:off x="945392" y="2587439"/>
          <a:ext cx="3391023" cy="1031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144" tIns="109144" rIns="109144" bIns="109144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b="0" kern="1200" dirty="0">
              <a:latin typeface="Gill Sans MT" panose="020B0502020104020203" pitchFamily="34" charset="0"/>
            </a:rPr>
            <a:t>Apply debugging techniques using suitable tools to locate, analyze, and resolve errors in software applications.</a:t>
          </a:r>
          <a:endParaRPr lang="en-US" sz="1400" b="0" kern="1200" dirty="0">
            <a:latin typeface="Gill Sans MT" panose="020B0502020104020203" pitchFamily="34" charset="0"/>
          </a:endParaRPr>
        </a:p>
      </dsp:txBody>
      <dsp:txXfrm>
        <a:off x="945392" y="2587439"/>
        <a:ext cx="3391023" cy="1031283"/>
      </dsp:txXfrm>
    </dsp:sp>
    <dsp:sp modelId="{7D93E317-562C-4926-804A-FACD6CAEABD6}">
      <dsp:nvSpPr>
        <dsp:cNvPr id="0" name=""/>
        <dsp:cNvSpPr/>
      </dsp:nvSpPr>
      <dsp:spPr>
        <a:xfrm>
          <a:off x="-81136" y="3876543"/>
          <a:ext cx="4255279" cy="103128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4821DC-F24F-4A14-995C-3C017F1200BF}">
      <dsp:nvSpPr>
        <dsp:cNvPr id="0" name=""/>
        <dsp:cNvSpPr/>
      </dsp:nvSpPr>
      <dsp:spPr>
        <a:xfrm>
          <a:off x="230826" y="4108582"/>
          <a:ext cx="567205" cy="5672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1FE410-57B2-4F86-8228-FA976CB55287}">
      <dsp:nvSpPr>
        <dsp:cNvPr id="0" name=""/>
        <dsp:cNvSpPr/>
      </dsp:nvSpPr>
      <dsp:spPr>
        <a:xfrm>
          <a:off x="1109995" y="3876543"/>
          <a:ext cx="3061816" cy="1031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144" tIns="109144" rIns="109144" bIns="109144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b="0" kern="1200" dirty="0">
              <a:latin typeface="Gill Sans MT" panose="020B0502020104020203" pitchFamily="34" charset="0"/>
            </a:rPr>
            <a:t>Evaluate and implement best practices for ensuring software quality through systematic testing and effective debugging</a:t>
          </a:r>
          <a:endParaRPr lang="en-US" sz="1400" b="0" kern="1200" dirty="0">
            <a:latin typeface="Gill Sans MT" panose="020B0502020104020203" pitchFamily="34" charset="0"/>
          </a:endParaRPr>
        </a:p>
      </dsp:txBody>
      <dsp:txXfrm>
        <a:off x="1109995" y="3876543"/>
        <a:ext cx="3061816" cy="10312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/>
          <a:srcRect r="571" b="14072"/>
          <a:stretch/>
        </p:blipFill>
        <p:spPr>
          <a:xfrm>
            <a:off x="2837098" y="1508587"/>
            <a:ext cx="3487214" cy="3424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98C87B-E4D4-404E-A284-EA678FF760E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10845" y="4954177"/>
            <a:ext cx="2009423" cy="71677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7BA521D-F95E-499B-A5E7-52BA138626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578026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2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41064" cy="13228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5B16B6-C5A3-4AEF-B65B-A245352D29C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B0C8E19-3C4A-4A49-8B99-171E3E5EC3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2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2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97" y="-297"/>
            <a:ext cx="9144793" cy="685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2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746250" cy="1746250"/>
          </a:xfrm>
          <a:prstGeom prst="rect">
            <a:avLst/>
          </a:prstGeom>
          <a:solidFill>
            <a:srgbClr val="4D6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752600" y="0"/>
            <a:ext cx="1746250" cy="17462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D9A8C5-A542-4220-B3A0-7D5A5F1DFA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B5E970-B051-4072-8353-19D14EE410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159F30F-3C5B-4ED2-9D70-E8AD84E7F9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2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2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C474F5-6D25-4C02-B5F0-87823923C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2EA007-CF24-4E99-A351-313E25AA26D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86108EA-F53E-4DCD-AC49-B239CB7455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2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Bebas Neue Regular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Gill Sans MT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844FFB-1981-408D-B393-39BCB4C933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A63CF2-CA02-46D6-AD7F-07519603A2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CFF151D-9AB7-4C9D-8DE2-041220A6AC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38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ebas Neue Regular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ill Sans MT" pitchFamily="34" charset="0"/>
              </a:defRPr>
            </a:lvl1pPr>
            <a:lvl2pPr>
              <a:defRPr>
                <a:latin typeface="Gill Sans MT" pitchFamily="34" charset="0"/>
              </a:defRPr>
            </a:lvl2pPr>
            <a:lvl3pPr>
              <a:defRPr>
                <a:latin typeface="Gill Sans MT" pitchFamily="34" charset="0"/>
              </a:defRPr>
            </a:lvl3pPr>
            <a:lvl4pPr>
              <a:defRPr>
                <a:latin typeface="Gill Sans MT" pitchFamily="34" charset="0"/>
              </a:defRPr>
            </a:lvl4pPr>
            <a:lvl5pPr>
              <a:defRPr>
                <a:latin typeface="Gill Sans M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0B3B58-01BB-4F4E-9977-6282877BE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83816F-6071-4017-AAE1-8350F73DBC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35BE53F-FA1B-4513-8DF6-246EAA173C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685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0" cap="all">
                <a:latin typeface="Bebas Neue Regular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Gill Sans MT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31E513-3AD9-4109-9D54-A61078A9C8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A3E3DA-1C23-4504-8789-176219F3295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CFBD6FD6-D44B-489E-A0B1-839363E97B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670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ebas Neue Regular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Gill Sans MT" pitchFamily="34" charset="0"/>
              </a:defRPr>
            </a:lvl1pPr>
            <a:lvl2pPr>
              <a:defRPr sz="2000">
                <a:latin typeface="Gill Sans MT" pitchFamily="34" charset="0"/>
              </a:defRPr>
            </a:lvl2pPr>
            <a:lvl3pPr>
              <a:defRPr sz="1800">
                <a:latin typeface="Gill Sans MT" pitchFamily="34" charset="0"/>
              </a:defRPr>
            </a:lvl3pPr>
            <a:lvl4pPr>
              <a:defRPr sz="1600">
                <a:latin typeface="Gill Sans MT" pitchFamily="34" charset="0"/>
              </a:defRPr>
            </a:lvl4pPr>
            <a:lvl5pPr>
              <a:defRPr sz="16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Gill Sans MT" pitchFamily="34" charset="0"/>
              </a:defRPr>
            </a:lvl1pPr>
            <a:lvl2pPr>
              <a:defRPr sz="2000">
                <a:latin typeface="Gill Sans MT" pitchFamily="34" charset="0"/>
              </a:defRPr>
            </a:lvl2pPr>
            <a:lvl3pPr>
              <a:defRPr sz="1800">
                <a:latin typeface="Gill Sans MT" pitchFamily="34" charset="0"/>
              </a:defRPr>
            </a:lvl3pPr>
            <a:lvl4pPr>
              <a:defRPr sz="1600">
                <a:latin typeface="Gill Sans MT" pitchFamily="34" charset="0"/>
              </a:defRPr>
            </a:lvl4pPr>
            <a:lvl5pPr>
              <a:defRPr sz="16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5D4C5A-2881-4FEE-A0E6-5E8D6F2C7B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3DCE59-9A6D-41AE-A18C-93CE3FC588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73419B6-1D2D-4C69-A0DA-8242439E95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592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ebas Neue Regular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CCD421-FBD1-4AA9-80D6-3E8CC19963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107F42-0175-46CA-9C12-BD65FDE5C1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874C225-FD25-43D4-ABA7-83DE50B6E0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0">
                <a:latin typeface="Bebas Neue Regular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Gill Sans MT" pitchFamily="34" charset="0"/>
              </a:defRPr>
            </a:lvl1pPr>
            <a:lvl2pPr>
              <a:defRPr sz="2800">
                <a:latin typeface="Gill Sans MT" pitchFamily="34" charset="0"/>
              </a:defRPr>
            </a:lvl2pPr>
            <a:lvl3pPr>
              <a:defRPr sz="2400">
                <a:latin typeface="Gill Sans MT" pitchFamily="34" charset="0"/>
              </a:defRPr>
            </a:lvl3pPr>
            <a:lvl4pPr>
              <a:defRPr sz="2000">
                <a:latin typeface="Gill Sans MT" pitchFamily="34" charset="0"/>
              </a:defRPr>
            </a:lvl4pPr>
            <a:lvl5pPr>
              <a:defRPr sz="2000">
                <a:latin typeface="Gill Sans MT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Gill Sans MT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E489A3-4D3B-420D-A5DE-A41CC28735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0548DB-35CE-4ABC-B506-8AB25470C3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708F3D4-A82C-4C8D-99EF-288629027D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8800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Gill Sans MT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Gill Sans MT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E4D05E-7DB9-4A08-B9A8-AFA64B2A10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DD7C1C-5F38-4934-A356-8F691E5879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E9756AA-63D1-4A57-A8E8-5A7261D185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392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ebas Neue Regular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</p:spPr>
        <p:txBody>
          <a:bodyPr vert="eaVert"/>
          <a:lstStyle>
            <a:lvl1pPr>
              <a:defRPr>
                <a:latin typeface="Gill Sans MT" pitchFamily="34" charset="0"/>
              </a:defRPr>
            </a:lvl1pPr>
            <a:lvl2pPr>
              <a:defRPr>
                <a:latin typeface="Gill Sans MT" pitchFamily="34" charset="0"/>
              </a:defRPr>
            </a:lvl2pPr>
            <a:lvl3pPr>
              <a:defRPr>
                <a:latin typeface="Gill Sans MT" pitchFamily="34" charset="0"/>
              </a:defRPr>
            </a:lvl3pPr>
            <a:lvl4pPr>
              <a:defRPr>
                <a:latin typeface="Gill Sans MT" pitchFamily="34" charset="0"/>
              </a:defRPr>
            </a:lvl4pPr>
            <a:lvl5pPr>
              <a:defRPr>
                <a:latin typeface="Gill Sans M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209C44-DB4C-458C-AC6A-B5A0629982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E49D9F-2DF7-4E8B-8A1C-E390EC466D5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F312E9C-6F4D-4672-B3BC-08C9A85F37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7106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5057E2-7CAA-4253-ACEC-BCC26CE268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63788"/>
            <a:ext cx="9144000" cy="15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2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latin typeface="Bebas Neue Regular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>
                <a:latin typeface="Gill Sans MT" pitchFamily="34" charset="0"/>
              </a:defRPr>
            </a:lvl1pPr>
            <a:lvl2pPr>
              <a:defRPr>
                <a:latin typeface="Gill Sans MT" pitchFamily="34" charset="0"/>
              </a:defRPr>
            </a:lvl2pPr>
            <a:lvl3pPr>
              <a:defRPr>
                <a:latin typeface="Gill Sans MT" pitchFamily="34" charset="0"/>
              </a:defRPr>
            </a:lvl3pPr>
            <a:lvl4pPr>
              <a:defRPr>
                <a:latin typeface="Gill Sans MT" pitchFamily="34" charset="0"/>
              </a:defRPr>
            </a:lvl4pPr>
            <a:lvl5pPr>
              <a:defRPr>
                <a:latin typeface="Gill Sans M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9C09D-38DA-4B45-912C-8D16498924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41661" y="5256810"/>
            <a:ext cx="1084891" cy="6538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10A515-E0C7-4073-8258-CD5ECFC865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>
            <a:off x="-1657054" y="2388891"/>
            <a:ext cx="4453221" cy="224714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58EAD75-4A36-438D-BBC6-C513D7B45A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-3316265" y="3326962"/>
            <a:ext cx="6858000" cy="20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182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A8F00-9EC2-EA4F-949E-A834649BFFBA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E31DF-53E3-644C-AB24-9CC997190F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775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9" r:id="rId3"/>
    <p:sldLayoutId id="2147483665" r:id="rId4"/>
    <p:sldLayoutId id="2147483671" r:id="rId5"/>
    <p:sldLayoutId id="2147483673" r:id="rId6"/>
    <p:sldLayoutId id="2147483667" r:id="rId7"/>
    <p:sldLayoutId id="2147483662" r:id="rId8"/>
    <p:sldLayoutId id="2147483664" r:id="rId9"/>
    <p:sldLayoutId id="2147483666" r:id="rId10"/>
    <p:sldLayoutId id="2147483670" r:id="rId11"/>
    <p:sldLayoutId id="2147483674" r:id="rId12"/>
    <p:sldLayoutId id="2147483676" r:id="rId13"/>
    <p:sldLayoutId id="2147483678" r:id="rId14"/>
    <p:sldLayoutId id="2147483680" r:id="rId15"/>
    <p:sldLayoutId id="2147483681" r:id="rId16"/>
    <p:sldLayoutId id="214748368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761B68-5131-23F7-AAC0-856E0A0A26C0}"/>
              </a:ext>
            </a:extLst>
          </p:cNvPr>
          <p:cNvSpPr txBox="1"/>
          <p:nvPr/>
        </p:nvSpPr>
        <p:spPr>
          <a:xfrm>
            <a:off x="347518" y="5487145"/>
            <a:ext cx="70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Department : Information Technology</a:t>
            </a:r>
            <a:b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800" dirty="0">
              <a:latin typeface="Gill Sans MT" panose="020B05020201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FA9BD9-0B59-0CB1-FCFF-430966DBC73C}"/>
              </a:ext>
            </a:extLst>
          </p:cNvPr>
          <p:cNvSpPr txBox="1"/>
          <p:nvPr/>
        </p:nvSpPr>
        <p:spPr>
          <a:xfrm>
            <a:off x="355866" y="5193220"/>
            <a:ext cx="70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Lecturer Name : Freedom Khubisa</a:t>
            </a:r>
            <a:b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800" dirty="0">
              <a:latin typeface="Gill Sans MT" panose="020B05020201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DD9054-924A-7DE5-D745-F4186AD7BA13}"/>
              </a:ext>
            </a:extLst>
          </p:cNvPr>
          <p:cNvSpPr txBox="1"/>
          <p:nvPr/>
        </p:nvSpPr>
        <p:spPr>
          <a:xfrm>
            <a:off x="851494" y="3245764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Subject Name: Applications Development Project Subject Code: APDP201</a:t>
            </a:r>
            <a:b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CA25FC-6557-A227-22CB-133965EA7243}"/>
              </a:ext>
            </a:extLst>
          </p:cNvPr>
          <p:cNvSpPr txBox="1"/>
          <p:nvPr/>
        </p:nvSpPr>
        <p:spPr>
          <a:xfrm>
            <a:off x="851494" y="2498637"/>
            <a:ext cx="77048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Testing and Debugging</a:t>
            </a:r>
            <a:b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4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30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endParaRPr lang="en-US" sz="2000" b="0" kern="1200" dirty="0">
              <a:latin typeface="Bebas Neue Regular" pitchFamily="34" charset="0"/>
              <a:ea typeface="+mj-ea"/>
              <a:cs typeface="+mj-cs"/>
            </a:endParaRP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dirty="0">
                <a:latin typeface="Bebas Neue Regular" pitchFamily="34" charset="0"/>
                <a:ea typeface="+mj-ea"/>
                <a:cs typeface="+mj-cs"/>
              </a:rPr>
              <a:t> 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FD119D-EB68-08CB-5742-7FCBE9D0459E}"/>
              </a:ext>
            </a:extLst>
          </p:cNvPr>
          <p:cNvSpPr txBox="1"/>
          <p:nvPr/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</a:pPr>
            <a:r>
              <a:rPr lang="en-US" sz="1400" b="1" kern="1200" dirty="0">
                <a:latin typeface="Gill Sans MT" pitchFamily="34" charset="0"/>
                <a:ea typeface="+mn-ea"/>
                <a:cs typeface="+mn-cs"/>
              </a:rPr>
              <a:t>Lesson Outline</a:t>
            </a:r>
          </a:p>
        </p:txBody>
      </p:sp>
      <p:graphicFrame>
        <p:nvGraphicFramePr>
          <p:cNvPr id="17" name="TextBox 4">
            <a:extLst>
              <a:ext uri="{FF2B5EF4-FFF2-40B4-BE49-F238E27FC236}">
                <a16:creationId xmlns:a16="http://schemas.microsoft.com/office/drawing/2014/main" id="{EAD9569C-053B-DAEB-69E6-BDC19B0C45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5971106"/>
              </p:ext>
            </p:extLst>
          </p:nvPr>
        </p:nvGraphicFramePr>
        <p:xfrm>
          <a:off x="2637226" y="970471"/>
          <a:ext cx="4255279" cy="49170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5611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24A4F-D6B6-FB82-87CC-A2427C490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2CFB629-5C1B-0AEF-D788-BD1CE507BFF0}"/>
              </a:ext>
            </a:extLst>
          </p:cNvPr>
          <p:cNvSpPr txBox="1"/>
          <p:nvPr/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dirty="0">
                <a:latin typeface="Bebas Neue Regular" pitchFamily="34" charset="0"/>
                <a:ea typeface="+mj-ea"/>
                <a:cs typeface="+mj-cs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5136A2-E3D4-76E1-1BCE-F19F2886CF56}"/>
              </a:ext>
            </a:extLst>
          </p:cNvPr>
          <p:cNvSpPr txBox="1"/>
          <p:nvPr/>
        </p:nvSpPr>
        <p:spPr>
          <a:xfrm>
            <a:off x="457199" y="1435100"/>
            <a:ext cx="3588589" cy="4691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>
                <a:solidFill>
                  <a:srgbClr val="C00000"/>
                </a:solidFill>
                <a:latin typeface="Gill Sans MT" panose="020B0502020104020203" pitchFamily="34" charset="0"/>
              </a:rPr>
              <a:t>Software Testing-</a:t>
            </a:r>
            <a:r>
              <a:rPr lang="en-ZA" dirty="0">
                <a:solidFill>
                  <a:srgbClr val="C00000"/>
                </a:solidFill>
                <a:latin typeface="Gill Sans MT" panose="020B0502020104020203" pitchFamily="34" charset="0"/>
              </a:rPr>
              <a:t> Process of evaluating a system or its components with the intent to find whether it satisfies requirements.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>
                <a:solidFill>
                  <a:srgbClr val="002060"/>
                </a:solidFill>
                <a:latin typeface="Gill Sans MT" panose="020B0502020104020203" pitchFamily="34" charset="0"/>
              </a:rPr>
              <a:t>Debugging- </a:t>
            </a:r>
            <a:r>
              <a:rPr lang="en-ZA" dirty="0">
                <a:solidFill>
                  <a:srgbClr val="002060"/>
                </a:solidFill>
                <a:latin typeface="Gill Sans MT" panose="020B0502020104020203" pitchFamily="34" charset="0"/>
              </a:rPr>
              <a:t>Process of identifying, analyzing, and removing errors (bugs) from the software.</a:t>
            </a:r>
          </a:p>
          <a:p>
            <a:r>
              <a:rPr lang="en-ZA" b="1" dirty="0">
                <a:latin typeface="Gill Sans MT" panose="020B0502020104020203" pitchFamily="34" charset="0"/>
              </a:rPr>
              <a:t>Importance</a:t>
            </a:r>
            <a:r>
              <a:rPr lang="en-ZA" dirty="0">
                <a:latin typeface="Gill Sans MT" panose="020B0502020104020203" pitchFamily="34" charset="0"/>
              </a:rPr>
              <a:t>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ZA" dirty="0">
                <a:latin typeface="Gill Sans MT" panose="020B0502020104020203" pitchFamily="34" charset="0"/>
              </a:rPr>
              <a:t>Ensures quality and reliability.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ZA" dirty="0">
                <a:latin typeface="Gill Sans MT" panose="020B0502020104020203" pitchFamily="34" charset="0"/>
              </a:rPr>
              <a:t>Saves cost and time in later stages.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ZA" dirty="0">
                <a:latin typeface="Gill Sans MT" panose="020B0502020104020203" pitchFamily="34" charset="0"/>
              </a:rPr>
              <a:t>Increases user satisfaction.</a:t>
            </a:r>
          </a:p>
          <a:p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1200" dirty="0">
              <a:latin typeface="Gill Sans MT" panose="020B0502020104020203" pitchFamily="34" charset="0"/>
            </a:endParaRPr>
          </a:p>
        </p:txBody>
      </p:sp>
      <p:pic>
        <p:nvPicPr>
          <p:cNvPr id="2050" name="Picture 2" descr="honestWork · ProgrammerHumor.io">
            <a:extLst>
              <a:ext uri="{FF2B5EF4-FFF2-40B4-BE49-F238E27FC236}">
                <a16:creationId xmlns:a16="http://schemas.microsoft.com/office/drawing/2014/main" id="{F81F6606-9811-1EE0-4F16-743892945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6891" y="1728400"/>
            <a:ext cx="3588589" cy="3636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4479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6BC13-80AB-0E69-D6B8-0D5DB3209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54ADB63-CA12-ABFD-1900-1F08A1B91285}"/>
              </a:ext>
            </a:extLst>
          </p:cNvPr>
          <p:cNvSpPr txBox="1"/>
          <p:nvPr/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dirty="0">
                <a:latin typeface="Bebas Neue Regular" pitchFamily="34" charset="0"/>
                <a:ea typeface="+mj-ea"/>
                <a:cs typeface="+mj-cs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BAA059-59FC-4B91-57AC-C06FB81D8399}"/>
              </a:ext>
            </a:extLst>
          </p:cNvPr>
          <p:cNvSpPr txBox="1"/>
          <p:nvPr/>
        </p:nvSpPr>
        <p:spPr>
          <a:xfrm>
            <a:off x="457201" y="1435100"/>
            <a:ext cx="2484408" cy="4691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>
                <a:latin typeface="Gill Sans MT" panose="020B0502020104020203" pitchFamily="34" charset="0"/>
              </a:rPr>
              <a:t>Detect defects early.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>
                <a:latin typeface="Gill Sans MT" panose="020B0502020104020203" pitchFamily="34" charset="0"/>
              </a:rPr>
              <a:t>Ensure the software meets functional &amp; non-functional requirements.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>
                <a:latin typeface="Gill Sans MT" panose="020B0502020104020203" pitchFamily="34" charset="0"/>
              </a:rPr>
              <a:t>Validate performance under various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>
                <a:latin typeface="Gill Sans MT" panose="020B0502020104020203" pitchFamily="34" charset="0"/>
              </a:rPr>
              <a:t>Reduce risk of failure.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>
                <a:latin typeface="Gill Sans MT" panose="020B0502020104020203" pitchFamily="34" charset="0"/>
              </a:rPr>
              <a:t>Example: Testing an </a:t>
            </a:r>
            <a:r>
              <a:rPr lang="en-ZA" sz="1600" b="1" dirty="0">
                <a:latin typeface="Gill Sans MT" panose="020B0502020104020203" pitchFamily="34" charset="0"/>
              </a:rPr>
              <a:t>e-commerce app</a:t>
            </a:r>
            <a:r>
              <a:rPr lang="en-ZA" sz="1600" dirty="0">
                <a:latin typeface="Gill Sans MT" panose="020B0502020104020203" pitchFamily="34" charset="0"/>
              </a:rPr>
              <a:t> to ensure smooth checkout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1200" dirty="0">
              <a:latin typeface="Gill Sans MT" panose="020B0502020104020203" pitchFamily="34" charset="0"/>
            </a:endParaRPr>
          </a:p>
        </p:txBody>
      </p:sp>
      <p:pic>
        <p:nvPicPr>
          <p:cNvPr id="1031" name="Picture 7" descr="Developer vs Tester">
            <a:extLst>
              <a:ext uri="{FF2B5EF4-FFF2-40B4-BE49-F238E27FC236}">
                <a16:creationId xmlns:a16="http://schemas.microsoft.com/office/drawing/2014/main" id="{87C2AAF3-371F-E565-462C-F6C089F3B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4619" y="1259518"/>
            <a:ext cx="4127739" cy="4127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3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079A9-FA56-DF80-55F6-5120D5B2D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B23A4D2-3966-5889-FA69-8711666A6EC2}"/>
              </a:ext>
            </a:extLst>
          </p:cNvPr>
          <p:cNvSpPr txBox="1"/>
          <p:nvPr/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dirty="0">
                <a:latin typeface="Bebas Neue Regular" pitchFamily="34" charset="0"/>
                <a:ea typeface="+mj-ea"/>
                <a:cs typeface="+mj-cs"/>
              </a:rPr>
              <a:t>Types of 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8CA8D1-A5B5-CFF6-5503-F519E11A3EFC}"/>
              </a:ext>
            </a:extLst>
          </p:cNvPr>
          <p:cNvSpPr txBox="1"/>
          <p:nvPr/>
        </p:nvSpPr>
        <p:spPr>
          <a:xfrm>
            <a:off x="457200" y="1633507"/>
            <a:ext cx="3008313" cy="4691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ZA" dirty="0">
                <a:latin typeface="Gill Sans MT" panose="020B0502020104020203" pitchFamily="34" charset="0"/>
              </a:rPr>
              <a:t>Manual Testing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ZA" dirty="0">
                <a:latin typeface="Gill Sans MT" panose="020B0502020104020203" pitchFamily="34" charset="0"/>
              </a:rPr>
              <a:t>Automation Testing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ZA" dirty="0">
                <a:latin typeface="Gill Sans MT" panose="020B0502020104020203" pitchFamily="34" charset="0"/>
              </a:rPr>
              <a:t>Black Box Testing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ZA" dirty="0">
                <a:latin typeface="Gill Sans MT" panose="020B0502020104020203" pitchFamily="34" charset="0"/>
              </a:rPr>
              <a:t>White Box Testing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ZA" dirty="0">
                <a:latin typeface="Gill Sans MT" panose="020B0502020104020203" pitchFamily="34" charset="0"/>
              </a:rPr>
              <a:t>Unit Testing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ZA" dirty="0">
                <a:latin typeface="Gill Sans MT" panose="020B0502020104020203" pitchFamily="34" charset="0"/>
              </a:rPr>
              <a:t>Integration Testing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ZA" dirty="0">
                <a:latin typeface="Gill Sans MT" panose="020B0502020104020203" pitchFamily="34" charset="0"/>
              </a:rPr>
              <a:t>System Testing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ZA" dirty="0">
                <a:latin typeface="Gill Sans MT" panose="020B0502020104020203" pitchFamily="34" charset="0"/>
              </a:rPr>
              <a:t>Acceptance Testing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ZA" dirty="0">
                <a:latin typeface="Gill Sans MT" panose="020B0502020104020203" pitchFamily="34" charset="0"/>
              </a:rPr>
              <a:t>Regression Testing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ZA" dirty="0">
                <a:latin typeface="Gill Sans MT" panose="020B0502020104020203" pitchFamily="34" charset="0"/>
              </a:rPr>
              <a:t>Performance/Load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1200" dirty="0">
              <a:latin typeface="Gill Sans MT" panose="020B0502020104020203" pitchFamily="34" charset="0"/>
            </a:endParaRPr>
          </a:p>
        </p:txBody>
      </p:sp>
      <p:pic>
        <p:nvPicPr>
          <p:cNvPr id="3074" name="Picture 2" descr="Types of Software Testing - GeeksforGeeks">
            <a:extLst>
              <a:ext uri="{FF2B5EF4-FFF2-40B4-BE49-F238E27FC236}">
                <a16:creationId xmlns:a16="http://schemas.microsoft.com/office/drawing/2014/main" id="{D93C0933-0BF2-F188-4B9B-523F25588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5405" y="1633507"/>
            <a:ext cx="4925155" cy="377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3839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5907F-629C-A4B5-7605-31D5FF583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9D9107F-5CEB-7133-A8D6-E97ACFA72DA1}"/>
              </a:ext>
            </a:extLst>
          </p:cNvPr>
          <p:cNvSpPr txBox="1"/>
          <p:nvPr/>
        </p:nvSpPr>
        <p:spPr>
          <a:xfrm>
            <a:off x="457200" y="471457"/>
            <a:ext cx="3950898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dirty="0">
                <a:latin typeface="Bebas Neue Regular" pitchFamily="34" charset="0"/>
                <a:ea typeface="+mj-ea"/>
                <a:cs typeface="+mj-cs"/>
              </a:rPr>
              <a:t>Manual vs. automation testing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296FCD-92B9-DC40-75C0-12DC2DC91D51}"/>
              </a:ext>
            </a:extLst>
          </p:cNvPr>
          <p:cNvSpPr txBox="1"/>
          <p:nvPr/>
        </p:nvSpPr>
        <p:spPr>
          <a:xfrm>
            <a:off x="172528" y="1645248"/>
            <a:ext cx="3726612" cy="46910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b="1" dirty="0">
                <a:latin typeface="Gill Sans MT" panose="020B0502020104020203" pitchFamily="34" charset="0"/>
              </a:rPr>
              <a:t>Manual Testing</a:t>
            </a:r>
          </a:p>
          <a:p>
            <a:pPr lvl="0"/>
            <a:r>
              <a:rPr lang="en-ZA" dirty="0">
                <a:latin typeface="Gill Sans MT" panose="020B0502020104020203" pitchFamily="34" charset="0"/>
              </a:rPr>
              <a:t>Human executes test cases without tools.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Example: Checking a Login, Registration and CRUD functionality of an ASP.NET MVC app.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Tools: TestRail for test case management and browser developer tools.</a:t>
            </a:r>
          </a:p>
          <a:p>
            <a:pPr lvl="0"/>
            <a:r>
              <a:rPr lang="en-ZA" b="1" dirty="0">
                <a:solidFill>
                  <a:srgbClr val="00B050"/>
                </a:solidFill>
                <a:latin typeface="Gill Sans MT" panose="020B0502020104020203" pitchFamily="34" charset="0"/>
              </a:rPr>
              <a:t>Automation Testing</a:t>
            </a:r>
          </a:p>
          <a:p>
            <a:pPr lvl="0"/>
            <a:r>
              <a:rPr lang="en-ZA" dirty="0">
                <a:solidFill>
                  <a:srgbClr val="00B050"/>
                </a:solidFill>
                <a:latin typeface="Gill Sans MT" panose="020B0502020104020203" pitchFamily="34" charset="0"/>
              </a:rPr>
              <a:t>Scripts &amp; tools perform tests.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00B050"/>
                </a:solidFill>
                <a:latin typeface="Gill Sans MT" panose="020B0502020104020203" pitchFamily="34" charset="0"/>
              </a:rPr>
              <a:t>Example: Selenium running automated login tests.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00B050"/>
                </a:solidFill>
                <a:latin typeface="Gill Sans MT" panose="020B0502020104020203" pitchFamily="34" charset="0"/>
              </a:rPr>
              <a:t>Tools: Selenium, WebDriver, xUnit, MSTest, Cypress, Cypress.</a:t>
            </a:r>
            <a:endParaRPr lang="en-US" sz="2000" kern="1200" dirty="0">
              <a:solidFill>
                <a:srgbClr val="00B050"/>
              </a:solidFill>
              <a:latin typeface="Gill Sans MT" panose="020B0502020104020203" pitchFamily="34" charset="0"/>
            </a:endParaRPr>
          </a:p>
        </p:txBody>
      </p:sp>
      <p:sp>
        <p:nvSpPr>
          <p:cNvPr id="2" name="AutoShape 2" descr="Manual Testing vs Automation Testing: Which is Better? | Relia Software">
            <a:extLst>
              <a:ext uri="{FF2B5EF4-FFF2-40B4-BE49-F238E27FC236}">
                <a16:creationId xmlns:a16="http://schemas.microsoft.com/office/drawing/2014/main" id="{A24606B5-69F1-C9CF-0E30-975BE12B2B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4100" name="Picture 4" descr="Visually searched image">
            <a:extLst>
              <a:ext uri="{FF2B5EF4-FFF2-40B4-BE49-F238E27FC236}">
                <a16:creationId xmlns:a16="http://schemas.microsoft.com/office/drawing/2014/main" id="{218B4C1E-C2EA-6369-DC1C-D35638E9F0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7"/>
          <a:stretch>
            <a:fillRect/>
          </a:stretch>
        </p:blipFill>
        <p:spPr bwMode="auto">
          <a:xfrm>
            <a:off x="3899140" y="2446451"/>
            <a:ext cx="5244860" cy="2898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9222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CCF73-6FE3-49B3-ECCE-771FB70C3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8F023B1-CFB7-0FFF-E7C0-CBF28B9170EB}"/>
              </a:ext>
            </a:extLst>
          </p:cNvPr>
          <p:cNvSpPr txBox="1"/>
          <p:nvPr/>
        </p:nvSpPr>
        <p:spPr>
          <a:xfrm>
            <a:off x="457200" y="471457"/>
            <a:ext cx="3950898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dirty="0">
                <a:latin typeface="Bebas Neue Regular" pitchFamily="34" charset="0"/>
                <a:ea typeface="+mj-ea"/>
                <a:cs typeface="+mj-cs"/>
              </a:rPr>
              <a:t>Black box vs. white box testing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5FFF8-5C33-9162-4AA2-A19CA509B67C}"/>
              </a:ext>
            </a:extLst>
          </p:cNvPr>
          <p:cNvSpPr txBox="1"/>
          <p:nvPr/>
        </p:nvSpPr>
        <p:spPr>
          <a:xfrm>
            <a:off x="483079" y="1695480"/>
            <a:ext cx="3502325" cy="4691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r>
              <a:rPr lang="en-ZA" b="1" dirty="0">
                <a:latin typeface="Gill Sans MT" panose="020B0502020104020203" pitchFamily="34" charset="0"/>
              </a:rPr>
              <a:t>Black Box Testing</a:t>
            </a:r>
            <a:endParaRPr lang="en-ZA" dirty="0">
              <a:latin typeface="Gill Sans MT" panose="020B050202010402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Focus on </a:t>
            </a:r>
            <a:r>
              <a:rPr lang="en-ZA" i="1" dirty="0">
                <a:latin typeface="Gill Sans MT" panose="020B0502020104020203" pitchFamily="34" charset="0"/>
              </a:rPr>
              <a:t>inputs &amp; outputs</a:t>
            </a:r>
            <a:r>
              <a:rPr lang="en-ZA" dirty="0">
                <a:latin typeface="Gill Sans MT" panose="020B0502020104020203" pitchFamily="34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Internal logic not considered.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Testing an ATM withdrawal process (example).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Tools: Selenium, QTP.</a:t>
            </a:r>
          </a:p>
          <a:p>
            <a:endParaRPr lang="en-ZA" b="1" dirty="0">
              <a:latin typeface="Gill Sans MT" panose="020B0502020104020203" pitchFamily="34" charset="0"/>
            </a:endParaRPr>
          </a:p>
          <a:p>
            <a:r>
              <a:rPr lang="en-ZA" b="1" dirty="0">
                <a:latin typeface="Gill Sans MT" panose="020B0502020104020203" pitchFamily="34" charset="0"/>
              </a:rPr>
              <a:t>White Box Testing</a:t>
            </a:r>
            <a:endParaRPr lang="en-ZA" dirty="0">
              <a:latin typeface="Gill Sans MT" panose="020B050202010402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Focus on </a:t>
            </a:r>
            <a:r>
              <a:rPr lang="en-ZA" i="1" dirty="0">
                <a:latin typeface="Gill Sans MT" panose="020B0502020104020203" pitchFamily="34" charset="0"/>
              </a:rPr>
              <a:t>internal code structure</a:t>
            </a:r>
            <a:r>
              <a:rPr lang="en-ZA" dirty="0">
                <a:latin typeface="Gill Sans MT" panose="020B0502020104020203" pitchFamily="34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Verifying loop conditions (example) </a:t>
            </a:r>
            <a:endParaRPr lang="en-US" sz="2000" kern="1200" dirty="0">
              <a:solidFill>
                <a:srgbClr val="00B050"/>
              </a:solidFill>
              <a:latin typeface="Gill Sans MT" panose="020B0502020104020203" pitchFamily="34" charset="0"/>
            </a:endParaRPr>
          </a:p>
        </p:txBody>
      </p:sp>
      <p:sp>
        <p:nvSpPr>
          <p:cNvPr id="2" name="AutoShape 2" descr="Manual Testing vs Automation Testing: Which is Better? | Relia Software">
            <a:extLst>
              <a:ext uri="{FF2B5EF4-FFF2-40B4-BE49-F238E27FC236}">
                <a16:creationId xmlns:a16="http://schemas.microsoft.com/office/drawing/2014/main" id="{C2FE019F-510B-DEE3-D3F5-94BEE50709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5122" name="Picture 2" descr="A Guide To: White Box, Black Box, and Gray Box testing. | Careerist Blog">
            <a:extLst>
              <a:ext uri="{FF2B5EF4-FFF2-40B4-BE49-F238E27FC236}">
                <a16:creationId xmlns:a16="http://schemas.microsoft.com/office/drawing/2014/main" id="{354B1530-41B0-ABAB-AC60-A6FCD05FB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4634" y="2152650"/>
            <a:ext cx="486228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5989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8587C-E67E-3264-AD1C-72C5E0807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27AC093-7512-E6DB-4364-718F4ECBACC2}"/>
              </a:ext>
            </a:extLst>
          </p:cNvPr>
          <p:cNvSpPr txBox="1"/>
          <p:nvPr/>
        </p:nvSpPr>
        <p:spPr>
          <a:xfrm>
            <a:off x="483079" y="152279"/>
            <a:ext cx="5443268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ZA" sz="2400" b="1" dirty="0">
                <a:latin typeface="Gill Sans MT" panose="020B0502020104020203" pitchFamily="34" charset="0"/>
              </a:rPr>
              <a:t>Unit, Integration &amp; System Testing</a:t>
            </a:r>
            <a:endParaRPr lang="en-ZA" sz="2400" dirty="0">
              <a:latin typeface="Gill Sans MT" panose="020B05020201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F121A-4883-B8A6-FB04-DF9E0F366E4E}"/>
              </a:ext>
            </a:extLst>
          </p:cNvPr>
          <p:cNvSpPr txBox="1"/>
          <p:nvPr/>
        </p:nvSpPr>
        <p:spPr>
          <a:xfrm>
            <a:off x="483079" y="1235868"/>
            <a:ext cx="3790341" cy="4691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r>
              <a:rPr lang="en-ZA" b="1" dirty="0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0"/>
              </a:rPr>
              <a:t>Unit Testing</a:t>
            </a:r>
            <a:endParaRPr lang="en-ZA" dirty="0">
              <a:solidFill>
                <a:schemeClr val="accent6">
                  <a:lumMod val="75000"/>
                </a:schemeClr>
              </a:solidFill>
              <a:latin typeface="Gill Sans MT" panose="020B050202010402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Test individual modules/components/features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E.g. Testing a payment calculator function</a:t>
            </a:r>
            <a:endParaRPr lang="en-ZA" b="1" dirty="0">
              <a:latin typeface="Gill Sans MT" panose="020B0502020104020203" pitchFamily="34" charset="0"/>
            </a:endParaRPr>
          </a:p>
          <a:p>
            <a:r>
              <a:rPr lang="en-ZA" b="1" dirty="0">
                <a:solidFill>
                  <a:srgbClr val="00B050"/>
                </a:solidFill>
                <a:latin typeface="Gill Sans MT" panose="020B0502020104020203" pitchFamily="34" charset="0"/>
              </a:rPr>
              <a:t>Integration Testing</a:t>
            </a:r>
            <a:endParaRPr lang="en-ZA" dirty="0">
              <a:solidFill>
                <a:srgbClr val="00B050"/>
              </a:solidFill>
              <a:latin typeface="Gill Sans MT" panose="020B050202010402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Verify modules working together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E.g. Payment feature with order DB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kern="1200" dirty="0">
                <a:solidFill>
                  <a:srgbClr val="00B050"/>
                </a:solidFill>
                <a:latin typeface="Gill Sans MT" panose="020B0502020104020203" pitchFamily="34" charset="0"/>
              </a:rPr>
              <a:t>Tools – Postman (API)</a:t>
            </a:r>
          </a:p>
          <a:p>
            <a:r>
              <a:rPr lang="en-ZA" b="1" dirty="0">
                <a:solidFill>
                  <a:srgbClr val="00B0F0"/>
                </a:solidFill>
                <a:latin typeface="Gill Sans MT" panose="020B0502020104020203" pitchFamily="34" charset="0"/>
              </a:rPr>
              <a:t>System (End-to-End) Testing</a:t>
            </a:r>
            <a:endParaRPr lang="en-ZA" dirty="0">
              <a:solidFill>
                <a:srgbClr val="00B0F0"/>
              </a:solidFill>
              <a:latin typeface="Gill Sans MT" panose="020B050202010402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Test system as a whole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Complete e-commerce app workflow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000" kern="1200" dirty="0">
              <a:solidFill>
                <a:srgbClr val="00B050"/>
              </a:solidFill>
              <a:latin typeface="Gill Sans MT" panose="020B0502020104020203" pitchFamily="34" charset="0"/>
            </a:endParaRPr>
          </a:p>
        </p:txBody>
      </p:sp>
      <p:sp>
        <p:nvSpPr>
          <p:cNvPr id="2" name="AutoShape 2" descr="Manual Testing vs Automation Testing: Which is Better? | Relia Software">
            <a:extLst>
              <a:ext uri="{FF2B5EF4-FFF2-40B4-BE49-F238E27FC236}">
                <a16:creationId xmlns:a16="http://schemas.microsoft.com/office/drawing/2014/main" id="{B66AECAC-1F5A-ED43-3638-E6D1AE4912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6146" name="Picture 2" descr="Unit Tests vs Integration Tests vs End-to-end Tests">
            <a:extLst>
              <a:ext uri="{FF2B5EF4-FFF2-40B4-BE49-F238E27FC236}">
                <a16:creationId xmlns:a16="http://schemas.microsoft.com/office/drawing/2014/main" id="{CB815BD7-989B-B135-9741-91DCDE9E16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6"/>
          <a:stretch>
            <a:fillRect/>
          </a:stretch>
        </p:blipFill>
        <p:spPr bwMode="auto">
          <a:xfrm>
            <a:off x="4198776" y="3073950"/>
            <a:ext cx="4945224" cy="2636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6592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D88DB-20D7-149B-B140-03370E4E5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D0B763C-E4E0-7044-DDAC-A3FD93A03EAD}"/>
              </a:ext>
            </a:extLst>
          </p:cNvPr>
          <p:cNvSpPr txBox="1"/>
          <p:nvPr/>
        </p:nvSpPr>
        <p:spPr>
          <a:xfrm>
            <a:off x="293297" y="731892"/>
            <a:ext cx="5418599" cy="6821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r>
              <a:rPr lang="en-ZA" sz="2400" b="1" dirty="0">
                <a:latin typeface="Gill Sans MT" panose="020B0502020104020203" pitchFamily="34" charset="0"/>
              </a:rPr>
              <a:t>Performance, Load and Security Testing</a:t>
            </a:r>
            <a:endParaRPr lang="en-ZA" sz="2400" dirty="0">
              <a:latin typeface="Gill Sans MT" panose="020B05020201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A32619-652F-A167-7DFE-024634C1FE98}"/>
              </a:ext>
            </a:extLst>
          </p:cNvPr>
          <p:cNvSpPr txBox="1"/>
          <p:nvPr/>
        </p:nvSpPr>
        <p:spPr>
          <a:xfrm>
            <a:off x="293297" y="1674407"/>
            <a:ext cx="4574756" cy="4691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r>
              <a:rPr lang="en-ZA" dirty="0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0"/>
              </a:rPr>
              <a:t>Performance Testing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Check responsiveness and stability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Web app page load speed under heavy traffic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sz="1400" dirty="0">
                <a:latin typeface="Gill Sans MT" panose="020B0502020104020203" pitchFamily="34" charset="0"/>
              </a:rPr>
              <a:t>Tools (Jmeter, LoadRunner)</a:t>
            </a:r>
          </a:p>
          <a:p>
            <a:r>
              <a:rPr lang="en-ZA" b="1" dirty="0">
                <a:solidFill>
                  <a:srgbClr val="00B050"/>
                </a:solidFill>
                <a:latin typeface="Gill Sans MT" panose="020B0502020104020203" pitchFamily="34" charset="0"/>
              </a:rPr>
              <a:t>Load Testing</a:t>
            </a:r>
            <a:endParaRPr lang="en-ZA" dirty="0">
              <a:solidFill>
                <a:srgbClr val="00B050"/>
              </a:solidFill>
              <a:latin typeface="Gill Sans MT" panose="020B050202010402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Check system behaviour under expected load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500k users logging in simultaneously</a:t>
            </a:r>
          </a:p>
          <a:p>
            <a:r>
              <a:rPr lang="en-ZA" b="1" dirty="0">
                <a:solidFill>
                  <a:srgbClr val="FF0000"/>
                </a:solidFill>
                <a:latin typeface="Gill Sans MT" panose="020B0502020104020203" pitchFamily="34" charset="0"/>
              </a:rPr>
              <a:t>Security Testing</a:t>
            </a:r>
            <a:endParaRPr lang="en-ZA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Test system as a whole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Complete e-commerce app workflow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000" kern="1200" dirty="0">
              <a:solidFill>
                <a:srgbClr val="00B050"/>
              </a:solidFill>
              <a:latin typeface="Gill Sans MT" panose="020B0502020104020203" pitchFamily="34" charset="0"/>
            </a:endParaRPr>
          </a:p>
        </p:txBody>
      </p:sp>
      <p:sp>
        <p:nvSpPr>
          <p:cNvPr id="2" name="AutoShape 2" descr="Manual Testing vs Automation Testing: Which is Better? | Relia Software">
            <a:extLst>
              <a:ext uri="{FF2B5EF4-FFF2-40B4-BE49-F238E27FC236}">
                <a16:creationId xmlns:a16="http://schemas.microsoft.com/office/drawing/2014/main" id="{BE04A33C-43DF-B73E-3F60-330D6174A2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7170" name="Picture 2" descr="Types of Performance Testing - Everything You Need to Know | Abstracta">
            <a:extLst>
              <a:ext uri="{FF2B5EF4-FFF2-40B4-BE49-F238E27FC236}">
                <a16:creationId xmlns:a16="http://schemas.microsoft.com/office/drawing/2014/main" id="{28AE2807-35D3-F8ED-355F-402845FF6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053" y="3165613"/>
            <a:ext cx="4275947" cy="2577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4" descr="Performance Testing vs Load Testing | PractiTest">
            <a:extLst>
              <a:ext uri="{FF2B5EF4-FFF2-40B4-BE49-F238E27FC236}">
                <a16:creationId xmlns:a16="http://schemas.microsoft.com/office/drawing/2014/main" id="{635A5064-2371-45F5-1B27-77FB4B4F47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7174" name="Picture 6" descr="Best Load, Stress, Performance Testing Services Company">
            <a:extLst>
              <a:ext uri="{FF2B5EF4-FFF2-40B4-BE49-F238E27FC236}">
                <a16:creationId xmlns:a16="http://schemas.microsoft.com/office/drawing/2014/main" id="{9FAECE7E-DC3A-1D69-F894-7C00F5E12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9283" y="1218042"/>
            <a:ext cx="2686050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6601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F2142-FCCD-5F38-239B-D7A280150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E831995-C41B-5315-89AC-6C1F769CD8E1}"/>
              </a:ext>
            </a:extLst>
          </p:cNvPr>
          <p:cNvSpPr txBox="1"/>
          <p:nvPr/>
        </p:nvSpPr>
        <p:spPr>
          <a:xfrm>
            <a:off x="293297" y="831944"/>
            <a:ext cx="5418599" cy="6821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ZA" sz="2400" b="1" dirty="0">
                <a:latin typeface="Gill Sans MT" panose="020B0502020104020203" pitchFamily="34" charset="0"/>
              </a:rPr>
              <a:t>Debugging – Process &amp; Tools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972E9B-7B7E-7810-1DAA-73D706DFFF80}"/>
              </a:ext>
            </a:extLst>
          </p:cNvPr>
          <p:cNvSpPr txBox="1"/>
          <p:nvPr/>
        </p:nvSpPr>
        <p:spPr>
          <a:xfrm>
            <a:off x="487102" y="1590320"/>
            <a:ext cx="3161167" cy="4691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Reproduce the bug.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Isolate the source of error.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Analyze cause.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Fix the issue.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Test the fix.</a:t>
            </a:r>
          </a:p>
          <a:p>
            <a:r>
              <a:rPr lang="en-ZA" b="1" dirty="0">
                <a:latin typeface="Gill Sans MT" panose="020B0502020104020203" pitchFamily="34" charset="0"/>
              </a:rPr>
              <a:t>Debugging Tools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IDE Debuggers (Eclipse, VS Code).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Chrome </a:t>
            </a:r>
            <a:r>
              <a:rPr lang="en-ZA" dirty="0" err="1">
                <a:latin typeface="Gill Sans MT" panose="020B0502020104020203" pitchFamily="34" charset="0"/>
              </a:rPr>
              <a:t>DevTools</a:t>
            </a:r>
            <a:r>
              <a:rPr lang="en-ZA" dirty="0">
                <a:latin typeface="Gill Sans MT" panose="020B0502020104020203" pitchFamily="34" charset="0"/>
              </a:rPr>
              <a:t> (for web).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GDB (for C/C++).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000" kern="1200" dirty="0">
              <a:solidFill>
                <a:srgbClr val="00B050"/>
              </a:solidFill>
              <a:latin typeface="Gill Sans MT" panose="020B0502020104020203" pitchFamily="34" charset="0"/>
            </a:endParaRPr>
          </a:p>
        </p:txBody>
      </p:sp>
      <p:sp>
        <p:nvSpPr>
          <p:cNvPr id="2" name="AutoShape 2" descr="Manual Testing vs Automation Testing: Which is Better? | Relia Software">
            <a:extLst>
              <a:ext uri="{FF2B5EF4-FFF2-40B4-BE49-F238E27FC236}">
                <a16:creationId xmlns:a16="http://schemas.microsoft.com/office/drawing/2014/main" id="{1C830DE0-19EE-A854-79AB-D1D5165D60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sp>
        <p:nvSpPr>
          <p:cNvPr id="6" name="AutoShape 4" descr="Performance Testing vs Load Testing | PractiTest">
            <a:extLst>
              <a:ext uri="{FF2B5EF4-FFF2-40B4-BE49-F238E27FC236}">
                <a16:creationId xmlns:a16="http://schemas.microsoft.com/office/drawing/2014/main" id="{D6F85DC1-FC0E-2E2D-940D-CFA3A0219A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9218" name="Picture 2" descr="What is Debugging? Different Stages of ...">
            <a:extLst>
              <a:ext uri="{FF2B5EF4-FFF2-40B4-BE49-F238E27FC236}">
                <a16:creationId xmlns:a16="http://schemas.microsoft.com/office/drawing/2014/main" id="{8FFEC500-B476-AD97-2434-581BE68EB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3176" y="3238145"/>
            <a:ext cx="3588725" cy="1991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What is Debugging? Different Stages of Debugging | Edureka">
            <a:extLst>
              <a:ext uri="{FF2B5EF4-FFF2-40B4-BE49-F238E27FC236}">
                <a16:creationId xmlns:a16="http://schemas.microsoft.com/office/drawing/2014/main" id="{F7DE8409-87CE-D035-9C82-9A0E05316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600" y="1419985"/>
            <a:ext cx="2857500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011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71BE8-D8FC-C79B-5E00-C32FA9D95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E9AB11C-2AEF-A6D3-738B-E2B822D577B4}"/>
              </a:ext>
            </a:extLst>
          </p:cNvPr>
          <p:cNvSpPr txBox="1"/>
          <p:nvPr/>
        </p:nvSpPr>
        <p:spPr>
          <a:xfrm>
            <a:off x="379562" y="84287"/>
            <a:ext cx="3008313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dirty="0">
                <a:latin typeface="Bebas Neue Regular" pitchFamily="34" charset="0"/>
                <a:ea typeface="+mj-ea"/>
                <a:cs typeface="+mj-cs"/>
              </a:rPr>
              <a:t>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1E1FE2-6A74-4BCD-89D1-DE891DC7264D}"/>
              </a:ext>
            </a:extLst>
          </p:cNvPr>
          <p:cNvSpPr txBox="1"/>
          <p:nvPr/>
        </p:nvSpPr>
        <p:spPr>
          <a:xfrm>
            <a:off x="174719" y="1246337"/>
            <a:ext cx="4705191" cy="4691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>
                <a:latin typeface="Gill Sans MT" panose="020B0502020104020203" pitchFamily="34" charset="0"/>
              </a:rPr>
              <a:t>Testing</a:t>
            </a:r>
            <a:r>
              <a:rPr lang="en-ZA" dirty="0">
                <a:latin typeface="Gill Sans MT" panose="020B0502020104020203" pitchFamily="34" charset="0"/>
              </a:rPr>
              <a:t> ensures correctness, reliability, and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>
                <a:latin typeface="Gill Sans MT" panose="020B0502020104020203" pitchFamily="34" charset="0"/>
              </a:rPr>
              <a:t>Debugging </a:t>
            </a:r>
            <a:r>
              <a:rPr lang="en-ZA" dirty="0">
                <a:latin typeface="Gill Sans MT" panose="020B0502020104020203" pitchFamily="34" charset="0"/>
              </a:rPr>
              <a:t>helps trace and fix errors.</a:t>
            </a:r>
          </a:p>
          <a:p>
            <a:endParaRPr lang="en-ZA" b="1" dirty="0">
              <a:latin typeface="Gill Sans MT" panose="020B0502020104020203" pitchFamily="34" charset="0"/>
            </a:endParaRPr>
          </a:p>
          <a:p>
            <a:r>
              <a:rPr lang="en-ZA" b="1" dirty="0">
                <a:solidFill>
                  <a:srgbClr val="00B050"/>
                </a:solidFill>
                <a:latin typeface="Gill Sans MT" panose="020B0502020104020203" pitchFamily="34" charset="0"/>
              </a:rPr>
              <a:t>Best Practices</a:t>
            </a:r>
            <a:endParaRPr lang="en-ZA" dirty="0">
              <a:solidFill>
                <a:srgbClr val="00B050"/>
              </a:solidFill>
              <a:latin typeface="Gill Sans MT" panose="020B050202010402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Test early, test often (shift-left approach).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Automate repetitive tasks.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Document bugs clearly.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Use CI/CD pipelines for continuous testing.</a:t>
            </a:r>
          </a:p>
          <a:p>
            <a:endParaRPr lang="en-ZA" dirty="0">
              <a:latin typeface="Gill Sans MT" panose="020B0502020104020203" pitchFamily="34" charset="0"/>
            </a:endParaRPr>
          </a:p>
          <a:p>
            <a:endParaRPr lang="en-ZA" b="1" dirty="0">
              <a:latin typeface="Gill Sans MT" panose="020B0502020104020203" pitchFamily="34" charset="0"/>
            </a:endParaRPr>
          </a:p>
          <a:p>
            <a:r>
              <a:rPr lang="en-ZA" b="1" dirty="0">
                <a:latin typeface="Gill Sans MT" panose="020B0502020104020203" pitchFamily="34" charset="0"/>
              </a:rPr>
              <a:t>Key Takeaway</a:t>
            </a:r>
            <a:br>
              <a:rPr lang="en-ZA" dirty="0">
                <a:solidFill>
                  <a:srgbClr val="FF0000"/>
                </a:solidFill>
                <a:latin typeface="Gill Sans MT" panose="020B0502020104020203" pitchFamily="34" charset="0"/>
              </a:rPr>
            </a:br>
            <a:r>
              <a:rPr lang="en-ZA" dirty="0">
                <a:solidFill>
                  <a:srgbClr val="FF0000"/>
                </a:solidFill>
                <a:latin typeface="Gill Sans MT" panose="020B0502020104020203" pitchFamily="34" charset="0"/>
              </a:rPr>
              <a:t>Quality software = Systematic Testing + Effective Debugging.</a:t>
            </a:r>
            <a:endParaRPr lang="en-US" sz="1400" kern="1200" dirty="0">
              <a:solidFill>
                <a:srgbClr val="FF0000"/>
              </a:solidFill>
              <a:latin typeface="Gill Sans MT" panose="020B0502020104020203" pitchFamily="34" charset="0"/>
            </a:endParaRPr>
          </a:p>
        </p:txBody>
      </p:sp>
      <p:sp>
        <p:nvSpPr>
          <p:cNvPr id="3" name="AutoShape 4" descr="Teamwork Challenges And How To Overcome Them - Engagedly">
            <a:extLst>
              <a:ext uri="{FF2B5EF4-FFF2-40B4-BE49-F238E27FC236}">
                <a16:creationId xmlns:a16="http://schemas.microsoft.com/office/drawing/2014/main" id="{922822B6-5FF1-8FB8-92B8-EE7F9B945E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8194" name="Picture 2" descr="Both..Both are.. · ProgrammerHumor.io">
            <a:extLst>
              <a:ext uri="{FF2B5EF4-FFF2-40B4-BE49-F238E27FC236}">
                <a16:creationId xmlns:a16="http://schemas.microsoft.com/office/drawing/2014/main" id="{495E1098-010B-BD0E-84EC-F2870925A3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56" b="10319"/>
          <a:stretch>
            <a:fillRect/>
          </a:stretch>
        </p:blipFill>
        <p:spPr bwMode="auto">
          <a:xfrm>
            <a:off x="5609466" y="1171290"/>
            <a:ext cx="3248807" cy="4378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Take away bag in flat style coffee shop logo vector template | Premium  Vector">
            <a:extLst>
              <a:ext uri="{FF2B5EF4-FFF2-40B4-BE49-F238E27FC236}">
                <a16:creationId xmlns:a16="http://schemas.microsoft.com/office/drawing/2014/main" id="{196160B6-4AA9-1797-91AF-8D8E62B5C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626" y="4919216"/>
            <a:ext cx="1018184" cy="1018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9049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7959487"/>
      </p:ext>
    </p:extLst>
  </p:cSld>
  <p:clrMapOvr>
    <a:masterClrMapping/>
  </p:clrMapOvr>
</p:sld>
</file>

<file path=ppt/theme/theme1.xml><?xml version="1.0" encoding="utf-8"?>
<a:theme xmlns:a="http://schemas.openxmlformats.org/drawingml/2006/main" name="generic blank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ounting and Informatics template 2020.potx" id="{90B5CCEE-459C-40A1-A6E9-78854B6547F8}" vid="{BDD131C4-5AFA-465E-B77D-77615B8DEC1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D5C8B8732F1B4989C4A9A4007E691B" ma:contentTypeVersion="18" ma:contentTypeDescription="Create a new document." ma:contentTypeScope="" ma:versionID="a29d18a521920050faf93b3b3d620ac3">
  <xsd:schema xmlns:xsd="http://www.w3.org/2001/XMLSchema" xmlns:xs="http://www.w3.org/2001/XMLSchema" xmlns:p="http://schemas.microsoft.com/office/2006/metadata/properties" xmlns:ns3="cd74156a-46fa-43d9-bd7e-fe713d4c2eba" xmlns:ns4="12ba21df-bb88-4025-83ae-426da46fe9de" targetNamespace="http://schemas.microsoft.com/office/2006/metadata/properties" ma:root="true" ma:fieldsID="da0501c162deb815340c8282fea96e03" ns3:_="" ns4:_="">
    <xsd:import namespace="cd74156a-46fa-43d9-bd7e-fe713d4c2eba"/>
    <xsd:import namespace="12ba21df-bb88-4025-83ae-426da46fe9d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DateTaken" minOccurs="0"/>
                <xsd:element ref="ns3:MediaServiceLocation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74156a-46fa-43d9-bd7e-fe713d4c2e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ba21df-bb88-4025-83ae-426da46fe9d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>
  <documentManagement>
    <_activity xmlns="cd74156a-46fa-43d9-bd7e-fe713d4c2eb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8D56CA-24C6-4C34-8D94-B213E20322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d74156a-46fa-43d9-bd7e-fe713d4c2eba"/>
    <ds:schemaRef ds:uri="12ba21df-bb88-4025-83ae-426da46fe9d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637AE9-BDF3-4ABE-93CC-20D23307EA42}">
  <ds:schemaRefs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purl.org/dc/terms/"/>
    <ds:schemaRef ds:uri="12ba21df-bb88-4025-83ae-426da46fe9de"/>
    <ds:schemaRef ds:uri="http://purl.org/dc/dcmitype/"/>
    <ds:schemaRef ds:uri="cd74156a-46fa-43d9-bd7e-fe713d4c2eba"/>
    <ds:schemaRef ds:uri="http://www.w3.org/XML/1998/namespace"/>
    <ds:schemaRef ds:uri="http://schemas.microsoft.com/office/2006/documentManagement/type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BB5C05F2-5617-4BD0-B338-959AADDB8F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Accounting and Informatics template 2020-wsbc270734</Template>
  <TotalTime>5785</TotalTime>
  <Words>570</Words>
  <Application>Microsoft Office PowerPoint</Application>
  <PresentationFormat>On-screen Show (4:3)</PresentationFormat>
  <Paragraphs>120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Bebas Neue Regular</vt:lpstr>
      <vt:lpstr>Calibri</vt:lpstr>
      <vt:lpstr>Gill Sans MT</vt:lpstr>
      <vt:lpstr>generic blank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Leelawathie Anjie Ramjathan</dc:creator>
  <cp:lastModifiedBy>Freedom Khubisa</cp:lastModifiedBy>
  <cp:revision>66</cp:revision>
  <dcterms:created xsi:type="dcterms:W3CDTF">2022-10-21T10:56:01Z</dcterms:created>
  <dcterms:modified xsi:type="dcterms:W3CDTF">2026-08-21T04:07:58Z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0x01010058D5C8B8732F1B4989C4A9A4007E691B</vt:lpwstr>
  </property>
  <property fmtid="{D5CDD505-2E9C-101B-9397-08002B2CF9AE}" pid="3" name="MediaServiceImageTags">
    <vt:lpwstr/>
  </property>
</Properties>
</file>